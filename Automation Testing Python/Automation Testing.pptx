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06"/>
  </p:notesMasterIdLst>
  <p:sldIdLst>
    <p:sldId id="256" r:id="rId2"/>
    <p:sldId id="257" r:id="rId3"/>
    <p:sldId id="277" r:id="rId4"/>
    <p:sldId id="278" r:id="rId5"/>
    <p:sldId id="276" r:id="rId6"/>
    <p:sldId id="263" r:id="rId7"/>
    <p:sldId id="261" r:id="rId8"/>
    <p:sldId id="259" r:id="rId9"/>
    <p:sldId id="265" r:id="rId10"/>
    <p:sldId id="266" r:id="rId11"/>
    <p:sldId id="267" r:id="rId12"/>
    <p:sldId id="268" r:id="rId13"/>
    <p:sldId id="269" r:id="rId14"/>
    <p:sldId id="270" r:id="rId15"/>
    <p:sldId id="271" r:id="rId16"/>
    <p:sldId id="272" r:id="rId17"/>
    <p:sldId id="273" r:id="rId18"/>
    <p:sldId id="274" r:id="rId19"/>
    <p:sldId id="275" r:id="rId20"/>
    <p:sldId id="262" r:id="rId21"/>
    <p:sldId id="260" r:id="rId22"/>
    <p:sldId id="280" r:id="rId23"/>
    <p:sldId id="281" r:id="rId24"/>
    <p:sldId id="282" r:id="rId25"/>
    <p:sldId id="283" r:id="rId26"/>
    <p:sldId id="279" r:id="rId27"/>
    <p:sldId id="288" r:id="rId28"/>
    <p:sldId id="284" r:id="rId29"/>
    <p:sldId id="285" r:id="rId30"/>
    <p:sldId id="286" r:id="rId31"/>
    <p:sldId id="287" r:id="rId32"/>
    <p:sldId id="290" r:id="rId33"/>
    <p:sldId id="289" r:id="rId34"/>
    <p:sldId id="291" r:id="rId35"/>
    <p:sldId id="292" r:id="rId36"/>
    <p:sldId id="301" r:id="rId37"/>
    <p:sldId id="293" r:id="rId38"/>
    <p:sldId id="294" r:id="rId39"/>
    <p:sldId id="295" r:id="rId40"/>
    <p:sldId id="309" r:id="rId41"/>
    <p:sldId id="296" r:id="rId42"/>
    <p:sldId id="297" r:id="rId43"/>
    <p:sldId id="298" r:id="rId44"/>
    <p:sldId id="299" r:id="rId45"/>
    <p:sldId id="300" r:id="rId46"/>
    <p:sldId id="302" r:id="rId47"/>
    <p:sldId id="359" r:id="rId48"/>
    <p:sldId id="303" r:id="rId49"/>
    <p:sldId id="304" r:id="rId50"/>
    <p:sldId id="305" r:id="rId51"/>
    <p:sldId id="306" r:id="rId52"/>
    <p:sldId id="307" r:id="rId53"/>
    <p:sldId id="308" r:id="rId54"/>
    <p:sldId id="310" r:id="rId55"/>
    <p:sldId id="311" r:id="rId56"/>
    <p:sldId id="312" r:id="rId57"/>
    <p:sldId id="313" r:id="rId58"/>
    <p:sldId id="314" r:id="rId59"/>
    <p:sldId id="322" r:id="rId60"/>
    <p:sldId id="318" r:id="rId61"/>
    <p:sldId id="319" r:id="rId62"/>
    <p:sldId id="320" r:id="rId63"/>
    <p:sldId id="321" r:id="rId64"/>
    <p:sldId id="315" r:id="rId65"/>
    <p:sldId id="316" r:id="rId66"/>
    <p:sldId id="317" r:id="rId67"/>
    <p:sldId id="338" r:id="rId68"/>
    <p:sldId id="323" r:id="rId69"/>
    <p:sldId id="324" r:id="rId70"/>
    <p:sldId id="325" r:id="rId71"/>
    <p:sldId id="326" r:id="rId72"/>
    <p:sldId id="328" r:id="rId73"/>
    <p:sldId id="341" r:id="rId74"/>
    <p:sldId id="327" r:id="rId75"/>
    <p:sldId id="343" r:id="rId76"/>
    <p:sldId id="340" r:id="rId77"/>
    <p:sldId id="329" r:id="rId78"/>
    <p:sldId id="349" r:id="rId79"/>
    <p:sldId id="330" r:id="rId80"/>
    <p:sldId id="331" r:id="rId81"/>
    <p:sldId id="333" r:id="rId82"/>
    <p:sldId id="339" r:id="rId83"/>
    <p:sldId id="350" r:id="rId84"/>
    <p:sldId id="332" r:id="rId85"/>
    <p:sldId id="345" r:id="rId86"/>
    <p:sldId id="344" r:id="rId87"/>
    <p:sldId id="346" r:id="rId88"/>
    <p:sldId id="347" r:id="rId89"/>
    <p:sldId id="361" r:id="rId90"/>
    <p:sldId id="348" r:id="rId91"/>
    <p:sldId id="334" r:id="rId92"/>
    <p:sldId id="335" r:id="rId93"/>
    <p:sldId id="337" r:id="rId94"/>
    <p:sldId id="360" r:id="rId95"/>
    <p:sldId id="336" r:id="rId96"/>
    <p:sldId id="351" r:id="rId97"/>
    <p:sldId id="352" r:id="rId98"/>
    <p:sldId id="353" r:id="rId99"/>
    <p:sldId id="354" r:id="rId100"/>
    <p:sldId id="355" r:id="rId101"/>
    <p:sldId id="356" r:id="rId102"/>
    <p:sldId id="357" r:id="rId103"/>
    <p:sldId id="358" r:id="rId104"/>
    <p:sldId id="362" r:id="rId10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865" autoAdjust="0"/>
  </p:normalViewPr>
  <p:slideViewPr>
    <p:cSldViewPr snapToGrid="0">
      <p:cViewPr varScale="1">
        <p:scale>
          <a:sx n="98" d="100"/>
          <a:sy n="98" d="100"/>
        </p:scale>
        <p:origin x="110"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presProps" Target="pres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A8503-F81E-479C-B17E-2C129F555579}" type="datetimeFigureOut">
              <a:rPr lang="en-US" smtClean="0"/>
              <a:t>11/28/2021</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93299F-55EB-45A9-BB14-4721C72895A4}" type="slidenum">
              <a:rPr lang="en-US" smtClean="0"/>
              <a:t>‹#›</a:t>
            </a:fld>
            <a:endParaRPr lang="en-US" dirty="0"/>
          </a:p>
        </p:txBody>
      </p:sp>
    </p:spTree>
    <p:extLst>
      <p:ext uri="{BB962C8B-B14F-4D97-AF65-F5344CB8AC3E}">
        <p14:creationId xmlns:p14="http://schemas.microsoft.com/office/powerpoint/2010/main" val="424506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As we progress into a digital future, it seems that speed is an aspect that is taken for granted in all transactions. From finding information about anything on the Internet, to interacting with a brand about a product complaint, users want answers in a jiffy. With the advances made on all fronts and the type of gadgets at hand, it has become a possibility and nearly taken for granted.</a:t>
            </a:r>
            <a:r>
              <a:rPr lang="en-US" dirty="0" smtClean="0"/>
              <a:t/>
            </a:r>
            <a:br>
              <a:rPr lang="en-US" dirty="0" smtClean="0"/>
            </a:br>
            <a:r>
              <a:rPr lang="en-US" sz="1200" b="0" i="0" kern="1200" dirty="0" smtClean="0">
                <a:solidFill>
                  <a:schemeClr val="tx1"/>
                </a:solidFill>
                <a:effectLst/>
                <a:latin typeface="+mn-lt"/>
                <a:ea typeface="+mn-ea"/>
                <a:cs typeface="+mn-cs"/>
              </a:rPr>
              <a:t>This kind of expectation seems to have spilled over to the world of software testing as well, with automated testing becoming quite popular and prevalent in most organizations. Does this mean that manual testing is no longer necessary at all? Let’s try to answer this question in detail.</a:t>
            </a:r>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2</a:t>
            </a:fld>
            <a:endParaRPr lang="en-US" dirty="0"/>
          </a:p>
        </p:txBody>
      </p:sp>
    </p:spTree>
    <p:extLst>
      <p:ext uri="{BB962C8B-B14F-4D97-AF65-F5344CB8AC3E}">
        <p14:creationId xmlns:p14="http://schemas.microsoft.com/office/powerpoint/2010/main" val="14054304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6</a:t>
            </a:fld>
            <a:endParaRPr lang="en-US" dirty="0"/>
          </a:p>
        </p:txBody>
      </p:sp>
    </p:spTree>
    <p:extLst>
      <p:ext uri="{BB962C8B-B14F-4D97-AF65-F5344CB8AC3E}">
        <p14:creationId xmlns:p14="http://schemas.microsoft.com/office/powerpoint/2010/main" val="3797841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32</a:t>
            </a:fld>
            <a:endParaRPr lang="en-US" dirty="0"/>
          </a:p>
        </p:txBody>
      </p:sp>
    </p:spTree>
    <p:extLst>
      <p:ext uri="{BB962C8B-B14F-4D97-AF65-F5344CB8AC3E}">
        <p14:creationId xmlns:p14="http://schemas.microsoft.com/office/powerpoint/2010/main" val="27865124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48</a:t>
            </a:fld>
            <a:endParaRPr lang="en-US" dirty="0"/>
          </a:p>
        </p:txBody>
      </p:sp>
    </p:spTree>
    <p:extLst>
      <p:ext uri="{BB962C8B-B14F-4D97-AF65-F5344CB8AC3E}">
        <p14:creationId xmlns:p14="http://schemas.microsoft.com/office/powerpoint/2010/main" val="27948147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49</a:t>
            </a:fld>
            <a:endParaRPr lang="en-US" dirty="0"/>
          </a:p>
        </p:txBody>
      </p:sp>
    </p:spTree>
    <p:extLst>
      <p:ext uri="{BB962C8B-B14F-4D97-AF65-F5344CB8AC3E}">
        <p14:creationId xmlns:p14="http://schemas.microsoft.com/office/powerpoint/2010/main" val="14489128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50</a:t>
            </a:fld>
            <a:endParaRPr lang="en-US" dirty="0"/>
          </a:p>
        </p:txBody>
      </p:sp>
    </p:spTree>
    <p:extLst>
      <p:ext uri="{BB962C8B-B14F-4D97-AF65-F5344CB8AC3E}">
        <p14:creationId xmlns:p14="http://schemas.microsoft.com/office/powerpoint/2010/main" val="31942681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51</a:t>
            </a:fld>
            <a:endParaRPr lang="en-US" dirty="0"/>
          </a:p>
        </p:txBody>
      </p:sp>
    </p:spTree>
    <p:extLst>
      <p:ext uri="{BB962C8B-B14F-4D97-AF65-F5344CB8AC3E}">
        <p14:creationId xmlns:p14="http://schemas.microsoft.com/office/powerpoint/2010/main" val="15307335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52</a:t>
            </a:fld>
            <a:endParaRPr lang="en-US" dirty="0"/>
          </a:p>
        </p:txBody>
      </p:sp>
    </p:spTree>
    <p:extLst>
      <p:ext uri="{BB962C8B-B14F-4D97-AF65-F5344CB8AC3E}">
        <p14:creationId xmlns:p14="http://schemas.microsoft.com/office/powerpoint/2010/main" val="4327322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53</a:t>
            </a:fld>
            <a:endParaRPr lang="en-US" dirty="0"/>
          </a:p>
        </p:txBody>
      </p:sp>
    </p:spTree>
    <p:extLst>
      <p:ext uri="{BB962C8B-B14F-4D97-AF65-F5344CB8AC3E}">
        <p14:creationId xmlns:p14="http://schemas.microsoft.com/office/powerpoint/2010/main" val="29310678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54</a:t>
            </a:fld>
            <a:endParaRPr lang="en-US" dirty="0"/>
          </a:p>
        </p:txBody>
      </p:sp>
    </p:spTree>
    <p:extLst>
      <p:ext uri="{BB962C8B-B14F-4D97-AF65-F5344CB8AC3E}">
        <p14:creationId xmlns:p14="http://schemas.microsoft.com/office/powerpoint/2010/main" val="27271693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55</a:t>
            </a:fld>
            <a:endParaRPr lang="en-US" dirty="0"/>
          </a:p>
        </p:txBody>
      </p:sp>
    </p:spTree>
    <p:extLst>
      <p:ext uri="{BB962C8B-B14F-4D97-AF65-F5344CB8AC3E}">
        <p14:creationId xmlns:p14="http://schemas.microsoft.com/office/powerpoint/2010/main" val="25263998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56</a:t>
            </a:fld>
            <a:endParaRPr lang="en-US" dirty="0"/>
          </a:p>
        </p:txBody>
      </p:sp>
    </p:spTree>
    <p:extLst>
      <p:ext uri="{BB962C8B-B14F-4D97-AF65-F5344CB8AC3E}">
        <p14:creationId xmlns:p14="http://schemas.microsoft.com/office/powerpoint/2010/main" val="23741429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57</a:t>
            </a:fld>
            <a:endParaRPr lang="en-US" dirty="0"/>
          </a:p>
        </p:txBody>
      </p:sp>
    </p:spTree>
    <p:extLst>
      <p:ext uri="{BB962C8B-B14F-4D97-AF65-F5344CB8AC3E}">
        <p14:creationId xmlns:p14="http://schemas.microsoft.com/office/powerpoint/2010/main" val="26099022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58</a:t>
            </a:fld>
            <a:endParaRPr lang="en-US" dirty="0"/>
          </a:p>
        </p:txBody>
      </p:sp>
    </p:spTree>
    <p:extLst>
      <p:ext uri="{BB962C8B-B14F-4D97-AF65-F5344CB8AC3E}">
        <p14:creationId xmlns:p14="http://schemas.microsoft.com/office/powerpoint/2010/main" val="18108426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59</a:t>
            </a:fld>
            <a:endParaRPr lang="en-US" dirty="0"/>
          </a:p>
        </p:txBody>
      </p:sp>
    </p:spTree>
    <p:extLst>
      <p:ext uri="{BB962C8B-B14F-4D97-AF65-F5344CB8AC3E}">
        <p14:creationId xmlns:p14="http://schemas.microsoft.com/office/powerpoint/2010/main" val="33796486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60</a:t>
            </a:fld>
            <a:endParaRPr lang="en-US" dirty="0"/>
          </a:p>
        </p:txBody>
      </p:sp>
    </p:spTree>
    <p:extLst>
      <p:ext uri="{BB962C8B-B14F-4D97-AF65-F5344CB8AC3E}">
        <p14:creationId xmlns:p14="http://schemas.microsoft.com/office/powerpoint/2010/main" val="37053818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61</a:t>
            </a:fld>
            <a:endParaRPr lang="en-US" dirty="0"/>
          </a:p>
        </p:txBody>
      </p:sp>
    </p:spTree>
    <p:extLst>
      <p:ext uri="{BB962C8B-B14F-4D97-AF65-F5344CB8AC3E}">
        <p14:creationId xmlns:p14="http://schemas.microsoft.com/office/powerpoint/2010/main" val="32145797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62</a:t>
            </a:fld>
            <a:endParaRPr lang="en-US" dirty="0"/>
          </a:p>
        </p:txBody>
      </p:sp>
    </p:spTree>
    <p:extLst>
      <p:ext uri="{BB962C8B-B14F-4D97-AF65-F5344CB8AC3E}">
        <p14:creationId xmlns:p14="http://schemas.microsoft.com/office/powerpoint/2010/main" val="31026290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63</a:t>
            </a:fld>
            <a:endParaRPr lang="en-US" dirty="0"/>
          </a:p>
        </p:txBody>
      </p:sp>
    </p:spTree>
    <p:extLst>
      <p:ext uri="{BB962C8B-B14F-4D97-AF65-F5344CB8AC3E}">
        <p14:creationId xmlns:p14="http://schemas.microsoft.com/office/powerpoint/2010/main" val="19689609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64</a:t>
            </a:fld>
            <a:endParaRPr lang="en-US" dirty="0"/>
          </a:p>
        </p:txBody>
      </p:sp>
    </p:spTree>
    <p:extLst>
      <p:ext uri="{BB962C8B-B14F-4D97-AF65-F5344CB8AC3E}">
        <p14:creationId xmlns:p14="http://schemas.microsoft.com/office/powerpoint/2010/main" val="23664561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65</a:t>
            </a:fld>
            <a:endParaRPr lang="en-US" dirty="0"/>
          </a:p>
        </p:txBody>
      </p:sp>
    </p:spTree>
    <p:extLst>
      <p:ext uri="{BB962C8B-B14F-4D97-AF65-F5344CB8AC3E}">
        <p14:creationId xmlns:p14="http://schemas.microsoft.com/office/powerpoint/2010/main" val="19907348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66</a:t>
            </a:fld>
            <a:endParaRPr lang="en-US" dirty="0"/>
          </a:p>
        </p:txBody>
      </p:sp>
    </p:spTree>
    <p:extLst>
      <p:ext uri="{BB962C8B-B14F-4D97-AF65-F5344CB8AC3E}">
        <p14:creationId xmlns:p14="http://schemas.microsoft.com/office/powerpoint/2010/main" val="36556802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67</a:t>
            </a:fld>
            <a:endParaRPr lang="en-US" dirty="0"/>
          </a:p>
        </p:txBody>
      </p:sp>
    </p:spTree>
    <p:extLst>
      <p:ext uri="{BB962C8B-B14F-4D97-AF65-F5344CB8AC3E}">
        <p14:creationId xmlns:p14="http://schemas.microsoft.com/office/powerpoint/2010/main" val="37889215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68</a:t>
            </a:fld>
            <a:endParaRPr lang="en-US" dirty="0"/>
          </a:p>
        </p:txBody>
      </p:sp>
    </p:spTree>
    <p:extLst>
      <p:ext uri="{BB962C8B-B14F-4D97-AF65-F5344CB8AC3E}">
        <p14:creationId xmlns:p14="http://schemas.microsoft.com/office/powerpoint/2010/main" val="18506899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69</a:t>
            </a:fld>
            <a:endParaRPr lang="en-US" dirty="0"/>
          </a:p>
        </p:txBody>
      </p:sp>
    </p:spTree>
    <p:extLst>
      <p:ext uri="{BB962C8B-B14F-4D97-AF65-F5344CB8AC3E}">
        <p14:creationId xmlns:p14="http://schemas.microsoft.com/office/powerpoint/2010/main" val="7548368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70</a:t>
            </a:fld>
            <a:endParaRPr lang="en-US" dirty="0"/>
          </a:p>
        </p:txBody>
      </p:sp>
    </p:spTree>
    <p:extLst>
      <p:ext uri="{BB962C8B-B14F-4D97-AF65-F5344CB8AC3E}">
        <p14:creationId xmlns:p14="http://schemas.microsoft.com/office/powerpoint/2010/main" val="29016151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71</a:t>
            </a:fld>
            <a:endParaRPr lang="en-US" dirty="0"/>
          </a:p>
        </p:txBody>
      </p:sp>
    </p:spTree>
    <p:extLst>
      <p:ext uri="{BB962C8B-B14F-4D97-AF65-F5344CB8AC3E}">
        <p14:creationId xmlns:p14="http://schemas.microsoft.com/office/powerpoint/2010/main" val="23608526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73</a:t>
            </a:fld>
            <a:endParaRPr lang="en-US" dirty="0"/>
          </a:p>
        </p:txBody>
      </p:sp>
    </p:spTree>
    <p:extLst>
      <p:ext uri="{BB962C8B-B14F-4D97-AF65-F5344CB8AC3E}">
        <p14:creationId xmlns:p14="http://schemas.microsoft.com/office/powerpoint/2010/main" val="14952157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74</a:t>
            </a:fld>
            <a:endParaRPr lang="en-US" dirty="0"/>
          </a:p>
        </p:txBody>
      </p:sp>
    </p:spTree>
    <p:extLst>
      <p:ext uri="{BB962C8B-B14F-4D97-AF65-F5344CB8AC3E}">
        <p14:creationId xmlns:p14="http://schemas.microsoft.com/office/powerpoint/2010/main" val="26872627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75</a:t>
            </a:fld>
            <a:endParaRPr lang="en-US" dirty="0"/>
          </a:p>
        </p:txBody>
      </p:sp>
    </p:spTree>
    <p:extLst>
      <p:ext uri="{BB962C8B-B14F-4D97-AF65-F5344CB8AC3E}">
        <p14:creationId xmlns:p14="http://schemas.microsoft.com/office/powerpoint/2010/main" val="3375205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76</a:t>
            </a:fld>
            <a:endParaRPr lang="en-US" dirty="0"/>
          </a:p>
        </p:txBody>
      </p:sp>
    </p:spTree>
    <p:extLst>
      <p:ext uri="{BB962C8B-B14F-4D97-AF65-F5344CB8AC3E}">
        <p14:creationId xmlns:p14="http://schemas.microsoft.com/office/powerpoint/2010/main" val="41609754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77</a:t>
            </a:fld>
            <a:endParaRPr lang="en-US" dirty="0"/>
          </a:p>
        </p:txBody>
      </p:sp>
    </p:spTree>
    <p:extLst>
      <p:ext uri="{BB962C8B-B14F-4D97-AF65-F5344CB8AC3E}">
        <p14:creationId xmlns:p14="http://schemas.microsoft.com/office/powerpoint/2010/main" val="18836986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78</a:t>
            </a:fld>
            <a:endParaRPr lang="en-US" dirty="0"/>
          </a:p>
        </p:txBody>
      </p:sp>
    </p:spTree>
    <p:extLst>
      <p:ext uri="{BB962C8B-B14F-4D97-AF65-F5344CB8AC3E}">
        <p14:creationId xmlns:p14="http://schemas.microsoft.com/office/powerpoint/2010/main" val="40954405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79</a:t>
            </a:fld>
            <a:endParaRPr lang="en-US" dirty="0"/>
          </a:p>
        </p:txBody>
      </p:sp>
    </p:spTree>
    <p:extLst>
      <p:ext uri="{BB962C8B-B14F-4D97-AF65-F5344CB8AC3E}">
        <p14:creationId xmlns:p14="http://schemas.microsoft.com/office/powerpoint/2010/main" val="39837008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80</a:t>
            </a:fld>
            <a:endParaRPr lang="en-US" dirty="0"/>
          </a:p>
        </p:txBody>
      </p:sp>
    </p:spTree>
    <p:extLst>
      <p:ext uri="{BB962C8B-B14F-4D97-AF65-F5344CB8AC3E}">
        <p14:creationId xmlns:p14="http://schemas.microsoft.com/office/powerpoint/2010/main" val="20136893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81</a:t>
            </a:fld>
            <a:endParaRPr lang="en-US" dirty="0"/>
          </a:p>
        </p:txBody>
      </p:sp>
    </p:spTree>
    <p:extLst>
      <p:ext uri="{BB962C8B-B14F-4D97-AF65-F5344CB8AC3E}">
        <p14:creationId xmlns:p14="http://schemas.microsoft.com/office/powerpoint/2010/main" val="26368417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82</a:t>
            </a:fld>
            <a:endParaRPr lang="en-US" dirty="0"/>
          </a:p>
        </p:txBody>
      </p:sp>
    </p:spTree>
    <p:extLst>
      <p:ext uri="{BB962C8B-B14F-4D97-AF65-F5344CB8AC3E}">
        <p14:creationId xmlns:p14="http://schemas.microsoft.com/office/powerpoint/2010/main" val="41809997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83</a:t>
            </a:fld>
            <a:endParaRPr lang="en-US" dirty="0"/>
          </a:p>
        </p:txBody>
      </p:sp>
    </p:spTree>
    <p:extLst>
      <p:ext uri="{BB962C8B-B14F-4D97-AF65-F5344CB8AC3E}">
        <p14:creationId xmlns:p14="http://schemas.microsoft.com/office/powerpoint/2010/main" val="323204285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84</a:t>
            </a:fld>
            <a:endParaRPr lang="en-US" dirty="0"/>
          </a:p>
        </p:txBody>
      </p:sp>
    </p:spTree>
    <p:extLst>
      <p:ext uri="{BB962C8B-B14F-4D97-AF65-F5344CB8AC3E}">
        <p14:creationId xmlns:p14="http://schemas.microsoft.com/office/powerpoint/2010/main" val="29607798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85</a:t>
            </a:fld>
            <a:endParaRPr lang="en-US" dirty="0"/>
          </a:p>
        </p:txBody>
      </p:sp>
    </p:spTree>
    <p:extLst>
      <p:ext uri="{BB962C8B-B14F-4D97-AF65-F5344CB8AC3E}">
        <p14:creationId xmlns:p14="http://schemas.microsoft.com/office/powerpoint/2010/main" val="37783993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86</a:t>
            </a:fld>
            <a:endParaRPr lang="en-US" dirty="0"/>
          </a:p>
        </p:txBody>
      </p:sp>
    </p:spTree>
    <p:extLst>
      <p:ext uri="{BB962C8B-B14F-4D97-AF65-F5344CB8AC3E}">
        <p14:creationId xmlns:p14="http://schemas.microsoft.com/office/powerpoint/2010/main" val="41074338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87</a:t>
            </a:fld>
            <a:endParaRPr lang="en-US" dirty="0"/>
          </a:p>
        </p:txBody>
      </p:sp>
    </p:spTree>
    <p:extLst>
      <p:ext uri="{BB962C8B-B14F-4D97-AF65-F5344CB8AC3E}">
        <p14:creationId xmlns:p14="http://schemas.microsoft.com/office/powerpoint/2010/main" val="37037720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88</a:t>
            </a:fld>
            <a:endParaRPr lang="en-US" dirty="0"/>
          </a:p>
        </p:txBody>
      </p:sp>
    </p:spTree>
    <p:extLst>
      <p:ext uri="{BB962C8B-B14F-4D97-AF65-F5344CB8AC3E}">
        <p14:creationId xmlns:p14="http://schemas.microsoft.com/office/powerpoint/2010/main" val="157656056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90</a:t>
            </a:fld>
            <a:endParaRPr lang="en-US" dirty="0"/>
          </a:p>
        </p:txBody>
      </p:sp>
    </p:spTree>
    <p:extLst>
      <p:ext uri="{BB962C8B-B14F-4D97-AF65-F5344CB8AC3E}">
        <p14:creationId xmlns:p14="http://schemas.microsoft.com/office/powerpoint/2010/main" val="35871829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91</a:t>
            </a:fld>
            <a:endParaRPr lang="en-US" dirty="0"/>
          </a:p>
        </p:txBody>
      </p:sp>
    </p:spTree>
    <p:extLst>
      <p:ext uri="{BB962C8B-B14F-4D97-AF65-F5344CB8AC3E}">
        <p14:creationId xmlns:p14="http://schemas.microsoft.com/office/powerpoint/2010/main" val="156636395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92</a:t>
            </a:fld>
            <a:endParaRPr lang="en-US" dirty="0"/>
          </a:p>
        </p:txBody>
      </p:sp>
    </p:spTree>
    <p:extLst>
      <p:ext uri="{BB962C8B-B14F-4D97-AF65-F5344CB8AC3E}">
        <p14:creationId xmlns:p14="http://schemas.microsoft.com/office/powerpoint/2010/main" val="169116985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95</a:t>
            </a:fld>
            <a:endParaRPr lang="en-US" dirty="0"/>
          </a:p>
        </p:txBody>
      </p:sp>
    </p:spTree>
    <p:extLst>
      <p:ext uri="{BB962C8B-B14F-4D97-AF65-F5344CB8AC3E}">
        <p14:creationId xmlns:p14="http://schemas.microsoft.com/office/powerpoint/2010/main" val="163520935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96</a:t>
            </a:fld>
            <a:endParaRPr lang="en-US" dirty="0"/>
          </a:p>
        </p:txBody>
      </p:sp>
    </p:spTree>
    <p:extLst>
      <p:ext uri="{BB962C8B-B14F-4D97-AF65-F5344CB8AC3E}">
        <p14:creationId xmlns:p14="http://schemas.microsoft.com/office/powerpoint/2010/main" val="284502476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97</a:t>
            </a:fld>
            <a:endParaRPr lang="en-US" dirty="0"/>
          </a:p>
        </p:txBody>
      </p:sp>
    </p:spTree>
    <p:extLst>
      <p:ext uri="{BB962C8B-B14F-4D97-AF65-F5344CB8AC3E}">
        <p14:creationId xmlns:p14="http://schemas.microsoft.com/office/powerpoint/2010/main" val="379980392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98</a:t>
            </a:fld>
            <a:endParaRPr lang="en-US" dirty="0"/>
          </a:p>
        </p:txBody>
      </p:sp>
    </p:spTree>
    <p:extLst>
      <p:ext uri="{BB962C8B-B14F-4D97-AF65-F5344CB8AC3E}">
        <p14:creationId xmlns:p14="http://schemas.microsoft.com/office/powerpoint/2010/main" val="428061298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99</a:t>
            </a:fld>
            <a:endParaRPr lang="en-US" dirty="0"/>
          </a:p>
        </p:txBody>
      </p:sp>
    </p:spTree>
    <p:extLst>
      <p:ext uri="{BB962C8B-B14F-4D97-AF65-F5344CB8AC3E}">
        <p14:creationId xmlns:p14="http://schemas.microsoft.com/office/powerpoint/2010/main" val="15795094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100</a:t>
            </a:fld>
            <a:endParaRPr lang="en-US" dirty="0"/>
          </a:p>
        </p:txBody>
      </p:sp>
    </p:spTree>
    <p:extLst>
      <p:ext uri="{BB962C8B-B14F-4D97-AF65-F5344CB8AC3E}">
        <p14:creationId xmlns:p14="http://schemas.microsoft.com/office/powerpoint/2010/main" val="333214596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101</a:t>
            </a:fld>
            <a:endParaRPr lang="en-US" dirty="0"/>
          </a:p>
        </p:txBody>
      </p:sp>
    </p:spTree>
    <p:extLst>
      <p:ext uri="{BB962C8B-B14F-4D97-AF65-F5344CB8AC3E}">
        <p14:creationId xmlns:p14="http://schemas.microsoft.com/office/powerpoint/2010/main" val="322940888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102</a:t>
            </a:fld>
            <a:endParaRPr lang="en-US" dirty="0"/>
          </a:p>
        </p:txBody>
      </p:sp>
    </p:spTree>
    <p:extLst>
      <p:ext uri="{BB962C8B-B14F-4D97-AF65-F5344CB8AC3E}">
        <p14:creationId xmlns:p14="http://schemas.microsoft.com/office/powerpoint/2010/main" val="29315584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103</a:t>
            </a:fld>
            <a:endParaRPr lang="en-US" dirty="0"/>
          </a:p>
        </p:txBody>
      </p:sp>
    </p:spTree>
    <p:extLst>
      <p:ext uri="{BB962C8B-B14F-4D97-AF65-F5344CB8AC3E}">
        <p14:creationId xmlns:p14="http://schemas.microsoft.com/office/powerpoint/2010/main" val="266954422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3299F-55EB-45A9-BB14-4721C72895A4}" type="slidenum">
              <a:rPr lang="en-US" smtClean="0"/>
              <a:t>104</a:t>
            </a:fld>
            <a:endParaRPr lang="en-US" dirty="0"/>
          </a:p>
        </p:txBody>
      </p:sp>
    </p:spTree>
    <p:extLst>
      <p:ext uri="{BB962C8B-B14F-4D97-AF65-F5344CB8AC3E}">
        <p14:creationId xmlns:p14="http://schemas.microsoft.com/office/powerpoint/2010/main" val="18558270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11/28/2021</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11/28/2021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11/28/2021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11/28/2021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11/28/2021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11/28/2021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11/28/2021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11/28/2021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dirty="0" smtClean="0"/>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11/28/2021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11/28/2021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11/28/2021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11/28/2021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11/28/2021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11/28/2021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11/28/2021</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11/28/2021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11/28/2021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24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11/28/2021</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accounts.google.com/ServiceLogin?service=youtube&amp;uilel=3&amp;passive=true&amp;continue=https://www.youtube.com/signin?action_handle_signin%3Dtrue%26app%3Ddesktop%26hl%3Den%26next%3D/watch?v%3DSEzPFlnI7mY&amp;hl=en" TargetMode="Externa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accounts.google.com/ServiceLogin?service=youtube&amp;uilel=3&amp;passive=true&amp;continue=https://www.youtube.com/signin?action_handle_signin%3Dtrue%26app%3Ddesktop%26hl%3Den%26next%3D/watch?v%3DSEzPFlnI7mY&amp;hl=en" TargetMode="Externa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accounts.google.com/ServiceLogin?service=youtube&amp;uilel=3&amp;passive=true&amp;continue=https://www.youtube.com/signin?action_handle_signin%3Dtrue%26app%3Ddesktop%26hl%3Den%26next%3D/watch?v%3DSEzPFlnI7mY&amp;hl=en" TargetMode="Externa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accounts.google.com/ServiceLogin?service=youtube&amp;uilel=3&amp;passive=true&amp;continue=https://www.youtube.com/signin?action_handle_signin%3Dtrue%26app%3Ddesktop%26hl%3Den%26next%3D/watch?v%3DSEzPFlnI7mY&amp;hl=en" TargetMode="Externa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accounts.google.com/ServiceLogin?service=youtube&amp;uilel=3&amp;passive=true&amp;continue=https://www.youtube.com/signin?action_handle_signin%3Dtrue%26app%3Ddesktop%26hl%3Den%26next%3D/watch?v%3DSEzPFlnI7mY&amp;hl=en" TargetMode="Externa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accounts.google.com/ServiceLogin?service=youtube&amp;uilel=3&amp;passive=true&amp;continue=https://www.youtube.com/signin?action_handle_signin%3Dtrue%26app%3Ddesktop%26hl%3Den%26next%3D/watch?v%3DSEzPFlnI7mY&amp;hl=en" TargetMode="Externa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accounts.google.com/ServiceLogin?service=youtube&amp;uilel=3&amp;passive=true&amp;continue=https://www.youtube.com/signin?action_handle_signin%3Dtrue%26app%3Ddesktop%26hl%3Den%26next%3D/watch?v%3DSEzPFlnI7mY&amp;hl=en" TargetMode="Externa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accounts.google.com/ServiceLogin?service=youtube&amp;uilel=3&amp;passive=true&amp;continue=https://www.youtube.com/signin?action_handle_signin%3Dtrue%26app%3Ddesktop%26hl%3Den%26next%3D/watch?v%3DSEzPFlnI7mY&amp;hl=en" TargetMode="Externa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accounts.google.com/ServiceLogin?service=youtube&amp;uilel=3&amp;passive=true&amp;continue=https://www.youtube.com/signin?action_handle_signin%3Dtrue%26app%3Ddesktop%26hl%3Den%26next%3D/watch?v%3DSEzPFlnI7mY&amp;hl=en" TargetMode="Externa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accounts.google.com/ServiceLogin?service=youtube&amp;uilel=3&amp;passive=true&amp;continue=https://www.youtube.com/signin?action_handle_signin%3Dtrue%26app%3Ddesktop%26hl%3Den%26next%3D/watch?v%3DSEzPFlnI7mY&amp;hl=en" TargetMode="Externa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accounts.google.com/ServiceLogin?service=youtube&amp;uilel=3&amp;passive=true&amp;continue=https://www.youtube.com/signin?action_handle_signin%3Dtrue%26app%3Ddesktop%26hl%3Den%26next%3D/watch?v%3DSEzPFlnI7mY&amp;hl=en" TargetMode="Externa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accounts.google.com/ServiceLogin?service=youtube&amp;uilel=3&amp;passive=true&amp;continue=https://www.youtube.com/signin?action_handle_signin%3Dtrue%26app%3Ddesktop%26hl%3Den%26next%3D/watch?v%3DSEzPFlnI7mY&amp;hl=en" TargetMode="Externa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accounts.google.com/ServiceLogin?service=youtube&amp;uilel=3&amp;passive=true&amp;continue=https://www.youtube.com/signin?action_handle_signin%3Dtrue%26app%3Ddesktop%26hl%3Den%26next%3D/watch?v%3DSEzPFlnI7mY&amp;hl=en"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accounts.google.com/ServiceLogin?service=youtube&amp;uilel=3&amp;passive=true&amp;continue=https://www.youtube.com/signin?action_handle_signin%3Dtrue%26app%3Ddesktop%26hl%3Den%26next%3D/watch?v%3DSEzPFlnI7mY&amp;hl=en"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accounts.google.com/ServiceLogin?service=youtube&amp;uilel=3&amp;passive=true&amp;continue=https://www.youtube.com/signin?action_handle_signin%3Dtrue%26app%3Ddesktop%26hl%3Den%26next%3D/watch?v%3DSEzPFlnI7mY&amp;hl=en"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hyperlink" Target="https://sites.google.com/a/chromium.org/chromedriver/downloads" TargetMode="External"/><Relationship Id="rId7" Type="http://schemas.openxmlformats.org/officeDocument/2006/relationships/hyperlink" Target="https://webkit.org/blog/6900/webdriver-support-in-safari-10/" TargetMode="External"/><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hyperlink" Target="https://github.com/mozilla/geckodriver/releases" TargetMode="External"/><Relationship Id="rId5" Type="http://schemas.openxmlformats.org/officeDocument/2006/relationships/hyperlink" Target="https://developer.microsoft.com/en-us/microsoft-edge/tools/webdriver/" TargetMode="External"/><Relationship Id="rId4" Type="http://schemas.openxmlformats.org/officeDocument/2006/relationships/hyperlink" Target="https://sites.google.com/chromium.org/driver/" TargetMode="Externa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hyperlink" Target="https://seleniumbase.io/demo_page" TargetMode="External"/><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hyperlink" Target="http://www.dhtmlgoodies.com/scripts/drag-drop-custom/demo-drag-drop-3.html" TargetMode="External"/><Relationship Id="rId4" Type="http://schemas.openxmlformats.org/officeDocument/2006/relationships/hyperlink" Target="https://the-internet.herokuapp.com/" TargetMode="Externa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8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50230" y="1274868"/>
            <a:ext cx="8825658" cy="2677648"/>
          </a:xfrm>
        </p:spPr>
        <p:txBody>
          <a:bodyPr/>
          <a:lstStyle/>
          <a:p>
            <a:r>
              <a:rPr lang="en-US" dirty="0" smtClean="0"/>
              <a:t>Introduction to Automation Testing</a:t>
            </a:r>
            <a:endParaRPr lang="en-US" dirty="0"/>
          </a:p>
        </p:txBody>
      </p:sp>
      <p:sp>
        <p:nvSpPr>
          <p:cNvPr id="3" name="Subtitle 2"/>
          <p:cNvSpPr>
            <a:spLocks noGrp="1"/>
          </p:cNvSpPr>
          <p:nvPr>
            <p:ph type="subTitle" idx="1"/>
          </p:nvPr>
        </p:nvSpPr>
        <p:spPr/>
        <p:txBody>
          <a:bodyPr/>
          <a:lstStyle/>
          <a:p>
            <a:endParaRPr lang="en-US" dirty="0" smtClean="0"/>
          </a:p>
        </p:txBody>
      </p:sp>
    </p:spTree>
    <p:extLst>
      <p:ext uri="{BB962C8B-B14F-4D97-AF65-F5344CB8AC3E}">
        <p14:creationId xmlns:p14="http://schemas.microsoft.com/office/powerpoint/2010/main" val="25336661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3"/>
          <a:stretch>
            <a:fillRect/>
          </a:stretch>
        </p:blipFill>
        <p:spPr>
          <a:xfrm>
            <a:off x="69669" y="422517"/>
            <a:ext cx="12061371" cy="5679731"/>
          </a:xfrm>
          <a:prstGeom prst="rect">
            <a:avLst/>
          </a:prstGeom>
        </p:spPr>
      </p:pic>
    </p:spTree>
    <p:extLst>
      <p:ext uri="{BB962C8B-B14F-4D97-AF65-F5344CB8AC3E}">
        <p14:creationId xmlns:p14="http://schemas.microsoft.com/office/powerpoint/2010/main" val="22629803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pic>
        <p:nvPicPr>
          <p:cNvPr id="2050" name="Picture 2" descr="What is Functional Testing? Explained with Test Cases &amp;amp; Example (Updat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020" y="476251"/>
            <a:ext cx="11552134" cy="5302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05422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1278778" y="284535"/>
            <a:ext cx="8513763" cy="6135315"/>
          </a:xfrm>
          <a:prstGeom prst="rect">
            <a:avLst/>
          </a:prstGeom>
        </p:spPr>
      </p:pic>
    </p:spTree>
    <p:extLst>
      <p:ext uri="{BB962C8B-B14F-4D97-AF65-F5344CB8AC3E}">
        <p14:creationId xmlns:p14="http://schemas.microsoft.com/office/powerpoint/2010/main" val="33871490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Regression Testing</a:t>
            </a:r>
            <a:endParaRPr lang="en-US" dirty="0"/>
          </a:p>
        </p:txBody>
      </p:sp>
      <p:sp>
        <p:nvSpPr>
          <p:cNvPr id="3" name="Content Placeholder 2"/>
          <p:cNvSpPr>
            <a:spLocks noGrp="1"/>
          </p:cNvSpPr>
          <p:nvPr>
            <p:ph idx="1"/>
          </p:nvPr>
        </p:nvSpPr>
        <p:spPr/>
        <p:txBody>
          <a:bodyPr/>
          <a:lstStyle/>
          <a:p>
            <a:r>
              <a:rPr lang="en-US" dirty="0"/>
              <a:t>Regression testing is re-running functional and non-functional tests to ensure that previously developed and tested software still performs after a </a:t>
            </a:r>
            <a:r>
              <a:rPr lang="en-US" dirty="0" smtClean="0"/>
              <a:t>change</a:t>
            </a:r>
          </a:p>
          <a:p>
            <a:r>
              <a:rPr lang="en-US" dirty="0" smtClean="0"/>
              <a:t>When </a:t>
            </a:r>
          </a:p>
          <a:p>
            <a:pPr lvl="1"/>
            <a:r>
              <a:rPr lang="en-US" dirty="0" smtClean="0"/>
              <a:t>change in requirements and code is modified according to the requirement </a:t>
            </a:r>
          </a:p>
          <a:p>
            <a:pPr lvl="1"/>
            <a:r>
              <a:rPr lang="en-US" dirty="0" smtClean="0"/>
              <a:t>New feature that is added to the software</a:t>
            </a:r>
          </a:p>
          <a:p>
            <a:pPr lvl="1"/>
            <a:r>
              <a:rPr lang="en-US" dirty="0" smtClean="0"/>
              <a:t>Defect fixing done for the bugs already raised</a:t>
            </a:r>
          </a:p>
          <a:p>
            <a:pPr lvl="1"/>
            <a:endParaRPr lang="en-US" dirty="0"/>
          </a:p>
        </p:txBody>
      </p:sp>
    </p:spTree>
    <p:extLst>
      <p:ext uri="{BB962C8B-B14F-4D97-AF65-F5344CB8AC3E}">
        <p14:creationId xmlns:p14="http://schemas.microsoft.com/office/powerpoint/2010/main" val="79350418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Manual Testing</a:t>
            </a:r>
            <a:endParaRPr lang="en-US" dirty="0"/>
          </a:p>
        </p:txBody>
      </p:sp>
      <p:sp>
        <p:nvSpPr>
          <p:cNvPr id="3" name="TextBox 2"/>
          <p:cNvSpPr txBox="1"/>
          <p:nvPr/>
        </p:nvSpPr>
        <p:spPr>
          <a:xfrm>
            <a:off x="1099126" y="2622262"/>
            <a:ext cx="2189019" cy="6463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US" sz="3600" b="1" spc="50" dirty="0">
                <a:ln w="0"/>
                <a:solidFill>
                  <a:schemeClr val="bg2"/>
                </a:solidFill>
                <a:effectLst>
                  <a:innerShdw blurRad="63500" dist="50800" dir="13500000">
                    <a:srgbClr val="000000">
                      <a:alpha val="50000"/>
                    </a:srgbClr>
                  </a:innerShdw>
                </a:effectLst>
              </a:rPr>
              <a:t>What ? </a:t>
            </a:r>
          </a:p>
        </p:txBody>
      </p:sp>
      <p:sp>
        <p:nvSpPr>
          <p:cNvPr id="4" name="TextBox 3"/>
          <p:cNvSpPr txBox="1"/>
          <p:nvPr/>
        </p:nvSpPr>
        <p:spPr>
          <a:xfrm>
            <a:off x="3925456" y="2622261"/>
            <a:ext cx="6331530" cy="707886"/>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000" dirty="0" smtClean="0">
                <a:ln w="0"/>
                <a:solidFill>
                  <a:schemeClr val="tx1"/>
                </a:solidFill>
                <a:effectLst>
                  <a:outerShdw blurRad="38100" dist="19050" dir="2700000" algn="tl" rotWithShape="0">
                    <a:schemeClr val="dk1">
                      <a:alpha val="40000"/>
                    </a:schemeClr>
                  </a:outerShdw>
                </a:effectLst>
              </a:rPr>
              <a:t>Procedure that involves testing a software manually by QA</a:t>
            </a:r>
            <a:endParaRPr lang="en-US" sz="2000" dirty="0">
              <a:ln w="0"/>
              <a:solidFill>
                <a:schemeClr val="tx1"/>
              </a:solidFill>
              <a:effectLst>
                <a:outerShdw blurRad="38100" dist="19050" dir="2700000" algn="tl" rotWithShape="0">
                  <a:schemeClr val="dk1">
                    <a:alpha val="40000"/>
                  </a:schemeClr>
                </a:outerShdw>
              </a:effectLst>
            </a:endParaRPr>
          </a:p>
        </p:txBody>
      </p:sp>
      <p:sp>
        <p:nvSpPr>
          <p:cNvPr id="11" name="TextBox 10"/>
          <p:cNvSpPr txBox="1"/>
          <p:nvPr/>
        </p:nvSpPr>
        <p:spPr>
          <a:xfrm>
            <a:off x="1112986" y="3593520"/>
            <a:ext cx="2175159" cy="6463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defPPr>
              <a:defRPr lang="en-US"/>
            </a:defPPr>
            <a:lvl1pPr>
              <a:defRPr sz="3600" b="1" spc="50">
                <a:ln w="0"/>
                <a:solidFill>
                  <a:schemeClr val="bg2"/>
                </a:solidFill>
                <a:effectLst>
                  <a:innerShdw blurRad="63500" dist="50800" dir="13500000">
                    <a:srgbClr val="000000">
                      <a:alpha val="50000"/>
                    </a:srgbClr>
                  </a:inn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Where ? </a:t>
            </a:r>
          </a:p>
        </p:txBody>
      </p:sp>
      <p:sp>
        <p:nvSpPr>
          <p:cNvPr id="12" name="TextBox 11"/>
          <p:cNvSpPr txBox="1"/>
          <p:nvPr/>
        </p:nvSpPr>
        <p:spPr>
          <a:xfrm>
            <a:off x="3939314" y="3593520"/>
            <a:ext cx="6317672" cy="40011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000" dirty="0" smtClean="0">
                <a:ln w="0"/>
                <a:solidFill>
                  <a:schemeClr val="tx1"/>
                </a:solidFill>
                <a:effectLst>
                  <a:outerShdw blurRad="38100" dist="19050" dir="2700000" algn="tl" rotWithShape="0">
                    <a:schemeClr val="dk1">
                      <a:alpha val="40000"/>
                    </a:schemeClr>
                  </a:outerShdw>
                </a:effectLst>
              </a:rPr>
              <a:t>Small\Medium Project which under development</a:t>
            </a:r>
            <a:endParaRPr lang="en-US" sz="2000" dirty="0">
              <a:ln w="0"/>
              <a:solidFill>
                <a:schemeClr val="tx1"/>
              </a:solidFill>
              <a:effectLst>
                <a:outerShdw blurRad="38100" dist="19050" dir="2700000" algn="tl" rotWithShape="0">
                  <a:schemeClr val="dk1">
                    <a:alpha val="40000"/>
                  </a:schemeClr>
                </a:outerShdw>
              </a:effectLst>
            </a:endParaRPr>
          </a:p>
        </p:txBody>
      </p:sp>
      <p:sp>
        <p:nvSpPr>
          <p:cNvPr id="13" name="TextBox 12"/>
          <p:cNvSpPr txBox="1"/>
          <p:nvPr/>
        </p:nvSpPr>
        <p:spPr>
          <a:xfrm>
            <a:off x="1099126" y="4656932"/>
            <a:ext cx="1634837" cy="6463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defPPr>
              <a:defRPr lang="en-US"/>
            </a:defPPr>
            <a:lvl1pPr>
              <a:defRPr sz="3600" b="1" spc="50">
                <a:ln w="0"/>
                <a:solidFill>
                  <a:schemeClr val="bg2"/>
                </a:solidFill>
                <a:effectLst>
                  <a:innerShdw blurRad="63500" dist="50800" dir="13500000">
                    <a:srgbClr val="000000">
                      <a:alpha val="50000"/>
                    </a:srgbClr>
                  </a:inn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Why ? </a:t>
            </a:r>
          </a:p>
        </p:txBody>
      </p:sp>
      <p:sp>
        <p:nvSpPr>
          <p:cNvPr id="14" name="TextBox 13"/>
          <p:cNvSpPr txBox="1"/>
          <p:nvPr/>
        </p:nvSpPr>
        <p:spPr>
          <a:xfrm>
            <a:off x="3939314" y="4595377"/>
            <a:ext cx="6317672" cy="40011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000" dirty="0" smtClean="0">
                <a:ln w="0"/>
                <a:solidFill>
                  <a:schemeClr val="tx1"/>
                </a:solidFill>
                <a:effectLst>
                  <a:outerShdw blurRad="38100" dist="19050" dir="2700000" algn="tl" rotWithShape="0">
                    <a:schemeClr val="dk1">
                      <a:alpha val="40000"/>
                    </a:schemeClr>
                  </a:outerShdw>
                </a:effectLst>
              </a:rPr>
              <a:t>Assure quality with low budget</a:t>
            </a:r>
            <a:endParaRPr lang="en-US" sz="2000" dirty="0">
              <a:ln w="0"/>
              <a:solidFill>
                <a:schemeClr val="tx1"/>
              </a:solidFill>
              <a:effectLst>
                <a:outerShdw blurRad="38100" dist="19050" dir="2700000" algn="tl" rotWithShape="0">
                  <a:schemeClr val="dk1">
                    <a:alpha val="40000"/>
                  </a:schemeClr>
                </a:outerShdw>
              </a:effectLst>
            </a:endParaRPr>
          </a:p>
        </p:txBody>
      </p:sp>
      <p:sp>
        <p:nvSpPr>
          <p:cNvPr id="15" name="TextBox 14"/>
          <p:cNvSpPr txBox="1"/>
          <p:nvPr/>
        </p:nvSpPr>
        <p:spPr>
          <a:xfrm>
            <a:off x="1103743" y="5822733"/>
            <a:ext cx="1607128" cy="6463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defPPr>
              <a:defRPr lang="en-US"/>
            </a:defPPr>
            <a:lvl1pPr>
              <a:defRPr sz="3600" b="1" spc="50">
                <a:ln w="0"/>
                <a:solidFill>
                  <a:schemeClr val="bg2"/>
                </a:solidFill>
                <a:effectLst>
                  <a:innerShdw blurRad="63500" dist="50800" dir="13500000">
                    <a:srgbClr val="000000">
                      <a:alpha val="50000"/>
                    </a:srgbClr>
                  </a:inn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Who ? </a:t>
            </a:r>
          </a:p>
        </p:txBody>
      </p:sp>
      <p:sp>
        <p:nvSpPr>
          <p:cNvPr id="16" name="TextBox 15"/>
          <p:cNvSpPr txBox="1"/>
          <p:nvPr/>
        </p:nvSpPr>
        <p:spPr>
          <a:xfrm>
            <a:off x="3939314" y="5945843"/>
            <a:ext cx="6317672" cy="40011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000" dirty="0" smtClean="0">
                <a:ln w="0"/>
                <a:solidFill>
                  <a:schemeClr val="tx1"/>
                </a:solidFill>
                <a:effectLst>
                  <a:outerShdw blurRad="38100" dist="19050" dir="2700000" algn="tl" rotWithShape="0">
                    <a:schemeClr val="dk1">
                      <a:alpha val="40000"/>
                    </a:schemeClr>
                  </a:outerShdw>
                </a:effectLst>
              </a:rPr>
              <a:t>Testers with project functional knowledge</a:t>
            </a:r>
            <a:endParaRPr lang="en-US" sz="2000" dirty="0">
              <a:ln w="0"/>
              <a:solidFill>
                <a:schemeClr val="tx1"/>
              </a:solidFill>
              <a:effectLst>
                <a:outerShdw blurRad="38100" dist="19050" dir="2700000" algn="tl" rotWithShape="0">
                  <a:schemeClr val="dk1">
                    <a:alpha val="40000"/>
                  </a:schemeClr>
                </a:outerShdw>
              </a:effectLst>
            </a:endParaRPr>
          </a:p>
        </p:txBody>
      </p:sp>
      <p:pic>
        <p:nvPicPr>
          <p:cNvPr id="17" name="Picture 16"/>
          <p:cNvPicPr>
            <a:picLocks noChangeAspect="1"/>
          </p:cNvPicPr>
          <p:nvPr/>
        </p:nvPicPr>
        <p:blipFill>
          <a:blip r:embed="rId3"/>
          <a:stretch>
            <a:fillRect/>
          </a:stretch>
        </p:blipFill>
        <p:spPr>
          <a:xfrm>
            <a:off x="10520135" y="2622261"/>
            <a:ext cx="1579789" cy="2526239"/>
          </a:xfrm>
          <a:prstGeom prst="rect">
            <a:avLst/>
          </a:prstGeom>
        </p:spPr>
      </p:pic>
    </p:spTree>
    <p:extLst>
      <p:ext uri="{BB962C8B-B14F-4D97-AF65-F5344CB8AC3E}">
        <p14:creationId xmlns:p14="http://schemas.microsoft.com/office/powerpoint/2010/main" val="240703941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99126" y="517237"/>
            <a:ext cx="2189019" cy="6463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US" sz="3600" b="1" spc="50" dirty="0">
                <a:ln w="0"/>
                <a:solidFill>
                  <a:schemeClr val="bg2"/>
                </a:solidFill>
                <a:effectLst>
                  <a:innerShdw blurRad="63500" dist="50800" dir="13500000">
                    <a:srgbClr val="000000">
                      <a:alpha val="50000"/>
                    </a:srgbClr>
                  </a:innerShdw>
                </a:effectLst>
              </a:rPr>
              <a:t>What ? </a:t>
            </a:r>
          </a:p>
        </p:txBody>
      </p:sp>
      <p:sp>
        <p:nvSpPr>
          <p:cNvPr id="3" name="TextBox 2"/>
          <p:cNvSpPr txBox="1"/>
          <p:nvPr/>
        </p:nvSpPr>
        <p:spPr>
          <a:xfrm>
            <a:off x="3925456" y="517236"/>
            <a:ext cx="6331530" cy="707886"/>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000" dirty="0" smtClean="0">
                <a:ln w="0"/>
                <a:solidFill>
                  <a:schemeClr val="tx1"/>
                </a:solidFill>
                <a:effectLst>
                  <a:outerShdw blurRad="38100" dist="19050" dir="2700000" algn="tl" rotWithShape="0">
                    <a:schemeClr val="dk1">
                      <a:alpha val="40000"/>
                    </a:schemeClr>
                  </a:outerShdw>
                </a:effectLst>
              </a:rPr>
              <a:t>Automation testing is to write code/test scripts to automate test execution</a:t>
            </a:r>
            <a:endParaRPr lang="en-US" sz="2000" dirty="0">
              <a:ln w="0"/>
              <a:solidFill>
                <a:schemeClr val="tx1"/>
              </a:solidFill>
              <a:effectLst>
                <a:outerShdw blurRad="38100" dist="19050" dir="2700000" algn="tl" rotWithShape="0">
                  <a:schemeClr val="dk1">
                    <a:alpha val="40000"/>
                  </a:schemeClr>
                </a:outerShdw>
              </a:effectLst>
            </a:endParaRPr>
          </a:p>
        </p:txBody>
      </p:sp>
      <p:sp>
        <p:nvSpPr>
          <p:cNvPr id="4" name="TextBox 3"/>
          <p:cNvSpPr txBox="1"/>
          <p:nvPr/>
        </p:nvSpPr>
        <p:spPr>
          <a:xfrm>
            <a:off x="1112986" y="1898070"/>
            <a:ext cx="2175159" cy="6463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defPPr>
              <a:defRPr lang="en-US"/>
            </a:defPPr>
            <a:lvl1pPr>
              <a:defRPr sz="3600" b="1" spc="50">
                <a:ln w="0"/>
                <a:solidFill>
                  <a:schemeClr val="bg2"/>
                </a:solidFill>
                <a:effectLst>
                  <a:innerShdw blurRad="63500" dist="50800" dir="13500000">
                    <a:srgbClr val="000000">
                      <a:alpha val="50000"/>
                    </a:srgbClr>
                  </a:inn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Where ? </a:t>
            </a:r>
          </a:p>
        </p:txBody>
      </p:sp>
      <p:sp>
        <p:nvSpPr>
          <p:cNvPr id="5" name="TextBox 4"/>
          <p:cNvSpPr txBox="1"/>
          <p:nvPr/>
        </p:nvSpPr>
        <p:spPr>
          <a:xfrm>
            <a:off x="3939316" y="1898070"/>
            <a:ext cx="6317672" cy="707886"/>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000" dirty="0" smtClean="0">
                <a:ln w="0"/>
                <a:solidFill>
                  <a:schemeClr val="tx1"/>
                </a:solidFill>
                <a:effectLst>
                  <a:outerShdw blurRad="38100" dist="19050" dir="2700000" algn="tl" rotWithShape="0">
                    <a:schemeClr val="dk1">
                      <a:alpha val="40000"/>
                    </a:schemeClr>
                  </a:outerShdw>
                </a:effectLst>
              </a:rPr>
              <a:t>Use appropriate automation tools to develop the test scripts to validate the software</a:t>
            </a:r>
            <a:endParaRPr lang="en-US" sz="2000" dirty="0">
              <a:ln w="0"/>
              <a:solidFill>
                <a:schemeClr val="tx1"/>
              </a:solidFill>
              <a:effectLst>
                <a:outerShdw blurRad="38100" dist="19050" dir="2700000" algn="tl" rotWithShape="0">
                  <a:schemeClr val="dk1">
                    <a:alpha val="40000"/>
                  </a:schemeClr>
                </a:outerShdw>
              </a:effectLst>
            </a:endParaRPr>
          </a:p>
        </p:txBody>
      </p:sp>
      <p:sp>
        <p:nvSpPr>
          <p:cNvPr id="6" name="TextBox 5"/>
          <p:cNvSpPr txBox="1"/>
          <p:nvPr/>
        </p:nvSpPr>
        <p:spPr>
          <a:xfrm>
            <a:off x="1099126" y="3428207"/>
            <a:ext cx="1634837" cy="6463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defPPr>
              <a:defRPr lang="en-US"/>
            </a:defPPr>
            <a:lvl1pPr>
              <a:defRPr sz="3600" b="1" spc="50">
                <a:ln w="0"/>
                <a:solidFill>
                  <a:schemeClr val="bg2"/>
                </a:solidFill>
                <a:effectLst>
                  <a:innerShdw blurRad="63500" dist="50800" dir="13500000">
                    <a:srgbClr val="000000">
                      <a:alpha val="50000"/>
                    </a:srgbClr>
                  </a:inn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Why ? </a:t>
            </a:r>
          </a:p>
        </p:txBody>
      </p:sp>
      <p:sp>
        <p:nvSpPr>
          <p:cNvPr id="7" name="TextBox 6"/>
          <p:cNvSpPr txBox="1"/>
          <p:nvPr/>
        </p:nvSpPr>
        <p:spPr>
          <a:xfrm>
            <a:off x="3939314" y="3366652"/>
            <a:ext cx="6317672" cy="707886"/>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000" dirty="0" smtClean="0">
                <a:ln w="0"/>
                <a:solidFill>
                  <a:schemeClr val="tx1"/>
                </a:solidFill>
                <a:effectLst>
                  <a:outerShdw blurRad="38100" dist="19050" dir="2700000" algn="tl" rotWithShape="0">
                    <a:schemeClr val="dk1">
                      <a:alpha val="40000"/>
                    </a:schemeClr>
                  </a:outerShdw>
                </a:effectLst>
              </a:rPr>
              <a:t>The goal is to complete test execution in less amount of time</a:t>
            </a:r>
            <a:endParaRPr lang="en-US" sz="2000" dirty="0">
              <a:ln w="0"/>
              <a:solidFill>
                <a:schemeClr val="tx1"/>
              </a:solidFill>
              <a:effectLst>
                <a:outerShdw blurRad="38100" dist="19050" dir="2700000" algn="tl" rotWithShape="0">
                  <a:schemeClr val="dk1">
                    <a:alpha val="40000"/>
                  </a:schemeClr>
                </a:outerShdw>
              </a:effectLst>
            </a:endParaRPr>
          </a:p>
        </p:txBody>
      </p:sp>
      <p:sp>
        <p:nvSpPr>
          <p:cNvPr id="8" name="TextBox 7"/>
          <p:cNvSpPr txBox="1"/>
          <p:nvPr/>
        </p:nvSpPr>
        <p:spPr>
          <a:xfrm>
            <a:off x="1103743" y="4679733"/>
            <a:ext cx="1607128" cy="6463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defPPr>
              <a:defRPr lang="en-US"/>
            </a:defPPr>
            <a:lvl1pPr>
              <a:defRPr sz="3600" b="1" spc="50">
                <a:ln w="0"/>
                <a:solidFill>
                  <a:schemeClr val="bg2"/>
                </a:solidFill>
                <a:effectLst>
                  <a:innerShdw blurRad="63500" dist="50800" dir="13500000">
                    <a:srgbClr val="000000">
                      <a:alpha val="50000"/>
                    </a:srgbClr>
                  </a:inn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Who ? </a:t>
            </a:r>
          </a:p>
        </p:txBody>
      </p:sp>
      <p:sp>
        <p:nvSpPr>
          <p:cNvPr id="9" name="TextBox 8"/>
          <p:cNvSpPr txBox="1"/>
          <p:nvPr/>
        </p:nvSpPr>
        <p:spPr>
          <a:xfrm>
            <a:off x="3939314" y="4802843"/>
            <a:ext cx="6317672" cy="40011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000" dirty="0" smtClean="0">
                <a:ln w="0"/>
                <a:solidFill>
                  <a:schemeClr val="tx1"/>
                </a:solidFill>
                <a:effectLst>
                  <a:outerShdw blurRad="38100" dist="19050" dir="2700000" algn="tl" rotWithShape="0">
                    <a:schemeClr val="dk1">
                      <a:alpha val="40000"/>
                    </a:schemeClr>
                  </a:outerShdw>
                </a:effectLst>
              </a:rPr>
              <a:t>Testers with basic programing knowledge</a:t>
            </a:r>
            <a:endParaRPr lang="en-US" sz="2000" dirty="0">
              <a:ln w="0"/>
              <a:solidFill>
                <a:schemeClr val="tx1"/>
              </a:solidFill>
              <a:effectLst>
                <a:outerShdw blurRad="38100" dist="19050" dir="2700000" algn="tl" rotWithShape="0">
                  <a:schemeClr val="dk1">
                    <a:alpha val="40000"/>
                  </a:schemeClr>
                </a:outerShdw>
              </a:effectLst>
            </a:endParaRPr>
          </a:p>
        </p:txBody>
      </p:sp>
      <p:sp>
        <p:nvSpPr>
          <p:cNvPr id="10" name="TextBox 9"/>
          <p:cNvSpPr txBox="1"/>
          <p:nvPr/>
        </p:nvSpPr>
        <p:spPr>
          <a:xfrm>
            <a:off x="1089889" y="5718822"/>
            <a:ext cx="2262911" cy="6463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defPPr>
              <a:defRPr lang="en-US"/>
            </a:defPPr>
            <a:lvl1pPr>
              <a:defRPr sz="3600" b="1" spc="50">
                <a:ln w="0"/>
                <a:solidFill>
                  <a:schemeClr val="bg2"/>
                </a:solidFill>
                <a:effectLst>
                  <a:innerShdw blurRad="63500" dist="50800" dir="13500000">
                    <a:srgbClr val="000000">
                      <a:alpha val="50000"/>
                    </a:srgbClr>
                  </a:inn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When ? </a:t>
            </a:r>
          </a:p>
        </p:txBody>
      </p:sp>
      <p:sp>
        <p:nvSpPr>
          <p:cNvPr id="11" name="TextBox 10"/>
          <p:cNvSpPr txBox="1"/>
          <p:nvPr/>
        </p:nvSpPr>
        <p:spPr>
          <a:xfrm>
            <a:off x="3925461" y="5841932"/>
            <a:ext cx="6317672" cy="40011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000" dirty="0" smtClean="0">
                <a:ln w="0"/>
                <a:solidFill>
                  <a:schemeClr val="tx1"/>
                </a:solidFill>
                <a:effectLst>
                  <a:outerShdw blurRad="38100" dist="19050" dir="2700000" algn="tl" rotWithShape="0">
                    <a:schemeClr val="dk1">
                      <a:alpha val="40000"/>
                    </a:schemeClr>
                  </a:outerShdw>
                </a:effectLst>
              </a:rPr>
              <a:t>Not every time &amp; everywhere</a:t>
            </a:r>
            <a:endParaRPr lang="en-US" sz="2000" dirty="0">
              <a:ln w="0"/>
              <a:solidFill>
                <a:schemeClr val="tx1"/>
              </a:solidFill>
              <a:effectLst>
                <a:outerShdw blurRad="38100" dist="19050" dir="2700000" algn="tl" rotWithShape="0">
                  <a:schemeClr val="dk1">
                    <a:alpha val="40000"/>
                  </a:schemeClr>
                </a:outerShdw>
              </a:effectLst>
            </a:endParaRPr>
          </a:p>
        </p:txBody>
      </p:sp>
      <p:pic>
        <p:nvPicPr>
          <p:cNvPr id="12" name="Picture 11"/>
          <p:cNvPicPr>
            <a:picLocks noChangeAspect="1"/>
          </p:cNvPicPr>
          <p:nvPr/>
        </p:nvPicPr>
        <p:blipFill>
          <a:blip r:embed="rId2"/>
          <a:stretch>
            <a:fillRect/>
          </a:stretch>
        </p:blipFill>
        <p:spPr>
          <a:xfrm>
            <a:off x="10256986" y="3896035"/>
            <a:ext cx="2017143" cy="2062858"/>
          </a:xfrm>
          <a:prstGeom prst="rect">
            <a:avLst/>
          </a:prstGeom>
          <a:effectLst>
            <a:glow rad="127000">
              <a:schemeClr val="accent1">
                <a:alpha val="0"/>
              </a:schemeClr>
            </a:glow>
          </a:effectLst>
        </p:spPr>
      </p:pic>
    </p:spTree>
    <p:extLst>
      <p:ext uri="{BB962C8B-B14F-4D97-AF65-F5344CB8AC3E}">
        <p14:creationId xmlns:p14="http://schemas.microsoft.com/office/powerpoint/2010/main" val="26711897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100000">
              <a:schemeClr val="bg1"/>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8" name="Rectangle 4"/>
          <p:cNvSpPr>
            <a:spLocks noChangeArrowheads="1"/>
          </p:cNvSpPr>
          <p:nvPr/>
        </p:nvSpPr>
        <p:spPr bwMode="auto">
          <a:xfrm>
            <a:off x="0" y="-276999"/>
            <a:ext cx="6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hlinkClick r:id="rId2"/>
              </a:rPr>
              <a:t/>
            </a:r>
            <a:br>
              <a:rPr kumimoji="0" lang="en-US" altLang="en-US" sz="1800" b="0" i="0" u="none" strike="noStrike" cap="none" normalizeH="0" baseline="0" dirty="0" smtClean="0">
                <a:ln>
                  <a:noFill/>
                </a:ln>
                <a:solidFill>
                  <a:schemeClr val="tx1"/>
                </a:solidFill>
                <a:effectLst/>
                <a:latin typeface="Arial" panose="020B0604020202020204" pitchFamily="34" charset="0"/>
                <a:hlinkClick r:id="rId2"/>
              </a:rPr>
            </a:b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8"/>
          <p:cNvSpPr/>
          <p:nvPr/>
        </p:nvSpPr>
        <p:spPr>
          <a:xfrm>
            <a:off x="868218" y="667618"/>
            <a:ext cx="6096000" cy="523220"/>
          </a:xfrm>
          <a:prstGeom prst="rect">
            <a:avLst/>
          </a:prstGeom>
        </p:spPr>
        <p:txBody>
          <a:bodyPr>
            <a:spAutoFit/>
          </a:bodyPr>
          <a:lstStyle/>
          <a:p>
            <a:pPr lvl="0" defTabSz="914400" eaLnBrk="0" fontAlgn="base" hangingPunct="0">
              <a:spcBef>
                <a:spcPct val="0"/>
              </a:spcBef>
              <a:spcAft>
                <a:spcPct val="0"/>
              </a:spcAft>
            </a:pPr>
            <a:r>
              <a:rPr lang="en-US" altLang="en-US" sz="2800" b="1" dirty="0">
                <a:latin typeface="Arial" panose="020B0604020202020204" pitchFamily="34" charset="0"/>
              </a:rPr>
              <a:t>1. Processing Time </a:t>
            </a:r>
            <a:endParaRPr lang="en-US" altLang="en-US" sz="2800" b="1" dirty="0" smtClean="0">
              <a:latin typeface="Arial" panose="020B0604020202020204" pitchFamily="34" charset="0"/>
            </a:endParaRPr>
          </a:p>
        </p:txBody>
      </p:sp>
      <p:pic>
        <p:nvPicPr>
          <p:cNvPr id="11" name="Picture 10"/>
          <p:cNvPicPr>
            <a:picLocks noChangeAspect="1"/>
          </p:cNvPicPr>
          <p:nvPr/>
        </p:nvPicPr>
        <p:blipFill>
          <a:blip r:embed="rId3"/>
          <a:stretch>
            <a:fillRect/>
          </a:stretch>
        </p:blipFill>
        <p:spPr>
          <a:xfrm>
            <a:off x="203199" y="1380897"/>
            <a:ext cx="2351315" cy="2404603"/>
          </a:xfrm>
          <a:prstGeom prst="rect">
            <a:avLst/>
          </a:prstGeom>
          <a:effectLst>
            <a:glow rad="127000">
              <a:schemeClr val="accent1">
                <a:alpha val="0"/>
              </a:schemeClr>
            </a:glow>
          </a:effectLst>
        </p:spPr>
      </p:pic>
      <p:sp>
        <p:nvSpPr>
          <p:cNvPr id="12" name="TextBox 11"/>
          <p:cNvSpPr txBox="1"/>
          <p:nvPr/>
        </p:nvSpPr>
        <p:spPr>
          <a:xfrm>
            <a:off x="2554514" y="1647383"/>
            <a:ext cx="6400800" cy="646331"/>
          </a:xfrm>
          <a:prstGeom prst="rect">
            <a:avLst/>
          </a:prstGeom>
          <a:noFill/>
        </p:spPr>
        <p:txBody>
          <a:bodyPr wrap="square" rtlCol="0">
            <a:spAutoFit/>
          </a:bodyPr>
          <a:lstStyle/>
          <a:p>
            <a:r>
              <a:rPr lang="en-US" dirty="0" smtClean="0"/>
              <a:t>Automated testing is faster when directly compared to manual testing </a:t>
            </a:r>
            <a:endParaRPr lang="en-US" dirty="0"/>
          </a:p>
        </p:txBody>
      </p:sp>
      <p:pic>
        <p:nvPicPr>
          <p:cNvPr id="13" name="Picture 12"/>
          <p:cNvPicPr>
            <a:picLocks noChangeAspect="1"/>
          </p:cNvPicPr>
          <p:nvPr/>
        </p:nvPicPr>
        <p:blipFill>
          <a:blip r:embed="rId4"/>
          <a:stretch>
            <a:fillRect/>
          </a:stretch>
        </p:blipFill>
        <p:spPr>
          <a:xfrm>
            <a:off x="10053410" y="3785500"/>
            <a:ext cx="1579789" cy="2526239"/>
          </a:xfrm>
          <a:prstGeom prst="rect">
            <a:avLst/>
          </a:prstGeom>
        </p:spPr>
      </p:pic>
      <p:sp>
        <p:nvSpPr>
          <p:cNvPr id="14" name="TextBox 13"/>
          <p:cNvSpPr txBox="1"/>
          <p:nvPr/>
        </p:nvSpPr>
        <p:spPr>
          <a:xfrm>
            <a:off x="3969657" y="4920343"/>
            <a:ext cx="5638800" cy="646331"/>
          </a:xfrm>
          <a:prstGeom prst="rect">
            <a:avLst/>
          </a:prstGeom>
          <a:noFill/>
        </p:spPr>
        <p:txBody>
          <a:bodyPr wrap="square" rtlCol="0">
            <a:spAutoFit/>
          </a:bodyPr>
          <a:lstStyle/>
          <a:p>
            <a:r>
              <a:rPr lang="en-US" dirty="0" smtClean="0"/>
              <a:t>Manual testing consumes human resources is time-consuming in general</a:t>
            </a:r>
            <a:endParaRPr lang="en-US" dirty="0"/>
          </a:p>
        </p:txBody>
      </p:sp>
    </p:spTree>
    <p:extLst>
      <p:ext uri="{BB962C8B-B14F-4D97-AF65-F5344CB8AC3E}">
        <p14:creationId xmlns:p14="http://schemas.microsoft.com/office/powerpoint/2010/main" val="168222033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100000">
              <a:schemeClr val="bg1"/>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8" name="Rectangle 4"/>
          <p:cNvSpPr>
            <a:spLocks noChangeArrowheads="1"/>
          </p:cNvSpPr>
          <p:nvPr/>
        </p:nvSpPr>
        <p:spPr bwMode="auto">
          <a:xfrm>
            <a:off x="0" y="-276999"/>
            <a:ext cx="6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hlinkClick r:id="rId2"/>
              </a:rPr>
              <a:t/>
            </a:r>
            <a:br>
              <a:rPr kumimoji="0" lang="en-US" altLang="en-US" sz="1800" b="0" i="0" u="none" strike="noStrike" cap="none" normalizeH="0" baseline="0" dirty="0" smtClean="0">
                <a:ln>
                  <a:noFill/>
                </a:ln>
                <a:solidFill>
                  <a:schemeClr val="tx1"/>
                </a:solidFill>
                <a:effectLst/>
                <a:latin typeface="Arial" panose="020B0604020202020204" pitchFamily="34" charset="0"/>
                <a:hlinkClick r:id="rId2"/>
              </a:rPr>
            </a:b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8"/>
          <p:cNvSpPr/>
          <p:nvPr/>
        </p:nvSpPr>
        <p:spPr>
          <a:xfrm>
            <a:off x="868218" y="667618"/>
            <a:ext cx="6096000" cy="523220"/>
          </a:xfrm>
          <a:prstGeom prst="rect">
            <a:avLst/>
          </a:prstGeom>
        </p:spPr>
        <p:txBody>
          <a:bodyPr>
            <a:spAutoFit/>
          </a:bodyPr>
          <a:lstStyle/>
          <a:p>
            <a:pPr lvl="0" defTabSz="914400" eaLnBrk="0" fontAlgn="base" hangingPunct="0">
              <a:spcBef>
                <a:spcPct val="0"/>
              </a:spcBef>
              <a:spcAft>
                <a:spcPct val="0"/>
              </a:spcAft>
            </a:pPr>
            <a:r>
              <a:rPr lang="en-US" altLang="en-US" sz="2800" b="1" dirty="0" smtClean="0">
                <a:latin typeface="Arial" panose="020B0604020202020204" pitchFamily="34" charset="0"/>
              </a:rPr>
              <a:t>2. </a:t>
            </a:r>
            <a:r>
              <a:rPr lang="en-US" altLang="en-US" sz="2800" b="1" dirty="0">
                <a:latin typeface="Arial" panose="020B0604020202020204" pitchFamily="34" charset="0"/>
              </a:rPr>
              <a:t>Exploratory Testing </a:t>
            </a:r>
          </a:p>
        </p:txBody>
      </p:sp>
      <p:pic>
        <p:nvPicPr>
          <p:cNvPr id="11" name="Picture 10"/>
          <p:cNvPicPr>
            <a:picLocks noChangeAspect="1"/>
          </p:cNvPicPr>
          <p:nvPr/>
        </p:nvPicPr>
        <p:blipFill>
          <a:blip r:embed="rId3"/>
          <a:stretch>
            <a:fillRect/>
          </a:stretch>
        </p:blipFill>
        <p:spPr>
          <a:xfrm>
            <a:off x="203199" y="1380897"/>
            <a:ext cx="2351315" cy="2404603"/>
          </a:xfrm>
          <a:prstGeom prst="rect">
            <a:avLst/>
          </a:prstGeom>
          <a:effectLst>
            <a:glow rad="127000">
              <a:schemeClr val="accent1">
                <a:alpha val="0"/>
              </a:schemeClr>
            </a:glow>
          </a:effectLst>
        </p:spPr>
      </p:pic>
      <p:sp>
        <p:nvSpPr>
          <p:cNvPr id="12" name="TextBox 11"/>
          <p:cNvSpPr txBox="1"/>
          <p:nvPr/>
        </p:nvSpPr>
        <p:spPr>
          <a:xfrm>
            <a:off x="2554514" y="1647383"/>
            <a:ext cx="6400800" cy="646331"/>
          </a:xfrm>
          <a:prstGeom prst="rect">
            <a:avLst/>
          </a:prstGeom>
          <a:noFill/>
        </p:spPr>
        <p:txBody>
          <a:bodyPr wrap="square" rtlCol="0">
            <a:spAutoFit/>
          </a:bodyPr>
          <a:lstStyle/>
          <a:p>
            <a:r>
              <a:rPr lang="en-US" dirty="0" smtClean="0"/>
              <a:t>Automated testing does not allow for exploratory testing or random testing in general</a:t>
            </a:r>
            <a:endParaRPr lang="en-US" dirty="0"/>
          </a:p>
        </p:txBody>
      </p:sp>
      <p:pic>
        <p:nvPicPr>
          <p:cNvPr id="13" name="Picture 12"/>
          <p:cNvPicPr>
            <a:picLocks noChangeAspect="1"/>
          </p:cNvPicPr>
          <p:nvPr/>
        </p:nvPicPr>
        <p:blipFill>
          <a:blip r:embed="rId4"/>
          <a:stretch>
            <a:fillRect/>
          </a:stretch>
        </p:blipFill>
        <p:spPr>
          <a:xfrm>
            <a:off x="10053410" y="3785500"/>
            <a:ext cx="1579789" cy="2526239"/>
          </a:xfrm>
          <a:prstGeom prst="rect">
            <a:avLst/>
          </a:prstGeom>
        </p:spPr>
      </p:pic>
      <p:sp>
        <p:nvSpPr>
          <p:cNvPr id="14" name="TextBox 13"/>
          <p:cNvSpPr txBox="1"/>
          <p:nvPr/>
        </p:nvSpPr>
        <p:spPr>
          <a:xfrm>
            <a:off x="3969657" y="4920343"/>
            <a:ext cx="5638800" cy="923330"/>
          </a:xfrm>
          <a:prstGeom prst="rect">
            <a:avLst/>
          </a:prstGeom>
          <a:noFill/>
        </p:spPr>
        <p:txBody>
          <a:bodyPr wrap="square" rtlCol="0">
            <a:spAutoFit/>
          </a:bodyPr>
          <a:lstStyle/>
          <a:p>
            <a:r>
              <a:rPr lang="en-US" dirty="0" smtClean="0"/>
              <a:t>Manual testing </a:t>
            </a:r>
            <a:r>
              <a:rPr lang="en-US" dirty="0"/>
              <a:t>does </a:t>
            </a:r>
            <a:r>
              <a:rPr lang="en-US" dirty="0" smtClean="0"/>
              <a:t>allow </a:t>
            </a:r>
            <a:r>
              <a:rPr lang="en-US" dirty="0"/>
              <a:t>for exploratory testing or random testing </a:t>
            </a:r>
            <a:r>
              <a:rPr lang="en-US" dirty="0" smtClean="0"/>
              <a:t>methodologies to be implemented </a:t>
            </a:r>
            <a:endParaRPr lang="en-US" dirty="0"/>
          </a:p>
        </p:txBody>
      </p:sp>
    </p:spTree>
    <p:extLst>
      <p:ext uri="{BB962C8B-B14F-4D97-AF65-F5344CB8AC3E}">
        <p14:creationId xmlns:p14="http://schemas.microsoft.com/office/powerpoint/2010/main" val="106334726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100000">
              <a:schemeClr val="bg1"/>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8" name="Rectangle 4"/>
          <p:cNvSpPr>
            <a:spLocks noChangeArrowheads="1"/>
          </p:cNvSpPr>
          <p:nvPr/>
        </p:nvSpPr>
        <p:spPr bwMode="auto">
          <a:xfrm>
            <a:off x="0" y="-276999"/>
            <a:ext cx="6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hlinkClick r:id="rId2"/>
              </a:rPr>
              <a:t/>
            </a:r>
            <a:br>
              <a:rPr kumimoji="0" lang="en-US" altLang="en-US" sz="1800" b="0" i="0" u="none" strike="noStrike" cap="none" normalizeH="0" baseline="0" dirty="0" smtClean="0">
                <a:ln>
                  <a:noFill/>
                </a:ln>
                <a:solidFill>
                  <a:schemeClr val="tx1"/>
                </a:solidFill>
                <a:effectLst/>
                <a:latin typeface="Arial" panose="020B0604020202020204" pitchFamily="34" charset="0"/>
                <a:hlinkClick r:id="rId2"/>
              </a:rPr>
            </a:b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8"/>
          <p:cNvSpPr/>
          <p:nvPr/>
        </p:nvSpPr>
        <p:spPr>
          <a:xfrm>
            <a:off x="868218" y="667618"/>
            <a:ext cx="6096000" cy="523220"/>
          </a:xfrm>
          <a:prstGeom prst="rect">
            <a:avLst/>
          </a:prstGeom>
        </p:spPr>
        <p:txBody>
          <a:bodyPr>
            <a:spAutoFit/>
          </a:bodyPr>
          <a:lstStyle/>
          <a:p>
            <a:pPr lvl="0" defTabSz="914400" eaLnBrk="0" fontAlgn="base" hangingPunct="0">
              <a:spcBef>
                <a:spcPct val="0"/>
              </a:spcBef>
              <a:spcAft>
                <a:spcPct val="0"/>
              </a:spcAft>
            </a:pPr>
            <a:r>
              <a:rPr lang="en-US" altLang="en-US" sz="2800" b="1" dirty="0" smtClean="0">
                <a:latin typeface="Arial" panose="020B0604020202020204" pitchFamily="34" charset="0"/>
              </a:rPr>
              <a:t>3. Initial Investment</a:t>
            </a:r>
          </a:p>
        </p:txBody>
      </p:sp>
      <p:pic>
        <p:nvPicPr>
          <p:cNvPr id="11" name="Picture 10"/>
          <p:cNvPicPr>
            <a:picLocks noChangeAspect="1"/>
          </p:cNvPicPr>
          <p:nvPr/>
        </p:nvPicPr>
        <p:blipFill>
          <a:blip r:embed="rId3"/>
          <a:stretch>
            <a:fillRect/>
          </a:stretch>
        </p:blipFill>
        <p:spPr>
          <a:xfrm>
            <a:off x="-56641" y="1428522"/>
            <a:ext cx="2524295" cy="2581503"/>
          </a:xfrm>
          <a:prstGeom prst="rect">
            <a:avLst/>
          </a:prstGeom>
          <a:effectLst>
            <a:glow rad="127000">
              <a:schemeClr val="accent1">
                <a:alpha val="0"/>
              </a:schemeClr>
            </a:glow>
          </a:effectLst>
        </p:spPr>
      </p:pic>
      <p:sp>
        <p:nvSpPr>
          <p:cNvPr id="12" name="TextBox 11"/>
          <p:cNvSpPr txBox="1"/>
          <p:nvPr/>
        </p:nvSpPr>
        <p:spPr>
          <a:xfrm>
            <a:off x="2554514" y="1647383"/>
            <a:ext cx="6400800" cy="923330"/>
          </a:xfrm>
          <a:prstGeom prst="rect">
            <a:avLst/>
          </a:prstGeom>
          <a:noFill/>
        </p:spPr>
        <p:txBody>
          <a:bodyPr wrap="square" rtlCol="0">
            <a:spAutoFit/>
          </a:bodyPr>
          <a:lstStyle/>
          <a:p>
            <a:r>
              <a:rPr lang="en-US" dirty="0" smtClean="0"/>
              <a:t>Automated testing involves spending a bigger amount but it pays off well because the return on investment is better for long term</a:t>
            </a:r>
            <a:endParaRPr lang="en-US" dirty="0"/>
          </a:p>
        </p:txBody>
      </p:sp>
      <p:pic>
        <p:nvPicPr>
          <p:cNvPr id="13" name="Picture 12"/>
          <p:cNvPicPr>
            <a:picLocks noChangeAspect="1"/>
          </p:cNvPicPr>
          <p:nvPr/>
        </p:nvPicPr>
        <p:blipFill>
          <a:blip r:embed="rId4"/>
          <a:stretch>
            <a:fillRect/>
          </a:stretch>
        </p:blipFill>
        <p:spPr>
          <a:xfrm>
            <a:off x="9782176" y="3351768"/>
            <a:ext cx="1851024" cy="2959971"/>
          </a:xfrm>
          <a:prstGeom prst="rect">
            <a:avLst/>
          </a:prstGeom>
        </p:spPr>
      </p:pic>
      <p:sp>
        <p:nvSpPr>
          <p:cNvPr id="14" name="TextBox 13"/>
          <p:cNvSpPr txBox="1"/>
          <p:nvPr/>
        </p:nvSpPr>
        <p:spPr>
          <a:xfrm>
            <a:off x="3969657" y="4920343"/>
            <a:ext cx="5638800" cy="646331"/>
          </a:xfrm>
          <a:prstGeom prst="rect">
            <a:avLst/>
          </a:prstGeom>
          <a:noFill/>
        </p:spPr>
        <p:txBody>
          <a:bodyPr wrap="square" rtlCol="0">
            <a:spAutoFit/>
          </a:bodyPr>
          <a:lstStyle/>
          <a:p>
            <a:r>
              <a:rPr lang="en-US" dirty="0" smtClean="0"/>
              <a:t>Manual testing involves spending a significantly smaller amount but ROI is comparatively low</a:t>
            </a:r>
            <a:endParaRPr lang="en-US" dirty="0"/>
          </a:p>
        </p:txBody>
      </p:sp>
    </p:spTree>
    <p:extLst>
      <p:ext uri="{BB962C8B-B14F-4D97-AF65-F5344CB8AC3E}">
        <p14:creationId xmlns:p14="http://schemas.microsoft.com/office/powerpoint/2010/main" val="24509475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100000">
              <a:schemeClr val="bg1"/>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8" name="Rectangle 4"/>
          <p:cNvSpPr>
            <a:spLocks noChangeArrowheads="1"/>
          </p:cNvSpPr>
          <p:nvPr/>
        </p:nvSpPr>
        <p:spPr bwMode="auto">
          <a:xfrm>
            <a:off x="0" y="-276999"/>
            <a:ext cx="6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hlinkClick r:id="rId2"/>
              </a:rPr>
              <a:t/>
            </a:r>
            <a:br>
              <a:rPr kumimoji="0" lang="en-US" altLang="en-US" sz="1800" b="0" i="0" u="none" strike="noStrike" cap="none" normalizeH="0" baseline="0" dirty="0" smtClean="0">
                <a:ln>
                  <a:noFill/>
                </a:ln>
                <a:solidFill>
                  <a:schemeClr val="tx1"/>
                </a:solidFill>
                <a:effectLst/>
                <a:latin typeface="Arial" panose="020B0604020202020204" pitchFamily="34" charset="0"/>
                <a:hlinkClick r:id="rId2"/>
              </a:rPr>
            </a:b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8"/>
          <p:cNvSpPr/>
          <p:nvPr/>
        </p:nvSpPr>
        <p:spPr>
          <a:xfrm>
            <a:off x="868218" y="667618"/>
            <a:ext cx="6096000" cy="523220"/>
          </a:xfrm>
          <a:prstGeom prst="rect">
            <a:avLst/>
          </a:prstGeom>
        </p:spPr>
        <p:txBody>
          <a:bodyPr>
            <a:spAutoFit/>
          </a:bodyPr>
          <a:lstStyle/>
          <a:p>
            <a:pPr lvl="0" defTabSz="914400" eaLnBrk="0" fontAlgn="base" hangingPunct="0">
              <a:spcBef>
                <a:spcPct val="0"/>
              </a:spcBef>
              <a:spcAft>
                <a:spcPct val="0"/>
              </a:spcAft>
            </a:pPr>
            <a:r>
              <a:rPr lang="en-US" altLang="en-US" sz="2800" b="1" dirty="0" smtClean="0">
                <a:latin typeface="Arial" panose="020B0604020202020204" pitchFamily="34" charset="0"/>
              </a:rPr>
              <a:t>4. Reliability</a:t>
            </a:r>
          </a:p>
        </p:txBody>
      </p:sp>
      <p:pic>
        <p:nvPicPr>
          <p:cNvPr id="11" name="Picture 10"/>
          <p:cNvPicPr>
            <a:picLocks noChangeAspect="1"/>
          </p:cNvPicPr>
          <p:nvPr/>
        </p:nvPicPr>
        <p:blipFill>
          <a:blip r:embed="rId3"/>
          <a:stretch>
            <a:fillRect/>
          </a:stretch>
        </p:blipFill>
        <p:spPr>
          <a:xfrm>
            <a:off x="-56641" y="1428522"/>
            <a:ext cx="2524295" cy="2581503"/>
          </a:xfrm>
          <a:prstGeom prst="rect">
            <a:avLst/>
          </a:prstGeom>
          <a:effectLst>
            <a:glow rad="127000">
              <a:schemeClr val="accent1">
                <a:alpha val="0"/>
              </a:schemeClr>
            </a:glow>
          </a:effectLst>
        </p:spPr>
      </p:pic>
      <p:sp>
        <p:nvSpPr>
          <p:cNvPr id="12" name="TextBox 11"/>
          <p:cNvSpPr txBox="1"/>
          <p:nvPr/>
        </p:nvSpPr>
        <p:spPr>
          <a:xfrm>
            <a:off x="2554514" y="1647383"/>
            <a:ext cx="6400800" cy="646331"/>
          </a:xfrm>
          <a:prstGeom prst="rect">
            <a:avLst/>
          </a:prstGeom>
          <a:noFill/>
        </p:spPr>
        <p:txBody>
          <a:bodyPr wrap="square" rtlCol="0">
            <a:spAutoFit/>
          </a:bodyPr>
          <a:lstStyle/>
          <a:p>
            <a:r>
              <a:rPr lang="en-US" dirty="0" smtClean="0"/>
              <a:t>Automated testing is very robust and reliable as the task is carried out by various tools and scripts</a:t>
            </a:r>
            <a:endParaRPr lang="en-US" dirty="0"/>
          </a:p>
        </p:txBody>
      </p:sp>
      <p:pic>
        <p:nvPicPr>
          <p:cNvPr id="13" name="Picture 12"/>
          <p:cNvPicPr>
            <a:picLocks noChangeAspect="1"/>
          </p:cNvPicPr>
          <p:nvPr/>
        </p:nvPicPr>
        <p:blipFill>
          <a:blip r:embed="rId4"/>
          <a:stretch>
            <a:fillRect/>
          </a:stretch>
        </p:blipFill>
        <p:spPr>
          <a:xfrm>
            <a:off x="9782176" y="3351768"/>
            <a:ext cx="1851024" cy="2959971"/>
          </a:xfrm>
          <a:prstGeom prst="rect">
            <a:avLst/>
          </a:prstGeom>
        </p:spPr>
      </p:pic>
      <p:sp>
        <p:nvSpPr>
          <p:cNvPr id="14" name="TextBox 13"/>
          <p:cNvSpPr txBox="1"/>
          <p:nvPr/>
        </p:nvSpPr>
        <p:spPr>
          <a:xfrm>
            <a:off x="3969657" y="4920343"/>
            <a:ext cx="5638800" cy="646331"/>
          </a:xfrm>
          <a:prstGeom prst="rect">
            <a:avLst/>
          </a:prstGeom>
          <a:noFill/>
        </p:spPr>
        <p:txBody>
          <a:bodyPr wrap="square" rtlCol="0">
            <a:spAutoFit/>
          </a:bodyPr>
          <a:lstStyle/>
          <a:p>
            <a:r>
              <a:rPr lang="en-US" dirty="0" smtClean="0"/>
              <a:t>Manual testing does not have a high rate of accuracy because it involves human error</a:t>
            </a:r>
            <a:endParaRPr lang="en-US" dirty="0"/>
          </a:p>
        </p:txBody>
      </p:sp>
    </p:spTree>
    <p:extLst>
      <p:ext uri="{BB962C8B-B14F-4D97-AF65-F5344CB8AC3E}">
        <p14:creationId xmlns:p14="http://schemas.microsoft.com/office/powerpoint/2010/main" val="9173164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100000">
              <a:schemeClr val="bg1"/>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8" name="Rectangle 4"/>
          <p:cNvSpPr>
            <a:spLocks noChangeArrowheads="1"/>
          </p:cNvSpPr>
          <p:nvPr/>
        </p:nvSpPr>
        <p:spPr bwMode="auto">
          <a:xfrm>
            <a:off x="0" y="-276999"/>
            <a:ext cx="6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hlinkClick r:id="rId2"/>
              </a:rPr>
              <a:t/>
            </a:r>
            <a:br>
              <a:rPr kumimoji="0" lang="en-US" altLang="en-US" sz="1800" b="0" i="0" u="none" strike="noStrike" cap="none" normalizeH="0" baseline="0" dirty="0" smtClean="0">
                <a:ln>
                  <a:noFill/>
                </a:ln>
                <a:solidFill>
                  <a:schemeClr val="tx1"/>
                </a:solidFill>
                <a:effectLst/>
                <a:latin typeface="Arial" panose="020B0604020202020204" pitchFamily="34" charset="0"/>
                <a:hlinkClick r:id="rId2"/>
              </a:rPr>
            </a:b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8"/>
          <p:cNvSpPr/>
          <p:nvPr/>
        </p:nvSpPr>
        <p:spPr>
          <a:xfrm>
            <a:off x="868218" y="667618"/>
            <a:ext cx="6096000" cy="523220"/>
          </a:xfrm>
          <a:prstGeom prst="rect">
            <a:avLst/>
          </a:prstGeom>
        </p:spPr>
        <p:txBody>
          <a:bodyPr>
            <a:spAutoFit/>
          </a:bodyPr>
          <a:lstStyle/>
          <a:p>
            <a:pPr lvl="0" defTabSz="914400" eaLnBrk="0" fontAlgn="base" hangingPunct="0">
              <a:spcBef>
                <a:spcPct val="0"/>
              </a:spcBef>
              <a:spcAft>
                <a:spcPct val="0"/>
              </a:spcAft>
            </a:pPr>
            <a:r>
              <a:rPr lang="en-US" altLang="en-US" sz="2800" b="1" dirty="0" smtClean="0">
                <a:latin typeface="Arial" panose="020B0604020202020204" pitchFamily="34" charset="0"/>
              </a:rPr>
              <a:t>5. UI Changes</a:t>
            </a:r>
          </a:p>
        </p:txBody>
      </p:sp>
      <p:pic>
        <p:nvPicPr>
          <p:cNvPr id="11" name="Picture 10"/>
          <p:cNvPicPr>
            <a:picLocks noChangeAspect="1"/>
          </p:cNvPicPr>
          <p:nvPr/>
        </p:nvPicPr>
        <p:blipFill>
          <a:blip r:embed="rId3"/>
          <a:stretch>
            <a:fillRect/>
          </a:stretch>
        </p:blipFill>
        <p:spPr>
          <a:xfrm>
            <a:off x="-56641" y="1428522"/>
            <a:ext cx="2524295" cy="2581503"/>
          </a:xfrm>
          <a:prstGeom prst="rect">
            <a:avLst/>
          </a:prstGeom>
          <a:effectLst>
            <a:glow rad="127000">
              <a:schemeClr val="accent1">
                <a:alpha val="0"/>
              </a:schemeClr>
            </a:glow>
          </a:effectLst>
        </p:spPr>
      </p:pic>
      <p:sp>
        <p:nvSpPr>
          <p:cNvPr id="12" name="TextBox 11"/>
          <p:cNvSpPr txBox="1"/>
          <p:nvPr/>
        </p:nvSpPr>
        <p:spPr>
          <a:xfrm>
            <a:off x="2554514" y="1647383"/>
            <a:ext cx="6400800" cy="923330"/>
          </a:xfrm>
          <a:prstGeom prst="rect">
            <a:avLst/>
          </a:prstGeom>
          <a:noFill/>
        </p:spPr>
        <p:txBody>
          <a:bodyPr wrap="square" rtlCol="0">
            <a:spAutoFit/>
          </a:bodyPr>
          <a:lstStyle/>
          <a:p>
            <a:r>
              <a:rPr lang="en-US" dirty="0" smtClean="0"/>
              <a:t>Automated testing has a small disadvantage because scripts need to be changed completely if there is a UI change</a:t>
            </a:r>
            <a:endParaRPr lang="en-US" dirty="0"/>
          </a:p>
        </p:txBody>
      </p:sp>
      <p:pic>
        <p:nvPicPr>
          <p:cNvPr id="13" name="Picture 12"/>
          <p:cNvPicPr>
            <a:picLocks noChangeAspect="1"/>
          </p:cNvPicPr>
          <p:nvPr/>
        </p:nvPicPr>
        <p:blipFill>
          <a:blip r:embed="rId4"/>
          <a:stretch>
            <a:fillRect/>
          </a:stretch>
        </p:blipFill>
        <p:spPr>
          <a:xfrm>
            <a:off x="9782176" y="3351768"/>
            <a:ext cx="1851024" cy="2959971"/>
          </a:xfrm>
          <a:prstGeom prst="rect">
            <a:avLst/>
          </a:prstGeom>
        </p:spPr>
      </p:pic>
      <p:sp>
        <p:nvSpPr>
          <p:cNvPr id="14" name="TextBox 13"/>
          <p:cNvSpPr txBox="1"/>
          <p:nvPr/>
        </p:nvSpPr>
        <p:spPr>
          <a:xfrm>
            <a:off x="3969657" y="4920343"/>
            <a:ext cx="5638800" cy="923330"/>
          </a:xfrm>
          <a:prstGeom prst="rect">
            <a:avLst/>
          </a:prstGeom>
          <a:noFill/>
        </p:spPr>
        <p:txBody>
          <a:bodyPr wrap="square" rtlCol="0">
            <a:spAutoFit/>
          </a:bodyPr>
          <a:lstStyle/>
          <a:p>
            <a:r>
              <a:rPr lang="en-US" dirty="0" smtClean="0"/>
              <a:t>Manual testing Can work fine with changes comparatively simple and quicker when compared</a:t>
            </a:r>
            <a:endParaRPr lang="en-US" dirty="0"/>
          </a:p>
        </p:txBody>
      </p:sp>
    </p:spTree>
    <p:extLst>
      <p:ext uri="{BB962C8B-B14F-4D97-AF65-F5344CB8AC3E}">
        <p14:creationId xmlns:p14="http://schemas.microsoft.com/office/powerpoint/2010/main" val="65617403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100000">
              <a:schemeClr val="bg1"/>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8" name="Rectangle 4"/>
          <p:cNvSpPr>
            <a:spLocks noChangeArrowheads="1"/>
          </p:cNvSpPr>
          <p:nvPr/>
        </p:nvSpPr>
        <p:spPr bwMode="auto">
          <a:xfrm>
            <a:off x="0" y="-276999"/>
            <a:ext cx="6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hlinkClick r:id="rId2"/>
              </a:rPr>
              <a:t/>
            </a:r>
            <a:br>
              <a:rPr kumimoji="0" lang="en-US" altLang="en-US" sz="1800" b="0" i="0" u="none" strike="noStrike" cap="none" normalizeH="0" baseline="0" dirty="0" smtClean="0">
                <a:ln>
                  <a:noFill/>
                </a:ln>
                <a:solidFill>
                  <a:schemeClr val="tx1"/>
                </a:solidFill>
                <a:effectLst/>
                <a:latin typeface="Arial" panose="020B0604020202020204" pitchFamily="34" charset="0"/>
                <a:hlinkClick r:id="rId2"/>
              </a:rPr>
            </a:b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8"/>
          <p:cNvSpPr/>
          <p:nvPr/>
        </p:nvSpPr>
        <p:spPr>
          <a:xfrm>
            <a:off x="868218" y="667618"/>
            <a:ext cx="6096000" cy="523220"/>
          </a:xfrm>
          <a:prstGeom prst="rect">
            <a:avLst/>
          </a:prstGeom>
        </p:spPr>
        <p:txBody>
          <a:bodyPr>
            <a:spAutoFit/>
          </a:bodyPr>
          <a:lstStyle/>
          <a:p>
            <a:pPr lvl="0" defTabSz="914400" eaLnBrk="0" fontAlgn="base" hangingPunct="0">
              <a:spcBef>
                <a:spcPct val="0"/>
              </a:spcBef>
              <a:spcAft>
                <a:spcPct val="0"/>
              </a:spcAft>
            </a:pPr>
            <a:r>
              <a:rPr lang="en-US" altLang="en-US" sz="2800" b="1" dirty="0" smtClean="0">
                <a:latin typeface="Arial" panose="020B0604020202020204" pitchFamily="34" charset="0"/>
              </a:rPr>
              <a:t>6. Resources</a:t>
            </a:r>
          </a:p>
        </p:txBody>
      </p:sp>
      <p:pic>
        <p:nvPicPr>
          <p:cNvPr id="11" name="Picture 10"/>
          <p:cNvPicPr>
            <a:picLocks noChangeAspect="1"/>
          </p:cNvPicPr>
          <p:nvPr/>
        </p:nvPicPr>
        <p:blipFill>
          <a:blip r:embed="rId3"/>
          <a:stretch>
            <a:fillRect/>
          </a:stretch>
        </p:blipFill>
        <p:spPr>
          <a:xfrm>
            <a:off x="-56641" y="1428522"/>
            <a:ext cx="2524295" cy="2581503"/>
          </a:xfrm>
          <a:prstGeom prst="rect">
            <a:avLst/>
          </a:prstGeom>
          <a:effectLst>
            <a:glow rad="127000">
              <a:schemeClr val="accent1">
                <a:alpha val="0"/>
              </a:schemeClr>
            </a:glow>
          </a:effectLst>
        </p:spPr>
      </p:pic>
      <p:sp>
        <p:nvSpPr>
          <p:cNvPr id="12" name="TextBox 11"/>
          <p:cNvSpPr txBox="1"/>
          <p:nvPr/>
        </p:nvSpPr>
        <p:spPr>
          <a:xfrm>
            <a:off x="2554514" y="1647383"/>
            <a:ext cx="6400800" cy="646331"/>
          </a:xfrm>
          <a:prstGeom prst="rect">
            <a:avLst/>
          </a:prstGeom>
          <a:noFill/>
        </p:spPr>
        <p:txBody>
          <a:bodyPr wrap="square" rtlCol="0">
            <a:spAutoFit/>
          </a:bodyPr>
          <a:lstStyle/>
          <a:p>
            <a:r>
              <a:rPr lang="en-US" dirty="0" smtClean="0"/>
              <a:t>Automated testing calls for testing tools and automation engineers</a:t>
            </a:r>
            <a:endParaRPr lang="en-US" dirty="0"/>
          </a:p>
        </p:txBody>
      </p:sp>
      <p:pic>
        <p:nvPicPr>
          <p:cNvPr id="13" name="Picture 12"/>
          <p:cNvPicPr>
            <a:picLocks noChangeAspect="1"/>
          </p:cNvPicPr>
          <p:nvPr/>
        </p:nvPicPr>
        <p:blipFill>
          <a:blip r:embed="rId4"/>
          <a:stretch>
            <a:fillRect/>
          </a:stretch>
        </p:blipFill>
        <p:spPr>
          <a:xfrm>
            <a:off x="9782176" y="3351768"/>
            <a:ext cx="1851024" cy="2959971"/>
          </a:xfrm>
          <a:prstGeom prst="rect">
            <a:avLst/>
          </a:prstGeom>
        </p:spPr>
      </p:pic>
      <p:sp>
        <p:nvSpPr>
          <p:cNvPr id="14" name="TextBox 13"/>
          <p:cNvSpPr txBox="1"/>
          <p:nvPr/>
        </p:nvSpPr>
        <p:spPr>
          <a:xfrm>
            <a:off x="3969657" y="4920343"/>
            <a:ext cx="5638800" cy="646331"/>
          </a:xfrm>
          <a:prstGeom prst="rect">
            <a:avLst/>
          </a:prstGeom>
          <a:noFill/>
        </p:spPr>
        <p:txBody>
          <a:bodyPr wrap="square" rtlCol="0">
            <a:spAutoFit/>
          </a:bodyPr>
          <a:lstStyle/>
          <a:p>
            <a:r>
              <a:rPr lang="en-US" dirty="0" smtClean="0"/>
              <a:t>Manual testing calls for investing in human resources</a:t>
            </a:r>
            <a:endParaRPr lang="en-US" dirty="0"/>
          </a:p>
        </p:txBody>
      </p:sp>
    </p:spTree>
    <p:extLst>
      <p:ext uri="{BB962C8B-B14F-4D97-AF65-F5344CB8AC3E}">
        <p14:creationId xmlns:p14="http://schemas.microsoft.com/office/powerpoint/2010/main" val="283933611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100000">
              <a:schemeClr val="bg1"/>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8" name="Rectangle 4"/>
          <p:cNvSpPr>
            <a:spLocks noChangeArrowheads="1"/>
          </p:cNvSpPr>
          <p:nvPr/>
        </p:nvSpPr>
        <p:spPr bwMode="auto">
          <a:xfrm>
            <a:off x="0" y="-276999"/>
            <a:ext cx="6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hlinkClick r:id="rId2"/>
              </a:rPr>
              <a:t/>
            </a:r>
            <a:br>
              <a:rPr kumimoji="0" lang="en-US" altLang="en-US" sz="1800" b="0" i="0" u="none" strike="noStrike" cap="none" normalizeH="0" baseline="0" dirty="0" smtClean="0">
                <a:ln>
                  <a:noFill/>
                </a:ln>
                <a:solidFill>
                  <a:schemeClr val="tx1"/>
                </a:solidFill>
                <a:effectLst/>
                <a:latin typeface="Arial" panose="020B0604020202020204" pitchFamily="34" charset="0"/>
                <a:hlinkClick r:id="rId2"/>
              </a:rPr>
            </a:b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8"/>
          <p:cNvSpPr/>
          <p:nvPr/>
        </p:nvSpPr>
        <p:spPr>
          <a:xfrm>
            <a:off x="868218" y="667618"/>
            <a:ext cx="6096000" cy="523220"/>
          </a:xfrm>
          <a:prstGeom prst="rect">
            <a:avLst/>
          </a:prstGeom>
        </p:spPr>
        <p:txBody>
          <a:bodyPr>
            <a:spAutoFit/>
          </a:bodyPr>
          <a:lstStyle/>
          <a:p>
            <a:pPr lvl="0" defTabSz="914400" eaLnBrk="0" fontAlgn="base" hangingPunct="0">
              <a:spcBef>
                <a:spcPct val="0"/>
              </a:spcBef>
              <a:spcAft>
                <a:spcPct val="0"/>
              </a:spcAft>
            </a:pPr>
            <a:r>
              <a:rPr lang="en-US" altLang="en-US" sz="2800" b="1" dirty="0" smtClean="0">
                <a:latin typeface="Arial" panose="020B0604020202020204" pitchFamily="34" charset="0"/>
              </a:rPr>
              <a:t>7. Value for money</a:t>
            </a:r>
          </a:p>
        </p:txBody>
      </p:sp>
      <p:pic>
        <p:nvPicPr>
          <p:cNvPr id="11" name="Picture 10"/>
          <p:cNvPicPr>
            <a:picLocks noChangeAspect="1"/>
          </p:cNvPicPr>
          <p:nvPr/>
        </p:nvPicPr>
        <p:blipFill>
          <a:blip r:embed="rId3"/>
          <a:stretch>
            <a:fillRect/>
          </a:stretch>
        </p:blipFill>
        <p:spPr>
          <a:xfrm>
            <a:off x="-56641" y="1428522"/>
            <a:ext cx="2524295" cy="2581503"/>
          </a:xfrm>
          <a:prstGeom prst="rect">
            <a:avLst/>
          </a:prstGeom>
          <a:effectLst>
            <a:glow rad="127000">
              <a:schemeClr val="accent1">
                <a:alpha val="0"/>
              </a:schemeClr>
            </a:glow>
          </a:effectLst>
        </p:spPr>
      </p:pic>
      <p:sp>
        <p:nvSpPr>
          <p:cNvPr id="12" name="TextBox 11"/>
          <p:cNvSpPr txBox="1"/>
          <p:nvPr/>
        </p:nvSpPr>
        <p:spPr>
          <a:xfrm>
            <a:off x="2554514" y="1647383"/>
            <a:ext cx="6400800" cy="646331"/>
          </a:xfrm>
          <a:prstGeom prst="rect">
            <a:avLst/>
          </a:prstGeom>
          <a:noFill/>
        </p:spPr>
        <p:txBody>
          <a:bodyPr wrap="square" rtlCol="0">
            <a:spAutoFit/>
          </a:bodyPr>
          <a:lstStyle/>
          <a:p>
            <a:r>
              <a:rPr lang="en-US" dirty="0" smtClean="0"/>
              <a:t>Automated testing will work out if the test content volume is large</a:t>
            </a:r>
            <a:endParaRPr lang="en-US" dirty="0"/>
          </a:p>
        </p:txBody>
      </p:sp>
      <p:pic>
        <p:nvPicPr>
          <p:cNvPr id="13" name="Picture 12"/>
          <p:cNvPicPr>
            <a:picLocks noChangeAspect="1"/>
          </p:cNvPicPr>
          <p:nvPr/>
        </p:nvPicPr>
        <p:blipFill>
          <a:blip r:embed="rId4"/>
          <a:stretch>
            <a:fillRect/>
          </a:stretch>
        </p:blipFill>
        <p:spPr>
          <a:xfrm>
            <a:off x="9782176" y="3351768"/>
            <a:ext cx="1851024" cy="2959971"/>
          </a:xfrm>
          <a:prstGeom prst="rect">
            <a:avLst/>
          </a:prstGeom>
        </p:spPr>
      </p:pic>
      <p:sp>
        <p:nvSpPr>
          <p:cNvPr id="14" name="TextBox 13"/>
          <p:cNvSpPr txBox="1"/>
          <p:nvPr/>
        </p:nvSpPr>
        <p:spPr>
          <a:xfrm>
            <a:off x="3969657" y="4920343"/>
            <a:ext cx="5638800" cy="646331"/>
          </a:xfrm>
          <a:prstGeom prst="rect">
            <a:avLst/>
          </a:prstGeom>
          <a:noFill/>
        </p:spPr>
        <p:txBody>
          <a:bodyPr wrap="square" rtlCol="0">
            <a:spAutoFit/>
          </a:bodyPr>
          <a:lstStyle/>
          <a:p>
            <a:r>
              <a:rPr lang="en-US" dirty="0" smtClean="0"/>
              <a:t>Manual testing will not be cost effective for high volume testing</a:t>
            </a:r>
            <a:endParaRPr lang="en-US" dirty="0"/>
          </a:p>
        </p:txBody>
      </p:sp>
    </p:spTree>
    <p:extLst>
      <p:ext uri="{BB962C8B-B14F-4D97-AF65-F5344CB8AC3E}">
        <p14:creationId xmlns:p14="http://schemas.microsoft.com/office/powerpoint/2010/main" val="124137501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100000">
              <a:schemeClr val="bg1"/>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8" name="Rectangle 4"/>
          <p:cNvSpPr>
            <a:spLocks noChangeArrowheads="1"/>
          </p:cNvSpPr>
          <p:nvPr/>
        </p:nvSpPr>
        <p:spPr bwMode="auto">
          <a:xfrm>
            <a:off x="0" y="-276999"/>
            <a:ext cx="6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hlinkClick r:id="rId2"/>
              </a:rPr>
              <a:t/>
            </a:r>
            <a:br>
              <a:rPr kumimoji="0" lang="en-US" altLang="en-US" sz="1800" b="0" i="0" u="none" strike="noStrike" cap="none" normalizeH="0" baseline="0" dirty="0" smtClean="0">
                <a:ln>
                  <a:noFill/>
                </a:ln>
                <a:solidFill>
                  <a:schemeClr val="tx1"/>
                </a:solidFill>
                <a:effectLst/>
                <a:latin typeface="Arial" panose="020B0604020202020204" pitchFamily="34" charset="0"/>
                <a:hlinkClick r:id="rId2"/>
              </a:rPr>
            </a:b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8"/>
          <p:cNvSpPr/>
          <p:nvPr/>
        </p:nvSpPr>
        <p:spPr>
          <a:xfrm>
            <a:off x="868218" y="667618"/>
            <a:ext cx="6096000" cy="523220"/>
          </a:xfrm>
          <a:prstGeom prst="rect">
            <a:avLst/>
          </a:prstGeom>
        </p:spPr>
        <p:txBody>
          <a:bodyPr>
            <a:spAutoFit/>
          </a:bodyPr>
          <a:lstStyle/>
          <a:p>
            <a:pPr lvl="0" defTabSz="914400" eaLnBrk="0" fontAlgn="base" hangingPunct="0">
              <a:spcBef>
                <a:spcPct val="0"/>
              </a:spcBef>
              <a:spcAft>
                <a:spcPct val="0"/>
              </a:spcAft>
            </a:pPr>
            <a:r>
              <a:rPr lang="en-US" altLang="en-US" sz="2800" b="1" dirty="0" smtClean="0">
                <a:latin typeface="Arial" panose="020B0604020202020204" pitchFamily="34" charset="0"/>
              </a:rPr>
              <a:t>8. Performance Testing</a:t>
            </a:r>
          </a:p>
        </p:txBody>
      </p:sp>
      <p:pic>
        <p:nvPicPr>
          <p:cNvPr id="11" name="Picture 10"/>
          <p:cNvPicPr>
            <a:picLocks noChangeAspect="1"/>
          </p:cNvPicPr>
          <p:nvPr/>
        </p:nvPicPr>
        <p:blipFill>
          <a:blip r:embed="rId3"/>
          <a:stretch>
            <a:fillRect/>
          </a:stretch>
        </p:blipFill>
        <p:spPr>
          <a:xfrm>
            <a:off x="-56641" y="1428522"/>
            <a:ext cx="2524295" cy="2581503"/>
          </a:xfrm>
          <a:prstGeom prst="rect">
            <a:avLst/>
          </a:prstGeom>
          <a:effectLst>
            <a:glow rad="127000">
              <a:schemeClr val="accent1">
                <a:alpha val="0"/>
              </a:schemeClr>
            </a:glow>
          </a:effectLst>
        </p:spPr>
      </p:pic>
      <p:sp>
        <p:nvSpPr>
          <p:cNvPr id="12" name="TextBox 11"/>
          <p:cNvSpPr txBox="1"/>
          <p:nvPr/>
        </p:nvSpPr>
        <p:spPr>
          <a:xfrm>
            <a:off x="2554514" y="1647383"/>
            <a:ext cx="6400800" cy="646331"/>
          </a:xfrm>
          <a:prstGeom prst="rect">
            <a:avLst/>
          </a:prstGeom>
          <a:noFill/>
        </p:spPr>
        <p:txBody>
          <a:bodyPr wrap="square" rtlCol="0">
            <a:spAutoFit/>
          </a:bodyPr>
          <a:lstStyle/>
          <a:p>
            <a:r>
              <a:rPr lang="en-US" dirty="0" smtClean="0"/>
              <a:t>Automated testing allows tests like load testing, stress testing etc. which can be done very easily</a:t>
            </a:r>
            <a:endParaRPr lang="en-US" dirty="0"/>
          </a:p>
        </p:txBody>
      </p:sp>
      <p:pic>
        <p:nvPicPr>
          <p:cNvPr id="13" name="Picture 12"/>
          <p:cNvPicPr>
            <a:picLocks noChangeAspect="1"/>
          </p:cNvPicPr>
          <p:nvPr/>
        </p:nvPicPr>
        <p:blipFill>
          <a:blip r:embed="rId4"/>
          <a:stretch>
            <a:fillRect/>
          </a:stretch>
        </p:blipFill>
        <p:spPr>
          <a:xfrm>
            <a:off x="9782176" y="3351768"/>
            <a:ext cx="1851024" cy="2959971"/>
          </a:xfrm>
          <a:prstGeom prst="rect">
            <a:avLst/>
          </a:prstGeom>
        </p:spPr>
      </p:pic>
      <p:sp>
        <p:nvSpPr>
          <p:cNvPr id="14" name="TextBox 13"/>
          <p:cNvSpPr txBox="1"/>
          <p:nvPr/>
        </p:nvSpPr>
        <p:spPr>
          <a:xfrm>
            <a:off x="3969657" y="4920343"/>
            <a:ext cx="5638800" cy="646331"/>
          </a:xfrm>
          <a:prstGeom prst="rect">
            <a:avLst/>
          </a:prstGeom>
          <a:noFill/>
        </p:spPr>
        <p:txBody>
          <a:bodyPr wrap="square" rtlCol="0">
            <a:spAutoFit/>
          </a:bodyPr>
          <a:lstStyle/>
          <a:p>
            <a:r>
              <a:rPr lang="en-US" dirty="0" smtClean="0"/>
              <a:t>Manual testing does not offer feasibility when performance testing is a main point of concern</a:t>
            </a:r>
            <a:endParaRPr lang="en-US" dirty="0"/>
          </a:p>
        </p:txBody>
      </p:sp>
    </p:spTree>
    <p:extLst>
      <p:ext uri="{BB962C8B-B14F-4D97-AF65-F5344CB8AC3E}">
        <p14:creationId xmlns:p14="http://schemas.microsoft.com/office/powerpoint/2010/main" val="35610488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100000">
              <a:schemeClr val="bg1"/>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8" name="Rectangle 4"/>
          <p:cNvSpPr>
            <a:spLocks noChangeArrowheads="1"/>
          </p:cNvSpPr>
          <p:nvPr/>
        </p:nvSpPr>
        <p:spPr bwMode="auto">
          <a:xfrm>
            <a:off x="0" y="-276999"/>
            <a:ext cx="6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hlinkClick r:id="rId2"/>
              </a:rPr>
              <a:t/>
            </a:r>
            <a:br>
              <a:rPr kumimoji="0" lang="en-US" altLang="en-US" sz="1800" b="0" i="0" u="none" strike="noStrike" cap="none" normalizeH="0" baseline="0" dirty="0" smtClean="0">
                <a:ln>
                  <a:noFill/>
                </a:ln>
                <a:solidFill>
                  <a:schemeClr val="tx1"/>
                </a:solidFill>
                <a:effectLst/>
                <a:latin typeface="Arial" panose="020B0604020202020204" pitchFamily="34" charset="0"/>
                <a:hlinkClick r:id="rId2"/>
              </a:rPr>
            </a:b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8"/>
          <p:cNvSpPr/>
          <p:nvPr/>
        </p:nvSpPr>
        <p:spPr>
          <a:xfrm>
            <a:off x="868218" y="667618"/>
            <a:ext cx="6096000" cy="523220"/>
          </a:xfrm>
          <a:prstGeom prst="rect">
            <a:avLst/>
          </a:prstGeom>
        </p:spPr>
        <p:txBody>
          <a:bodyPr>
            <a:spAutoFit/>
          </a:bodyPr>
          <a:lstStyle/>
          <a:p>
            <a:pPr lvl="0" defTabSz="914400" eaLnBrk="0" fontAlgn="base" hangingPunct="0">
              <a:spcBef>
                <a:spcPct val="0"/>
              </a:spcBef>
              <a:spcAft>
                <a:spcPct val="0"/>
              </a:spcAft>
            </a:pPr>
            <a:r>
              <a:rPr lang="en-US" altLang="en-US" sz="2800" b="1" dirty="0" smtClean="0">
                <a:latin typeface="Arial" panose="020B0604020202020204" pitchFamily="34" charset="0"/>
              </a:rPr>
              <a:t>9. Programming Knowledge</a:t>
            </a:r>
          </a:p>
        </p:txBody>
      </p:sp>
      <p:pic>
        <p:nvPicPr>
          <p:cNvPr id="11" name="Picture 10"/>
          <p:cNvPicPr>
            <a:picLocks noChangeAspect="1"/>
          </p:cNvPicPr>
          <p:nvPr/>
        </p:nvPicPr>
        <p:blipFill>
          <a:blip r:embed="rId3"/>
          <a:stretch>
            <a:fillRect/>
          </a:stretch>
        </p:blipFill>
        <p:spPr>
          <a:xfrm>
            <a:off x="-56641" y="1428522"/>
            <a:ext cx="2524295" cy="2581503"/>
          </a:xfrm>
          <a:prstGeom prst="rect">
            <a:avLst/>
          </a:prstGeom>
          <a:effectLst>
            <a:glow rad="127000">
              <a:schemeClr val="accent1">
                <a:alpha val="0"/>
              </a:schemeClr>
            </a:glow>
          </a:effectLst>
        </p:spPr>
      </p:pic>
      <p:sp>
        <p:nvSpPr>
          <p:cNvPr id="12" name="TextBox 11"/>
          <p:cNvSpPr txBox="1"/>
          <p:nvPr/>
        </p:nvSpPr>
        <p:spPr>
          <a:xfrm>
            <a:off x="2554514" y="1647383"/>
            <a:ext cx="6400800" cy="646331"/>
          </a:xfrm>
          <a:prstGeom prst="rect">
            <a:avLst/>
          </a:prstGeom>
          <a:noFill/>
        </p:spPr>
        <p:txBody>
          <a:bodyPr wrap="square" rtlCol="0">
            <a:spAutoFit/>
          </a:bodyPr>
          <a:lstStyle/>
          <a:p>
            <a:r>
              <a:rPr lang="en-US" dirty="0" smtClean="0"/>
              <a:t>Automated testing involves a lot of programming, hence, it is must</a:t>
            </a:r>
            <a:endParaRPr lang="en-US" dirty="0"/>
          </a:p>
        </p:txBody>
      </p:sp>
      <p:pic>
        <p:nvPicPr>
          <p:cNvPr id="13" name="Picture 12"/>
          <p:cNvPicPr>
            <a:picLocks noChangeAspect="1"/>
          </p:cNvPicPr>
          <p:nvPr/>
        </p:nvPicPr>
        <p:blipFill>
          <a:blip r:embed="rId4"/>
          <a:stretch>
            <a:fillRect/>
          </a:stretch>
        </p:blipFill>
        <p:spPr>
          <a:xfrm>
            <a:off x="9782176" y="3351768"/>
            <a:ext cx="1851024" cy="2959971"/>
          </a:xfrm>
          <a:prstGeom prst="rect">
            <a:avLst/>
          </a:prstGeom>
        </p:spPr>
      </p:pic>
      <p:sp>
        <p:nvSpPr>
          <p:cNvPr id="14" name="TextBox 13"/>
          <p:cNvSpPr txBox="1"/>
          <p:nvPr/>
        </p:nvSpPr>
        <p:spPr>
          <a:xfrm>
            <a:off x="3969657" y="4920343"/>
            <a:ext cx="5638800" cy="646331"/>
          </a:xfrm>
          <a:prstGeom prst="rect">
            <a:avLst/>
          </a:prstGeom>
          <a:noFill/>
        </p:spPr>
        <p:txBody>
          <a:bodyPr wrap="square" rtlCol="0">
            <a:spAutoFit/>
          </a:bodyPr>
          <a:lstStyle/>
          <a:p>
            <a:r>
              <a:rPr lang="en-US" dirty="0" smtClean="0"/>
              <a:t>Manual testing does not call for any requirement for programming knowledge</a:t>
            </a:r>
            <a:endParaRPr lang="en-US" dirty="0"/>
          </a:p>
        </p:txBody>
      </p:sp>
    </p:spTree>
    <p:extLst>
      <p:ext uri="{BB962C8B-B14F-4D97-AF65-F5344CB8AC3E}">
        <p14:creationId xmlns:p14="http://schemas.microsoft.com/office/powerpoint/2010/main" val="167579945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100000">
              <a:schemeClr val="bg1"/>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8" name="Rectangle 4"/>
          <p:cNvSpPr>
            <a:spLocks noChangeArrowheads="1"/>
          </p:cNvSpPr>
          <p:nvPr/>
        </p:nvSpPr>
        <p:spPr bwMode="auto">
          <a:xfrm>
            <a:off x="0" y="-276999"/>
            <a:ext cx="6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hlinkClick r:id="rId2"/>
              </a:rPr>
              <a:t/>
            </a:r>
            <a:br>
              <a:rPr kumimoji="0" lang="en-US" altLang="en-US" sz="1800" b="0" i="0" u="none" strike="noStrike" cap="none" normalizeH="0" baseline="0" dirty="0" smtClean="0">
                <a:ln>
                  <a:noFill/>
                </a:ln>
                <a:solidFill>
                  <a:schemeClr val="tx1"/>
                </a:solidFill>
                <a:effectLst/>
                <a:latin typeface="Arial" panose="020B0604020202020204" pitchFamily="34" charset="0"/>
                <a:hlinkClick r:id="rId2"/>
              </a:rPr>
            </a:b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8"/>
          <p:cNvSpPr/>
          <p:nvPr/>
        </p:nvSpPr>
        <p:spPr>
          <a:xfrm>
            <a:off x="868218" y="667618"/>
            <a:ext cx="6096000" cy="523220"/>
          </a:xfrm>
          <a:prstGeom prst="rect">
            <a:avLst/>
          </a:prstGeom>
        </p:spPr>
        <p:txBody>
          <a:bodyPr>
            <a:spAutoFit/>
          </a:bodyPr>
          <a:lstStyle/>
          <a:p>
            <a:pPr lvl="0" defTabSz="914400" eaLnBrk="0" fontAlgn="base" hangingPunct="0">
              <a:spcBef>
                <a:spcPct val="0"/>
              </a:spcBef>
              <a:spcAft>
                <a:spcPct val="0"/>
              </a:spcAft>
            </a:pPr>
            <a:r>
              <a:rPr lang="en-US" altLang="en-US" sz="2800" b="1" dirty="0" smtClean="0">
                <a:latin typeface="Arial" panose="020B0604020202020204" pitchFamily="34" charset="0"/>
              </a:rPr>
              <a:t>10. Use in DevOps</a:t>
            </a:r>
          </a:p>
        </p:txBody>
      </p:sp>
      <p:pic>
        <p:nvPicPr>
          <p:cNvPr id="11" name="Picture 10"/>
          <p:cNvPicPr>
            <a:picLocks noChangeAspect="1"/>
          </p:cNvPicPr>
          <p:nvPr/>
        </p:nvPicPr>
        <p:blipFill>
          <a:blip r:embed="rId3"/>
          <a:stretch>
            <a:fillRect/>
          </a:stretch>
        </p:blipFill>
        <p:spPr>
          <a:xfrm>
            <a:off x="-56641" y="1428522"/>
            <a:ext cx="2524295" cy="2581503"/>
          </a:xfrm>
          <a:prstGeom prst="rect">
            <a:avLst/>
          </a:prstGeom>
          <a:effectLst>
            <a:glow rad="127000">
              <a:schemeClr val="accent1">
                <a:alpha val="0"/>
              </a:schemeClr>
            </a:glow>
          </a:effectLst>
        </p:spPr>
      </p:pic>
      <p:sp>
        <p:nvSpPr>
          <p:cNvPr id="12" name="TextBox 11"/>
          <p:cNvSpPr txBox="1"/>
          <p:nvPr/>
        </p:nvSpPr>
        <p:spPr>
          <a:xfrm>
            <a:off x="2554514" y="1647383"/>
            <a:ext cx="6400800" cy="646331"/>
          </a:xfrm>
          <a:prstGeom prst="rect">
            <a:avLst/>
          </a:prstGeom>
          <a:noFill/>
        </p:spPr>
        <p:txBody>
          <a:bodyPr wrap="square" rtlCol="0">
            <a:spAutoFit/>
          </a:bodyPr>
          <a:lstStyle/>
          <a:p>
            <a:r>
              <a:rPr lang="en-US" dirty="0" smtClean="0"/>
              <a:t>Automated testing helps in build verification and testing which are integral to the DevOps life cycle</a:t>
            </a:r>
            <a:endParaRPr lang="en-US" dirty="0"/>
          </a:p>
        </p:txBody>
      </p:sp>
      <p:pic>
        <p:nvPicPr>
          <p:cNvPr id="13" name="Picture 12"/>
          <p:cNvPicPr>
            <a:picLocks noChangeAspect="1"/>
          </p:cNvPicPr>
          <p:nvPr/>
        </p:nvPicPr>
        <p:blipFill>
          <a:blip r:embed="rId4"/>
          <a:stretch>
            <a:fillRect/>
          </a:stretch>
        </p:blipFill>
        <p:spPr>
          <a:xfrm>
            <a:off x="9782176" y="3351768"/>
            <a:ext cx="1851024" cy="2959971"/>
          </a:xfrm>
          <a:prstGeom prst="rect">
            <a:avLst/>
          </a:prstGeom>
        </p:spPr>
      </p:pic>
      <p:sp>
        <p:nvSpPr>
          <p:cNvPr id="14" name="TextBox 13"/>
          <p:cNvSpPr txBox="1"/>
          <p:nvPr/>
        </p:nvSpPr>
        <p:spPr>
          <a:xfrm>
            <a:off x="3969657" y="4920343"/>
            <a:ext cx="5638800" cy="923330"/>
          </a:xfrm>
          <a:prstGeom prst="rect">
            <a:avLst/>
          </a:prstGeom>
          <a:noFill/>
        </p:spPr>
        <p:txBody>
          <a:bodyPr wrap="square" rtlCol="0">
            <a:spAutoFit/>
          </a:bodyPr>
          <a:lstStyle/>
          <a:p>
            <a:r>
              <a:rPr lang="en-US" dirty="0" smtClean="0"/>
              <a:t>Manual testing defeats the automated build principle of DevOps entirely and lowers efficiency</a:t>
            </a:r>
            <a:endParaRPr lang="en-US" dirty="0"/>
          </a:p>
        </p:txBody>
      </p:sp>
    </p:spTree>
    <p:extLst>
      <p:ext uri="{BB962C8B-B14F-4D97-AF65-F5344CB8AC3E}">
        <p14:creationId xmlns:p14="http://schemas.microsoft.com/office/powerpoint/2010/main" val="316568029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100000">
              <a:schemeClr val="bg1"/>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8" name="Rectangle 4"/>
          <p:cNvSpPr>
            <a:spLocks noChangeArrowheads="1"/>
          </p:cNvSpPr>
          <p:nvPr/>
        </p:nvSpPr>
        <p:spPr bwMode="auto">
          <a:xfrm>
            <a:off x="0" y="-276999"/>
            <a:ext cx="6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hlinkClick r:id="rId2"/>
              </a:rPr>
              <a:t/>
            </a:r>
            <a:br>
              <a:rPr kumimoji="0" lang="en-US" altLang="en-US" sz="1800" b="0" i="0" u="none" strike="noStrike" cap="none" normalizeH="0" baseline="0" dirty="0" smtClean="0">
                <a:ln>
                  <a:noFill/>
                </a:ln>
                <a:solidFill>
                  <a:schemeClr val="tx1"/>
                </a:solidFill>
                <a:effectLst/>
                <a:latin typeface="Arial" panose="020B0604020202020204" pitchFamily="34" charset="0"/>
                <a:hlinkClick r:id="rId2"/>
              </a:rPr>
            </a:b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8"/>
          <p:cNvSpPr/>
          <p:nvPr/>
        </p:nvSpPr>
        <p:spPr>
          <a:xfrm>
            <a:off x="868218" y="667618"/>
            <a:ext cx="6096000" cy="523220"/>
          </a:xfrm>
          <a:prstGeom prst="rect">
            <a:avLst/>
          </a:prstGeom>
        </p:spPr>
        <p:txBody>
          <a:bodyPr>
            <a:spAutoFit/>
          </a:bodyPr>
          <a:lstStyle/>
          <a:p>
            <a:pPr lvl="0" defTabSz="914400" eaLnBrk="0" fontAlgn="base" hangingPunct="0">
              <a:spcBef>
                <a:spcPct val="0"/>
              </a:spcBef>
              <a:spcAft>
                <a:spcPct val="0"/>
              </a:spcAft>
            </a:pPr>
            <a:r>
              <a:rPr lang="en-US" altLang="en-US" sz="2800" b="1" dirty="0" smtClean="0">
                <a:latin typeface="Arial" panose="020B0604020202020204" pitchFamily="34" charset="0"/>
              </a:rPr>
              <a:t>11. Ideal Use Case</a:t>
            </a:r>
          </a:p>
        </p:txBody>
      </p:sp>
      <p:pic>
        <p:nvPicPr>
          <p:cNvPr id="11" name="Picture 10"/>
          <p:cNvPicPr>
            <a:picLocks noChangeAspect="1"/>
          </p:cNvPicPr>
          <p:nvPr/>
        </p:nvPicPr>
        <p:blipFill>
          <a:blip r:embed="rId3"/>
          <a:stretch>
            <a:fillRect/>
          </a:stretch>
        </p:blipFill>
        <p:spPr>
          <a:xfrm>
            <a:off x="-56641" y="1428522"/>
            <a:ext cx="2524295" cy="2581503"/>
          </a:xfrm>
          <a:prstGeom prst="rect">
            <a:avLst/>
          </a:prstGeom>
          <a:effectLst>
            <a:glow rad="127000">
              <a:schemeClr val="accent1">
                <a:alpha val="0"/>
              </a:schemeClr>
            </a:glow>
          </a:effectLst>
        </p:spPr>
      </p:pic>
      <p:sp>
        <p:nvSpPr>
          <p:cNvPr id="12" name="TextBox 11"/>
          <p:cNvSpPr txBox="1"/>
          <p:nvPr/>
        </p:nvSpPr>
        <p:spPr>
          <a:xfrm>
            <a:off x="2554514" y="1647383"/>
            <a:ext cx="6400800" cy="923330"/>
          </a:xfrm>
          <a:prstGeom prst="rect">
            <a:avLst/>
          </a:prstGeom>
          <a:noFill/>
        </p:spPr>
        <p:txBody>
          <a:bodyPr wrap="square" rtlCol="0">
            <a:spAutoFit/>
          </a:bodyPr>
          <a:lstStyle/>
          <a:p>
            <a:r>
              <a:rPr lang="en-US" dirty="0" smtClean="0"/>
              <a:t>Automated testing is very well suited for regression testing, load testing, highly repeatable functional test cases and more</a:t>
            </a:r>
            <a:endParaRPr lang="en-US" dirty="0"/>
          </a:p>
        </p:txBody>
      </p:sp>
      <p:pic>
        <p:nvPicPr>
          <p:cNvPr id="13" name="Picture 12"/>
          <p:cNvPicPr>
            <a:picLocks noChangeAspect="1"/>
          </p:cNvPicPr>
          <p:nvPr/>
        </p:nvPicPr>
        <p:blipFill>
          <a:blip r:embed="rId4"/>
          <a:stretch>
            <a:fillRect/>
          </a:stretch>
        </p:blipFill>
        <p:spPr>
          <a:xfrm>
            <a:off x="9782176" y="3351768"/>
            <a:ext cx="1851024" cy="2959971"/>
          </a:xfrm>
          <a:prstGeom prst="rect">
            <a:avLst/>
          </a:prstGeom>
        </p:spPr>
      </p:pic>
      <p:sp>
        <p:nvSpPr>
          <p:cNvPr id="14" name="TextBox 13"/>
          <p:cNvSpPr txBox="1"/>
          <p:nvPr/>
        </p:nvSpPr>
        <p:spPr>
          <a:xfrm>
            <a:off x="3969657" y="4920343"/>
            <a:ext cx="5638800" cy="923330"/>
          </a:xfrm>
          <a:prstGeom prst="rect">
            <a:avLst/>
          </a:prstGeom>
          <a:noFill/>
        </p:spPr>
        <p:txBody>
          <a:bodyPr wrap="square" rtlCol="0">
            <a:spAutoFit/>
          </a:bodyPr>
          <a:lstStyle/>
          <a:p>
            <a:r>
              <a:rPr lang="en-US" dirty="0" smtClean="0"/>
              <a:t>Manual testing is suitable for </a:t>
            </a:r>
            <a:r>
              <a:rPr lang="en-US" dirty="0" err="1" smtClean="0"/>
              <a:t>AdHoc</a:t>
            </a:r>
            <a:r>
              <a:rPr lang="en-US" dirty="0" smtClean="0"/>
              <a:t> testing, exploratory testing and cases where there are frequent changes</a:t>
            </a:r>
            <a:endParaRPr lang="en-US" dirty="0"/>
          </a:p>
        </p:txBody>
      </p:sp>
    </p:spTree>
    <p:extLst>
      <p:ext uri="{BB962C8B-B14F-4D97-AF65-F5344CB8AC3E}">
        <p14:creationId xmlns:p14="http://schemas.microsoft.com/office/powerpoint/2010/main" val="98057027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100000">
              <a:schemeClr val="bg1"/>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8" name="Rectangle 4"/>
          <p:cNvSpPr>
            <a:spLocks noChangeArrowheads="1"/>
          </p:cNvSpPr>
          <p:nvPr/>
        </p:nvSpPr>
        <p:spPr bwMode="auto">
          <a:xfrm>
            <a:off x="0" y="-276999"/>
            <a:ext cx="6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hlinkClick r:id="rId2"/>
              </a:rPr>
              <a:t/>
            </a:r>
            <a:br>
              <a:rPr kumimoji="0" lang="en-US" altLang="en-US" sz="1800" b="0" i="0" u="none" strike="noStrike" cap="none" normalizeH="0" baseline="0" dirty="0" smtClean="0">
                <a:ln>
                  <a:noFill/>
                </a:ln>
                <a:solidFill>
                  <a:schemeClr val="tx1"/>
                </a:solidFill>
                <a:effectLst/>
                <a:latin typeface="Arial" panose="020B0604020202020204" pitchFamily="34" charset="0"/>
                <a:hlinkClick r:id="rId2"/>
              </a:rPr>
            </a:b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8"/>
          <p:cNvSpPr/>
          <p:nvPr/>
        </p:nvSpPr>
        <p:spPr>
          <a:xfrm>
            <a:off x="868218" y="667618"/>
            <a:ext cx="6096000" cy="523220"/>
          </a:xfrm>
          <a:prstGeom prst="rect">
            <a:avLst/>
          </a:prstGeom>
        </p:spPr>
        <p:txBody>
          <a:bodyPr>
            <a:spAutoFit/>
          </a:bodyPr>
          <a:lstStyle/>
          <a:p>
            <a:pPr lvl="0" defTabSz="914400" eaLnBrk="0" fontAlgn="base" hangingPunct="0">
              <a:spcBef>
                <a:spcPct val="0"/>
              </a:spcBef>
              <a:spcAft>
                <a:spcPct val="0"/>
              </a:spcAft>
            </a:pPr>
            <a:r>
              <a:rPr lang="en-US" altLang="en-US" sz="2800" b="1" dirty="0" smtClean="0">
                <a:latin typeface="Arial" panose="020B0604020202020204" pitchFamily="34" charset="0"/>
              </a:rPr>
              <a:t>12. Summary</a:t>
            </a:r>
          </a:p>
        </p:txBody>
      </p:sp>
      <p:pic>
        <p:nvPicPr>
          <p:cNvPr id="11" name="Picture 10"/>
          <p:cNvPicPr>
            <a:picLocks noChangeAspect="1"/>
          </p:cNvPicPr>
          <p:nvPr/>
        </p:nvPicPr>
        <p:blipFill>
          <a:blip r:embed="rId3"/>
          <a:stretch>
            <a:fillRect/>
          </a:stretch>
        </p:blipFill>
        <p:spPr>
          <a:xfrm>
            <a:off x="-56641" y="1428522"/>
            <a:ext cx="2524295" cy="2581503"/>
          </a:xfrm>
          <a:prstGeom prst="rect">
            <a:avLst/>
          </a:prstGeom>
          <a:effectLst>
            <a:glow rad="127000">
              <a:schemeClr val="accent1">
                <a:alpha val="0"/>
              </a:schemeClr>
            </a:glow>
          </a:effectLst>
        </p:spPr>
      </p:pic>
      <p:sp>
        <p:nvSpPr>
          <p:cNvPr id="12" name="TextBox 11"/>
          <p:cNvSpPr txBox="1"/>
          <p:nvPr/>
        </p:nvSpPr>
        <p:spPr>
          <a:xfrm>
            <a:off x="2554514" y="1647383"/>
            <a:ext cx="6400800" cy="646331"/>
          </a:xfrm>
          <a:prstGeom prst="rect">
            <a:avLst/>
          </a:prstGeom>
          <a:noFill/>
        </p:spPr>
        <p:txBody>
          <a:bodyPr wrap="square" rtlCol="0">
            <a:spAutoFit/>
          </a:bodyPr>
          <a:lstStyle/>
          <a:p>
            <a:r>
              <a:rPr lang="en-US" dirty="0" smtClean="0"/>
              <a:t>Automated testing brings about efficiency numbers to the table unlike any other</a:t>
            </a:r>
            <a:endParaRPr lang="en-US" dirty="0"/>
          </a:p>
        </p:txBody>
      </p:sp>
      <p:pic>
        <p:nvPicPr>
          <p:cNvPr id="13" name="Picture 12"/>
          <p:cNvPicPr>
            <a:picLocks noChangeAspect="1"/>
          </p:cNvPicPr>
          <p:nvPr/>
        </p:nvPicPr>
        <p:blipFill>
          <a:blip r:embed="rId4"/>
          <a:stretch>
            <a:fillRect/>
          </a:stretch>
        </p:blipFill>
        <p:spPr>
          <a:xfrm>
            <a:off x="9782176" y="3351768"/>
            <a:ext cx="1851024" cy="2959971"/>
          </a:xfrm>
          <a:prstGeom prst="rect">
            <a:avLst/>
          </a:prstGeom>
        </p:spPr>
      </p:pic>
      <p:sp>
        <p:nvSpPr>
          <p:cNvPr id="14" name="TextBox 13"/>
          <p:cNvSpPr txBox="1"/>
          <p:nvPr/>
        </p:nvSpPr>
        <p:spPr>
          <a:xfrm>
            <a:off x="3969657" y="4920343"/>
            <a:ext cx="5638800" cy="923330"/>
          </a:xfrm>
          <a:prstGeom prst="rect">
            <a:avLst/>
          </a:prstGeom>
          <a:noFill/>
        </p:spPr>
        <p:txBody>
          <a:bodyPr wrap="square" rtlCol="0">
            <a:spAutoFit/>
          </a:bodyPr>
          <a:lstStyle/>
          <a:p>
            <a:r>
              <a:rPr lang="en-US" dirty="0" smtClean="0"/>
              <a:t>Manual testing is one of those legacy systems which are still needed across a spectrum of cases</a:t>
            </a:r>
            <a:endParaRPr lang="en-US" dirty="0"/>
          </a:p>
        </p:txBody>
      </p:sp>
    </p:spTree>
    <p:extLst>
      <p:ext uri="{BB962C8B-B14F-4D97-AF65-F5344CB8AC3E}">
        <p14:creationId xmlns:p14="http://schemas.microsoft.com/office/powerpoint/2010/main" val="236218957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06906" y="423182"/>
            <a:ext cx="11544676" cy="5086350"/>
          </a:xfrm>
          <a:prstGeom prst="rect">
            <a:avLst/>
          </a:prstGeom>
          <a:effectLst>
            <a:outerShdw blurRad="50800" dist="50800" dir="5400000" algn="ctr" rotWithShape="0">
              <a:srgbClr val="000000">
                <a:alpha val="0"/>
              </a:srgbClr>
            </a:outerShdw>
          </a:effectLst>
        </p:spPr>
      </p:pic>
    </p:spTree>
    <p:extLst>
      <p:ext uri="{BB962C8B-B14F-4D97-AF65-F5344CB8AC3E}">
        <p14:creationId xmlns:p14="http://schemas.microsoft.com/office/powerpoint/2010/main" val="82025115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209" y="0"/>
            <a:ext cx="9861176" cy="6858000"/>
          </a:xfrm>
          <a:prstGeom prst="rect">
            <a:avLst/>
          </a:prstGeom>
        </p:spPr>
      </p:pic>
    </p:spTree>
    <p:extLst>
      <p:ext uri="{BB962C8B-B14F-4D97-AF65-F5344CB8AC3E}">
        <p14:creationId xmlns:p14="http://schemas.microsoft.com/office/powerpoint/2010/main" val="233761823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100000">
              <a:schemeClr val="bg1"/>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8" name="Rectangle 4"/>
          <p:cNvSpPr>
            <a:spLocks noChangeArrowheads="1"/>
          </p:cNvSpPr>
          <p:nvPr/>
        </p:nvSpPr>
        <p:spPr bwMode="auto">
          <a:xfrm>
            <a:off x="0" y="-276999"/>
            <a:ext cx="6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hlinkClick r:id="rId2"/>
              </a:rPr>
              <a:t/>
            </a:r>
            <a:br>
              <a:rPr kumimoji="0" lang="en-US" altLang="en-US" sz="1800" b="0" i="0" u="none" strike="noStrike" cap="none" normalizeH="0" baseline="0" dirty="0" smtClean="0">
                <a:ln>
                  <a:noFill/>
                </a:ln>
                <a:solidFill>
                  <a:schemeClr val="tx1"/>
                </a:solidFill>
                <a:effectLst/>
                <a:latin typeface="Arial" panose="020B0604020202020204" pitchFamily="34" charset="0"/>
                <a:hlinkClick r:id="rId2"/>
              </a:rPr>
            </a:b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8"/>
          <p:cNvSpPr/>
          <p:nvPr/>
        </p:nvSpPr>
        <p:spPr>
          <a:xfrm>
            <a:off x="868218" y="724374"/>
            <a:ext cx="6096000" cy="523220"/>
          </a:xfrm>
          <a:prstGeom prst="rect">
            <a:avLst/>
          </a:prstGeom>
        </p:spPr>
        <p:txBody>
          <a:bodyPr>
            <a:spAutoFit/>
          </a:bodyPr>
          <a:lstStyle/>
          <a:p>
            <a:pPr lvl="0" defTabSz="914400" eaLnBrk="0" fontAlgn="base" hangingPunct="0">
              <a:spcBef>
                <a:spcPct val="0"/>
              </a:spcBef>
              <a:spcAft>
                <a:spcPct val="0"/>
              </a:spcAft>
            </a:pPr>
            <a:r>
              <a:rPr lang="en-US" altLang="en-US" sz="2800" b="1" dirty="0" smtClean="0">
                <a:latin typeface="Arial" panose="020B0604020202020204" pitchFamily="34" charset="0"/>
              </a:rPr>
              <a:t>What is Programming?</a:t>
            </a:r>
          </a:p>
        </p:txBody>
      </p:sp>
      <p:sp>
        <p:nvSpPr>
          <p:cNvPr id="12" name="TextBox 11"/>
          <p:cNvSpPr txBox="1"/>
          <p:nvPr/>
        </p:nvSpPr>
        <p:spPr>
          <a:xfrm>
            <a:off x="762951" y="1363603"/>
            <a:ext cx="6400800" cy="923330"/>
          </a:xfrm>
          <a:prstGeom prst="rect">
            <a:avLst/>
          </a:prstGeom>
          <a:noFill/>
        </p:spPr>
        <p:txBody>
          <a:bodyPr wrap="square" rtlCol="0">
            <a:spAutoFit/>
          </a:bodyPr>
          <a:lstStyle/>
          <a:p>
            <a:r>
              <a:rPr lang="en-US" dirty="0"/>
              <a:t>Just like we use Hindi or English to communicate with each other, we use a Programming language to communicate with the </a:t>
            </a:r>
            <a:r>
              <a:rPr lang="en-US" dirty="0" smtClean="0"/>
              <a:t>computer</a:t>
            </a:r>
            <a:endParaRPr lang="en-US" dirty="0"/>
          </a:p>
        </p:txBody>
      </p:sp>
      <p:pic>
        <p:nvPicPr>
          <p:cNvPr id="13" name="Picture 12"/>
          <p:cNvPicPr>
            <a:picLocks noChangeAspect="1"/>
          </p:cNvPicPr>
          <p:nvPr/>
        </p:nvPicPr>
        <p:blipFill>
          <a:blip r:embed="rId3"/>
          <a:stretch>
            <a:fillRect/>
          </a:stretch>
        </p:blipFill>
        <p:spPr>
          <a:xfrm>
            <a:off x="10280366" y="3793202"/>
            <a:ext cx="1851024" cy="2959971"/>
          </a:xfrm>
          <a:prstGeom prst="rect">
            <a:avLst/>
          </a:prstGeom>
        </p:spPr>
      </p:pic>
      <p:sp>
        <p:nvSpPr>
          <p:cNvPr id="10" name="Rectangle 9"/>
          <p:cNvSpPr/>
          <p:nvPr/>
        </p:nvSpPr>
        <p:spPr>
          <a:xfrm>
            <a:off x="881885" y="2528997"/>
            <a:ext cx="6096000" cy="523220"/>
          </a:xfrm>
          <a:prstGeom prst="rect">
            <a:avLst/>
          </a:prstGeom>
        </p:spPr>
        <p:txBody>
          <a:bodyPr>
            <a:spAutoFit/>
          </a:bodyPr>
          <a:lstStyle/>
          <a:p>
            <a:pPr lvl="0" defTabSz="914400" eaLnBrk="0" fontAlgn="base" hangingPunct="0">
              <a:spcBef>
                <a:spcPct val="0"/>
              </a:spcBef>
              <a:spcAft>
                <a:spcPct val="0"/>
              </a:spcAft>
            </a:pPr>
            <a:r>
              <a:rPr lang="en-US" altLang="en-US" sz="2800" b="1" dirty="0" smtClean="0">
                <a:latin typeface="Arial" panose="020B0604020202020204" pitchFamily="34" charset="0"/>
              </a:rPr>
              <a:t>What is Python?</a:t>
            </a:r>
          </a:p>
        </p:txBody>
      </p:sp>
      <p:sp>
        <p:nvSpPr>
          <p:cNvPr id="15" name="TextBox 14"/>
          <p:cNvSpPr txBox="1"/>
          <p:nvPr/>
        </p:nvSpPr>
        <p:spPr>
          <a:xfrm>
            <a:off x="776618" y="3168226"/>
            <a:ext cx="6400800" cy="1200329"/>
          </a:xfrm>
          <a:prstGeom prst="rect">
            <a:avLst/>
          </a:prstGeom>
          <a:noFill/>
        </p:spPr>
        <p:txBody>
          <a:bodyPr wrap="square" rtlCol="0">
            <a:spAutoFit/>
          </a:bodyPr>
          <a:lstStyle/>
          <a:p>
            <a:r>
              <a:rPr lang="en-US" dirty="0"/>
              <a:t>Python is a simple and easy-to-understand language that feels like reading simple English. This Pseudo code nature of Python makes it easy to learn and understandable for beginners</a:t>
            </a:r>
          </a:p>
        </p:txBody>
      </p:sp>
    </p:spTree>
    <p:extLst>
      <p:ext uri="{BB962C8B-B14F-4D97-AF65-F5344CB8AC3E}">
        <p14:creationId xmlns:p14="http://schemas.microsoft.com/office/powerpoint/2010/main" val="57901321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100000">
              <a:schemeClr val="bg1"/>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8" name="Rectangle 4"/>
          <p:cNvSpPr>
            <a:spLocks noChangeArrowheads="1"/>
          </p:cNvSpPr>
          <p:nvPr/>
        </p:nvSpPr>
        <p:spPr bwMode="auto">
          <a:xfrm>
            <a:off x="0" y="-276999"/>
            <a:ext cx="6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hlinkClick r:id="rId2"/>
              </a:rPr>
              <a:t/>
            </a:r>
            <a:br>
              <a:rPr kumimoji="0" lang="en-US" altLang="en-US" sz="1800" b="0" i="0" u="none" strike="noStrike" cap="none" normalizeH="0" baseline="0" dirty="0" smtClean="0">
                <a:ln>
                  <a:noFill/>
                </a:ln>
                <a:solidFill>
                  <a:schemeClr val="tx1"/>
                </a:solidFill>
                <a:effectLst/>
                <a:latin typeface="Arial" panose="020B0604020202020204" pitchFamily="34" charset="0"/>
                <a:hlinkClick r:id="rId2"/>
              </a:rPr>
            </a:b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8"/>
          <p:cNvSpPr/>
          <p:nvPr/>
        </p:nvSpPr>
        <p:spPr>
          <a:xfrm>
            <a:off x="868218" y="724374"/>
            <a:ext cx="6096000" cy="523220"/>
          </a:xfrm>
          <a:prstGeom prst="rect">
            <a:avLst/>
          </a:prstGeom>
        </p:spPr>
        <p:txBody>
          <a:bodyPr>
            <a:spAutoFit/>
          </a:bodyPr>
          <a:lstStyle/>
          <a:p>
            <a:pPr lvl="0" defTabSz="914400" eaLnBrk="0" fontAlgn="base" hangingPunct="0">
              <a:spcBef>
                <a:spcPct val="0"/>
              </a:spcBef>
              <a:spcAft>
                <a:spcPct val="0"/>
              </a:spcAft>
            </a:pPr>
            <a:r>
              <a:rPr lang="en-US" altLang="en-US" sz="2800" b="1" dirty="0" smtClean="0">
                <a:latin typeface="Arial" panose="020B0604020202020204" pitchFamily="34" charset="0"/>
              </a:rPr>
              <a:t>Features of Python</a:t>
            </a:r>
          </a:p>
        </p:txBody>
      </p:sp>
      <p:sp>
        <p:nvSpPr>
          <p:cNvPr id="12" name="TextBox 11"/>
          <p:cNvSpPr txBox="1"/>
          <p:nvPr/>
        </p:nvSpPr>
        <p:spPr>
          <a:xfrm>
            <a:off x="927074" y="1340157"/>
            <a:ext cx="8842157" cy="4524315"/>
          </a:xfrm>
          <a:prstGeom prst="rect">
            <a:avLst/>
          </a:prstGeom>
          <a:noFill/>
        </p:spPr>
        <p:txBody>
          <a:bodyPr wrap="square" rtlCol="0">
            <a:spAutoFit/>
          </a:bodyPr>
          <a:lstStyle/>
          <a:p>
            <a:pPr marL="285750" lvl="0" indent="-285750">
              <a:lnSpc>
                <a:spcPct val="200000"/>
              </a:lnSpc>
              <a:buFont typeface="Wingdings" panose="05000000000000000000" pitchFamily="2" charset="2"/>
              <a:buChar char="Ø"/>
            </a:pPr>
            <a:r>
              <a:rPr lang="en-US" dirty="0" smtClean="0"/>
              <a:t>Easy </a:t>
            </a:r>
            <a:r>
              <a:rPr lang="en-US" dirty="0"/>
              <a:t>to understand = Less development time</a:t>
            </a:r>
          </a:p>
          <a:p>
            <a:pPr marL="285750" lvl="0" indent="-285750">
              <a:lnSpc>
                <a:spcPct val="200000"/>
              </a:lnSpc>
              <a:buFont typeface="Wingdings" panose="05000000000000000000" pitchFamily="2" charset="2"/>
              <a:buChar char="Ø"/>
            </a:pPr>
            <a:r>
              <a:rPr lang="en-US" dirty="0"/>
              <a:t>Free and open source</a:t>
            </a:r>
          </a:p>
          <a:p>
            <a:pPr marL="285750" lvl="0" indent="-285750">
              <a:lnSpc>
                <a:spcPct val="200000"/>
              </a:lnSpc>
              <a:buFont typeface="Wingdings" panose="05000000000000000000" pitchFamily="2" charset="2"/>
              <a:buChar char="Ø"/>
            </a:pPr>
            <a:r>
              <a:rPr lang="en-US" dirty="0"/>
              <a:t>High-level language</a:t>
            </a:r>
          </a:p>
          <a:p>
            <a:pPr marL="285750" lvl="0" indent="-285750">
              <a:lnSpc>
                <a:spcPct val="200000"/>
              </a:lnSpc>
              <a:buFont typeface="Wingdings" panose="05000000000000000000" pitchFamily="2" charset="2"/>
              <a:buChar char="Ø"/>
            </a:pPr>
            <a:r>
              <a:rPr lang="en-US" dirty="0"/>
              <a:t>Portable – works on Windows/Linux/Mac</a:t>
            </a:r>
          </a:p>
          <a:p>
            <a:pPr marL="285750" lvl="0" indent="-285750">
              <a:lnSpc>
                <a:spcPct val="200000"/>
              </a:lnSpc>
              <a:buFont typeface="Wingdings" panose="05000000000000000000" pitchFamily="2" charset="2"/>
              <a:buChar char="Ø"/>
            </a:pPr>
            <a:r>
              <a:rPr lang="en-US" dirty="0"/>
              <a:t>+ Fun to work with </a:t>
            </a:r>
            <a:r>
              <a:rPr lang="en-US" dirty="0" smtClean="0"/>
              <a:t>:)</a:t>
            </a:r>
          </a:p>
          <a:p>
            <a:pPr marL="285750" lvl="0" indent="-285750">
              <a:lnSpc>
                <a:spcPct val="200000"/>
              </a:lnSpc>
              <a:buFont typeface="Wingdings" panose="05000000000000000000" pitchFamily="2" charset="2"/>
              <a:buChar char="Ø"/>
            </a:pPr>
            <a:endParaRPr lang="en-US" dirty="0"/>
          </a:p>
          <a:p>
            <a:pPr marL="285750" lvl="0" indent="-285750">
              <a:lnSpc>
                <a:spcPct val="200000"/>
              </a:lnSpc>
              <a:buFont typeface="Wingdings" panose="05000000000000000000" pitchFamily="2" charset="2"/>
              <a:buChar char="Ø"/>
            </a:pPr>
            <a:endParaRPr lang="en-US" dirty="0" smtClean="0"/>
          </a:p>
          <a:p>
            <a:pPr lvl="0">
              <a:lnSpc>
                <a:spcPct val="200000"/>
              </a:lnSpc>
            </a:pPr>
            <a:r>
              <a:rPr lang="en-US" dirty="0" err="1" smtClean="0">
                <a:solidFill>
                  <a:srgbClr val="FF0000"/>
                </a:solidFill>
              </a:rPr>
              <a:t>Prog</a:t>
            </a:r>
            <a:r>
              <a:rPr lang="en-US" dirty="0" smtClean="0">
                <a:solidFill>
                  <a:srgbClr val="FF0000"/>
                </a:solidFill>
              </a:rPr>
              <a:t> write + Byte code (intermediate code) </a:t>
            </a:r>
            <a:r>
              <a:rPr lang="en-US" dirty="0" smtClean="0"/>
              <a:t>=&gt; machine language  </a:t>
            </a:r>
            <a:endParaRPr lang="en-US" dirty="0"/>
          </a:p>
        </p:txBody>
      </p:sp>
      <p:pic>
        <p:nvPicPr>
          <p:cNvPr id="13" name="Picture 12"/>
          <p:cNvPicPr>
            <a:picLocks noChangeAspect="1"/>
          </p:cNvPicPr>
          <p:nvPr/>
        </p:nvPicPr>
        <p:blipFill>
          <a:blip r:embed="rId3"/>
          <a:stretch>
            <a:fillRect/>
          </a:stretch>
        </p:blipFill>
        <p:spPr>
          <a:xfrm>
            <a:off x="10280366" y="3793202"/>
            <a:ext cx="1851024" cy="2959971"/>
          </a:xfrm>
          <a:prstGeom prst="rect">
            <a:avLst/>
          </a:prstGeom>
        </p:spPr>
      </p:pic>
    </p:spTree>
    <p:extLst>
      <p:ext uri="{BB962C8B-B14F-4D97-AF65-F5344CB8AC3E}">
        <p14:creationId xmlns:p14="http://schemas.microsoft.com/office/powerpoint/2010/main" val="367279624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100000">
              <a:schemeClr val="bg1"/>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8" name="Rectangle 4"/>
          <p:cNvSpPr>
            <a:spLocks noChangeArrowheads="1"/>
          </p:cNvSpPr>
          <p:nvPr/>
        </p:nvSpPr>
        <p:spPr bwMode="auto">
          <a:xfrm>
            <a:off x="0" y="-276999"/>
            <a:ext cx="6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hlinkClick r:id="rId2"/>
              </a:rPr>
              <a:t/>
            </a:r>
            <a:br>
              <a:rPr kumimoji="0" lang="en-US" altLang="en-US" sz="1800" b="0" i="0" u="none" strike="noStrike" cap="none" normalizeH="0" baseline="0" dirty="0" smtClean="0">
                <a:ln>
                  <a:noFill/>
                </a:ln>
                <a:solidFill>
                  <a:schemeClr val="tx1"/>
                </a:solidFill>
                <a:effectLst/>
                <a:latin typeface="Arial" panose="020B0604020202020204" pitchFamily="34" charset="0"/>
                <a:hlinkClick r:id="rId2"/>
              </a:rPr>
            </a:b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2" name="TextBox 11"/>
          <p:cNvSpPr txBox="1"/>
          <p:nvPr/>
        </p:nvSpPr>
        <p:spPr>
          <a:xfrm>
            <a:off x="844594" y="547174"/>
            <a:ext cx="6400800" cy="5909310"/>
          </a:xfrm>
          <a:prstGeom prst="rect">
            <a:avLst/>
          </a:prstGeom>
          <a:noFill/>
        </p:spPr>
        <p:txBody>
          <a:bodyPr wrap="square" rtlCol="0">
            <a:spAutoFit/>
          </a:bodyPr>
          <a:lstStyle/>
          <a:p>
            <a:pPr lvl="0">
              <a:lnSpc>
                <a:spcPct val="150000"/>
              </a:lnSpc>
            </a:pPr>
            <a:r>
              <a:rPr lang="en-US" dirty="0" smtClean="0"/>
              <a:t>Comments</a:t>
            </a:r>
          </a:p>
          <a:p>
            <a:pPr lvl="0">
              <a:lnSpc>
                <a:spcPct val="150000"/>
              </a:lnSpc>
            </a:pPr>
            <a:r>
              <a:rPr lang="en-US" dirty="0"/>
              <a:t>	</a:t>
            </a:r>
            <a:r>
              <a:rPr lang="en-US" dirty="0" smtClean="0"/>
              <a:t>Single line comment     #</a:t>
            </a:r>
          </a:p>
          <a:p>
            <a:pPr lvl="0">
              <a:lnSpc>
                <a:spcPct val="150000"/>
              </a:lnSpc>
            </a:pPr>
            <a:r>
              <a:rPr lang="en-US" dirty="0" smtClean="0"/>
              <a:t>	Multiline comment   “””</a:t>
            </a:r>
            <a:r>
              <a:rPr lang="en-US" dirty="0" err="1" smtClean="0"/>
              <a:t>str</a:t>
            </a:r>
            <a:r>
              <a:rPr lang="en-US" dirty="0" smtClean="0"/>
              <a:t>”””   ‘’’</a:t>
            </a:r>
            <a:r>
              <a:rPr lang="en-US" dirty="0" err="1" smtClean="0"/>
              <a:t>str</a:t>
            </a:r>
            <a:r>
              <a:rPr lang="en-US" dirty="0" smtClean="0"/>
              <a:t>’’’ </a:t>
            </a:r>
          </a:p>
          <a:p>
            <a:pPr lvl="0">
              <a:lnSpc>
                <a:spcPct val="150000"/>
              </a:lnSpc>
            </a:pPr>
            <a:r>
              <a:rPr lang="en-US" dirty="0" smtClean="0"/>
              <a:t>Modules</a:t>
            </a:r>
          </a:p>
          <a:p>
            <a:pPr lvl="0">
              <a:lnSpc>
                <a:spcPct val="150000"/>
              </a:lnSpc>
            </a:pPr>
            <a:r>
              <a:rPr lang="en-US" dirty="0"/>
              <a:t>	</a:t>
            </a:r>
            <a:r>
              <a:rPr lang="en-US" dirty="0" smtClean="0"/>
              <a:t>Built-in modules   -   e.g.  </a:t>
            </a:r>
            <a:r>
              <a:rPr lang="en-US" b="1" dirty="0" err="1" smtClean="0"/>
              <a:t>os</a:t>
            </a:r>
            <a:r>
              <a:rPr lang="en-US" b="1" dirty="0" smtClean="0"/>
              <a:t>, math</a:t>
            </a:r>
            <a:endParaRPr lang="en-US" dirty="0" smtClean="0"/>
          </a:p>
          <a:p>
            <a:pPr lvl="0">
              <a:lnSpc>
                <a:spcPct val="150000"/>
              </a:lnSpc>
            </a:pPr>
            <a:r>
              <a:rPr lang="en-US" dirty="0"/>
              <a:t>	</a:t>
            </a:r>
            <a:r>
              <a:rPr lang="en-US" dirty="0" smtClean="0"/>
              <a:t>External Modules  - e.g.   </a:t>
            </a:r>
            <a:r>
              <a:rPr lang="en-US" b="1" dirty="0" smtClean="0"/>
              <a:t>flask </a:t>
            </a:r>
            <a:endParaRPr lang="en-US" b="1" dirty="0" smtClean="0"/>
          </a:p>
          <a:p>
            <a:pPr lvl="0">
              <a:lnSpc>
                <a:spcPct val="200000"/>
              </a:lnSpc>
            </a:pPr>
            <a:r>
              <a:rPr lang="en-US" dirty="0" smtClean="0"/>
              <a:t>Pip</a:t>
            </a:r>
          </a:p>
          <a:p>
            <a:pPr lvl="0"/>
            <a:r>
              <a:rPr lang="en-US" dirty="0"/>
              <a:t>	</a:t>
            </a:r>
            <a:r>
              <a:rPr lang="en-US" dirty="0" smtClean="0"/>
              <a:t>Package manager – to download and install 	external </a:t>
            </a:r>
            <a:r>
              <a:rPr lang="en-US" dirty="0" smtClean="0"/>
              <a:t>modules</a:t>
            </a:r>
          </a:p>
          <a:p>
            <a:pPr lvl="0"/>
            <a:r>
              <a:rPr lang="en-US" dirty="0"/>
              <a:t>	</a:t>
            </a:r>
            <a:r>
              <a:rPr lang="en-US" dirty="0" smtClean="0"/>
              <a:t>pip install –U selenium  - command to install external module	</a:t>
            </a:r>
            <a:endParaRPr lang="en-US" dirty="0" smtClean="0"/>
          </a:p>
          <a:p>
            <a:pPr lvl="0">
              <a:lnSpc>
                <a:spcPct val="200000"/>
              </a:lnSpc>
            </a:pPr>
            <a:endParaRPr lang="en-US" dirty="0" smtClean="0"/>
          </a:p>
          <a:p>
            <a:pPr lvl="0">
              <a:lnSpc>
                <a:spcPct val="200000"/>
              </a:lnSpc>
            </a:pPr>
            <a:r>
              <a:rPr lang="en-US" dirty="0" smtClean="0"/>
              <a:t>REPL – Read, Evaluate , Print , Loop </a:t>
            </a:r>
          </a:p>
          <a:p>
            <a:pPr lvl="0">
              <a:lnSpc>
                <a:spcPct val="200000"/>
              </a:lnSpc>
            </a:pPr>
            <a:r>
              <a:rPr lang="en-US" dirty="0" smtClean="0"/>
              <a:t> </a:t>
            </a:r>
            <a:endParaRPr lang="en-US" dirty="0"/>
          </a:p>
        </p:txBody>
      </p:sp>
      <p:pic>
        <p:nvPicPr>
          <p:cNvPr id="13" name="Picture 12"/>
          <p:cNvPicPr>
            <a:picLocks noChangeAspect="1"/>
          </p:cNvPicPr>
          <p:nvPr/>
        </p:nvPicPr>
        <p:blipFill>
          <a:blip r:embed="rId3"/>
          <a:stretch>
            <a:fillRect/>
          </a:stretch>
        </p:blipFill>
        <p:spPr>
          <a:xfrm>
            <a:off x="10280366" y="3793202"/>
            <a:ext cx="1851024" cy="2959971"/>
          </a:xfrm>
          <a:prstGeom prst="rect">
            <a:avLst/>
          </a:prstGeom>
        </p:spPr>
      </p:pic>
    </p:spTree>
    <p:extLst>
      <p:ext uri="{BB962C8B-B14F-4D97-AF65-F5344CB8AC3E}">
        <p14:creationId xmlns:p14="http://schemas.microsoft.com/office/powerpoint/2010/main" val="398139488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0438" y="927013"/>
            <a:ext cx="3975768" cy="584775"/>
          </a:xfrm>
          <a:prstGeom prst="rect">
            <a:avLst/>
          </a:prstGeom>
          <a:noFill/>
        </p:spPr>
        <p:txBody>
          <a:bodyPr wrap="none" rtlCol="0">
            <a:spAutoFit/>
          </a:bodyPr>
          <a:lstStyle/>
          <a:p>
            <a:r>
              <a:rPr lang="en-US" sz="3200" dirty="0" smtClean="0">
                <a:solidFill>
                  <a:schemeClr val="bg1"/>
                </a:solidFill>
              </a:rPr>
              <a:t>Practice programs </a:t>
            </a:r>
            <a:endParaRPr lang="en-US" sz="3200" dirty="0">
              <a:solidFill>
                <a:schemeClr val="bg1"/>
              </a:solidFill>
            </a:endParaRPr>
          </a:p>
        </p:txBody>
      </p:sp>
      <p:sp>
        <p:nvSpPr>
          <p:cNvPr id="3" name="TextBox 2"/>
          <p:cNvSpPr txBox="1"/>
          <p:nvPr/>
        </p:nvSpPr>
        <p:spPr>
          <a:xfrm>
            <a:off x="1360058" y="2402495"/>
            <a:ext cx="6909264" cy="3416320"/>
          </a:xfrm>
          <a:prstGeom prst="rect">
            <a:avLst/>
          </a:prstGeom>
          <a:noFill/>
        </p:spPr>
        <p:txBody>
          <a:bodyPr wrap="none" rtlCol="0">
            <a:spAutoFit/>
          </a:bodyPr>
          <a:lstStyle/>
          <a:p>
            <a:pPr lvl="0"/>
            <a:r>
              <a:rPr lang="en-US" dirty="0" smtClean="0"/>
              <a:t>Practice program set 1:</a:t>
            </a:r>
          </a:p>
          <a:p>
            <a:pPr lvl="0"/>
            <a:endParaRPr lang="en-US" dirty="0" smtClean="0"/>
          </a:p>
          <a:p>
            <a:pPr lvl="0"/>
            <a:r>
              <a:rPr lang="en-US" dirty="0" smtClean="0"/>
              <a:t>1. Write </a:t>
            </a:r>
            <a:r>
              <a:rPr lang="en-US" dirty="0"/>
              <a:t>a program to print </a:t>
            </a:r>
            <a:r>
              <a:rPr lang="en-US" dirty="0" smtClean="0"/>
              <a:t>* or # </a:t>
            </a:r>
            <a:r>
              <a:rPr lang="en-US" dirty="0"/>
              <a:t>pattern in python.</a:t>
            </a:r>
          </a:p>
          <a:p>
            <a:r>
              <a:rPr lang="en-US" dirty="0" smtClean="0"/>
              <a:t>#</a:t>
            </a:r>
            <a:endParaRPr lang="en-US" dirty="0"/>
          </a:p>
          <a:p>
            <a:r>
              <a:rPr lang="en-US" dirty="0" smtClean="0"/>
              <a:t>##</a:t>
            </a:r>
            <a:endParaRPr lang="en-US" dirty="0"/>
          </a:p>
          <a:p>
            <a:r>
              <a:rPr lang="en-US" dirty="0" smtClean="0"/>
              <a:t>###</a:t>
            </a:r>
            <a:endParaRPr lang="en-US" dirty="0"/>
          </a:p>
          <a:p>
            <a:r>
              <a:rPr lang="en-US" dirty="0" smtClean="0"/>
              <a:t>####</a:t>
            </a:r>
            <a:endParaRPr lang="en-US" dirty="0"/>
          </a:p>
          <a:p>
            <a:r>
              <a:rPr lang="en-US" dirty="0" smtClean="0"/>
              <a:t>#####</a:t>
            </a:r>
            <a:endParaRPr lang="en-US" dirty="0"/>
          </a:p>
          <a:p>
            <a:r>
              <a:rPr lang="en-US" dirty="0"/>
              <a:t> </a:t>
            </a:r>
          </a:p>
          <a:p>
            <a:pPr lvl="0"/>
            <a:r>
              <a:rPr lang="en-US" dirty="0" smtClean="0"/>
              <a:t>2. Use </a:t>
            </a:r>
            <a:r>
              <a:rPr lang="en-US" dirty="0"/>
              <a:t>REPL and print the table of </a:t>
            </a:r>
            <a:r>
              <a:rPr lang="en-US" dirty="0" smtClean="0"/>
              <a:t>10 </a:t>
            </a:r>
            <a:r>
              <a:rPr lang="en-US" dirty="0"/>
              <a:t>using it.</a:t>
            </a:r>
          </a:p>
          <a:p>
            <a:pPr lvl="0"/>
            <a:r>
              <a:rPr lang="en-US" dirty="0" smtClean="0"/>
              <a:t>3. Label </a:t>
            </a:r>
            <a:r>
              <a:rPr lang="en-US" dirty="0"/>
              <a:t>the program written in problem 4 with comments.</a:t>
            </a:r>
          </a:p>
          <a:p>
            <a:endParaRPr lang="en-US" dirty="0"/>
          </a:p>
        </p:txBody>
      </p:sp>
    </p:spTree>
    <p:extLst>
      <p:ext uri="{BB962C8B-B14F-4D97-AF65-F5344CB8AC3E}">
        <p14:creationId xmlns:p14="http://schemas.microsoft.com/office/powerpoint/2010/main" val="23513962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5110694" cy="584775"/>
          </a:xfrm>
          <a:prstGeom prst="rect">
            <a:avLst/>
          </a:prstGeom>
          <a:noFill/>
        </p:spPr>
        <p:txBody>
          <a:bodyPr wrap="none" rtlCol="0">
            <a:spAutoFit/>
          </a:bodyPr>
          <a:lstStyle/>
          <a:p>
            <a:r>
              <a:rPr lang="en-US" sz="3200" dirty="0">
                <a:solidFill>
                  <a:schemeClr val="bg1"/>
                </a:solidFill>
              </a:rPr>
              <a:t>Variables and datatypes</a:t>
            </a:r>
          </a:p>
        </p:txBody>
      </p:sp>
      <p:sp>
        <p:nvSpPr>
          <p:cNvPr id="3" name="TextBox 2"/>
          <p:cNvSpPr txBox="1"/>
          <p:nvPr/>
        </p:nvSpPr>
        <p:spPr>
          <a:xfrm>
            <a:off x="1036865" y="2530928"/>
            <a:ext cx="9382697" cy="4247317"/>
          </a:xfrm>
          <a:prstGeom prst="rect">
            <a:avLst/>
          </a:prstGeom>
          <a:noFill/>
        </p:spPr>
        <p:txBody>
          <a:bodyPr wrap="none" rtlCol="0">
            <a:spAutoFit/>
          </a:bodyPr>
          <a:lstStyle/>
          <a:p>
            <a:r>
              <a:rPr lang="en-US" b="1" dirty="0"/>
              <a:t>Variable – </a:t>
            </a:r>
            <a:r>
              <a:rPr lang="en-US" dirty="0"/>
              <a:t>Container to store a value</a:t>
            </a:r>
          </a:p>
          <a:p>
            <a:r>
              <a:rPr lang="en-US" b="1" dirty="0"/>
              <a:t>Keywords – </a:t>
            </a:r>
            <a:r>
              <a:rPr lang="en-US" dirty="0"/>
              <a:t>Reserved words in Python</a:t>
            </a:r>
          </a:p>
          <a:p>
            <a:r>
              <a:rPr lang="en-US" b="1" dirty="0"/>
              <a:t>Identifiers – </a:t>
            </a:r>
            <a:r>
              <a:rPr lang="en-US" dirty="0"/>
              <a:t>class/function/variable </a:t>
            </a:r>
            <a:r>
              <a:rPr lang="en-US" dirty="0" smtClean="0"/>
              <a:t>name</a:t>
            </a:r>
          </a:p>
          <a:p>
            <a:endParaRPr lang="en-US" dirty="0"/>
          </a:p>
          <a:p>
            <a:endParaRPr lang="en-US" dirty="0" smtClean="0"/>
          </a:p>
          <a:p>
            <a:r>
              <a:rPr lang="en-US" dirty="0" smtClean="0"/>
              <a:t>Primarily </a:t>
            </a:r>
            <a:r>
              <a:rPr lang="en-US" dirty="0"/>
              <a:t>there are the following data types in Python:</a:t>
            </a:r>
          </a:p>
          <a:p>
            <a:r>
              <a:rPr lang="en-US" dirty="0"/>
              <a:t>1.	</a:t>
            </a:r>
            <a:r>
              <a:rPr lang="en-US" dirty="0" smtClean="0"/>
              <a:t>Integers   10, -20 </a:t>
            </a:r>
            <a:endParaRPr lang="en-US" dirty="0"/>
          </a:p>
          <a:p>
            <a:r>
              <a:rPr lang="en-US" dirty="0"/>
              <a:t>2.	Floating </a:t>
            </a:r>
            <a:r>
              <a:rPr lang="en-US" dirty="0" smtClean="0"/>
              <a:t>point numbers     10.50    55.5</a:t>
            </a:r>
            <a:endParaRPr lang="en-US" dirty="0"/>
          </a:p>
          <a:p>
            <a:r>
              <a:rPr lang="en-US" dirty="0"/>
              <a:t>3.	</a:t>
            </a:r>
            <a:r>
              <a:rPr lang="en-US" dirty="0" smtClean="0"/>
              <a:t>Strings                         “Hello”    ‘Hi’   “””Hello”””    ‘’’Hi’’’</a:t>
            </a:r>
            <a:endParaRPr lang="en-US" dirty="0"/>
          </a:p>
          <a:p>
            <a:r>
              <a:rPr lang="en-US" dirty="0"/>
              <a:t>4.	</a:t>
            </a:r>
            <a:r>
              <a:rPr lang="en-US" dirty="0" smtClean="0"/>
              <a:t>Booleans        True   False</a:t>
            </a:r>
            <a:endParaRPr lang="en-US" dirty="0"/>
          </a:p>
          <a:p>
            <a:r>
              <a:rPr lang="en-US" dirty="0"/>
              <a:t>5.	None</a:t>
            </a:r>
          </a:p>
          <a:p>
            <a:endParaRPr lang="en-US" dirty="0" smtClean="0"/>
          </a:p>
          <a:p>
            <a:endParaRPr lang="en-US" dirty="0"/>
          </a:p>
          <a:p>
            <a:r>
              <a:rPr lang="en-US" dirty="0"/>
              <a:t>Python is a fantastic language that automatically identifies the type of data for us.</a:t>
            </a:r>
          </a:p>
          <a:p>
            <a:endParaRPr lang="en-US" dirty="0"/>
          </a:p>
        </p:txBody>
      </p:sp>
      <p:pic>
        <p:nvPicPr>
          <p:cNvPr id="4" name="Picture 3"/>
          <p:cNvPicPr>
            <a:picLocks noChangeAspect="1"/>
          </p:cNvPicPr>
          <p:nvPr/>
        </p:nvPicPr>
        <p:blipFill>
          <a:blip r:embed="rId2"/>
          <a:stretch>
            <a:fillRect/>
          </a:stretch>
        </p:blipFill>
        <p:spPr>
          <a:xfrm>
            <a:off x="10255873" y="3009431"/>
            <a:ext cx="1851024" cy="2959971"/>
          </a:xfrm>
          <a:prstGeom prst="rect">
            <a:avLst/>
          </a:prstGeom>
        </p:spPr>
      </p:pic>
    </p:spTree>
    <p:extLst>
      <p:ext uri="{BB962C8B-B14F-4D97-AF65-F5344CB8AC3E}">
        <p14:creationId xmlns:p14="http://schemas.microsoft.com/office/powerpoint/2010/main" val="42011319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6978192" cy="584775"/>
          </a:xfrm>
          <a:prstGeom prst="rect">
            <a:avLst/>
          </a:prstGeom>
          <a:noFill/>
        </p:spPr>
        <p:txBody>
          <a:bodyPr wrap="none" rtlCol="0">
            <a:spAutoFit/>
          </a:bodyPr>
          <a:lstStyle/>
          <a:p>
            <a:r>
              <a:rPr lang="en-US" sz="3200" dirty="0" smtClean="0">
                <a:solidFill>
                  <a:schemeClr val="bg1"/>
                </a:solidFill>
              </a:rPr>
              <a:t>Rules for defining a variable name</a:t>
            </a:r>
            <a:endParaRPr lang="en-US" sz="3200" dirty="0">
              <a:solidFill>
                <a:schemeClr val="bg1"/>
              </a:solidFill>
            </a:endParaRPr>
          </a:p>
        </p:txBody>
      </p:sp>
      <p:sp>
        <p:nvSpPr>
          <p:cNvPr id="3" name="TextBox 2"/>
          <p:cNvSpPr txBox="1"/>
          <p:nvPr/>
        </p:nvSpPr>
        <p:spPr>
          <a:xfrm>
            <a:off x="1045028" y="2530928"/>
            <a:ext cx="9455331" cy="3416320"/>
          </a:xfrm>
          <a:prstGeom prst="rect">
            <a:avLst/>
          </a:prstGeom>
          <a:noFill/>
        </p:spPr>
        <p:txBody>
          <a:bodyPr wrap="square" rtlCol="0">
            <a:spAutoFit/>
          </a:bodyPr>
          <a:lstStyle/>
          <a:p>
            <a:pPr marL="342900" lvl="0" indent="-342900">
              <a:lnSpc>
                <a:spcPct val="150000"/>
              </a:lnSpc>
              <a:buFont typeface="+mj-lt"/>
              <a:buAutoNum type="arabicPeriod"/>
            </a:pPr>
            <a:r>
              <a:rPr lang="en-US" dirty="0" smtClean="0"/>
              <a:t>A </a:t>
            </a:r>
            <a:r>
              <a:rPr lang="en-US" dirty="0"/>
              <a:t>variable name can contain alphabets, digits, and underscore</a:t>
            </a:r>
            <a:r>
              <a:rPr lang="en-US" dirty="0" smtClean="0"/>
              <a:t>.</a:t>
            </a:r>
          </a:p>
          <a:p>
            <a:pPr lvl="1">
              <a:lnSpc>
                <a:spcPct val="150000"/>
              </a:lnSpc>
            </a:pPr>
            <a:r>
              <a:rPr lang="en-US" dirty="0" smtClean="0"/>
              <a:t>someName123 = “hello”</a:t>
            </a:r>
            <a:endParaRPr lang="en-US" dirty="0"/>
          </a:p>
          <a:p>
            <a:pPr marL="342900" lvl="0" indent="-342900">
              <a:lnSpc>
                <a:spcPct val="150000"/>
              </a:lnSpc>
              <a:buFont typeface="+mj-lt"/>
              <a:buAutoNum type="arabicPeriod"/>
            </a:pPr>
            <a:r>
              <a:rPr lang="en-US" dirty="0"/>
              <a:t>A variable name can only start with an alphabet and underscore.</a:t>
            </a:r>
          </a:p>
          <a:p>
            <a:pPr marL="342900" lvl="0" indent="-342900">
              <a:lnSpc>
                <a:spcPct val="150000"/>
              </a:lnSpc>
              <a:buFont typeface="+mj-lt"/>
              <a:buAutoNum type="arabicPeriod"/>
            </a:pPr>
            <a:r>
              <a:rPr lang="en-US" dirty="0"/>
              <a:t>A variable can’t start with a digit.</a:t>
            </a:r>
          </a:p>
          <a:p>
            <a:pPr marL="342900" lvl="0" indent="-342900">
              <a:lnSpc>
                <a:spcPct val="150000"/>
              </a:lnSpc>
              <a:buFont typeface="+mj-lt"/>
              <a:buAutoNum type="arabicPeriod"/>
            </a:pPr>
            <a:r>
              <a:rPr lang="en-US" dirty="0"/>
              <a:t>No white space is allowed to be used inside a variable name</a:t>
            </a:r>
            <a:r>
              <a:rPr lang="en-US" dirty="0" smtClean="0"/>
              <a:t>.  </a:t>
            </a:r>
          </a:p>
          <a:p>
            <a:pPr lvl="0">
              <a:lnSpc>
                <a:spcPct val="150000"/>
              </a:lnSpc>
            </a:pPr>
            <a:r>
              <a:rPr lang="en-US" dirty="0"/>
              <a:t>	</a:t>
            </a:r>
            <a:r>
              <a:rPr lang="en-US" dirty="0" err="1" smtClean="0">
                <a:solidFill>
                  <a:srgbClr val="00B050"/>
                </a:solidFill>
              </a:rPr>
              <a:t>some_name</a:t>
            </a:r>
            <a:r>
              <a:rPr lang="en-US" dirty="0" smtClean="0"/>
              <a:t> = “Hello” 	#Valid</a:t>
            </a:r>
          </a:p>
          <a:p>
            <a:pPr lvl="0">
              <a:lnSpc>
                <a:spcPct val="150000"/>
              </a:lnSpc>
            </a:pPr>
            <a:r>
              <a:rPr lang="en-US" dirty="0"/>
              <a:t>	</a:t>
            </a:r>
            <a:r>
              <a:rPr lang="en-US" dirty="0" smtClean="0">
                <a:solidFill>
                  <a:srgbClr val="FF0000"/>
                </a:solidFill>
              </a:rPr>
              <a:t>some name </a:t>
            </a:r>
            <a:r>
              <a:rPr lang="en-US" dirty="0" smtClean="0"/>
              <a:t>= “hello”	#invalid</a:t>
            </a:r>
            <a:endParaRPr lang="en-US" dirty="0"/>
          </a:p>
          <a:p>
            <a:pPr lvl="0">
              <a:lnSpc>
                <a:spcPct val="150000"/>
              </a:lnSpc>
            </a:pPr>
            <a:r>
              <a:rPr lang="en-US" dirty="0" smtClean="0"/>
              <a:t>5.	Variable </a:t>
            </a:r>
            <a:r>
              <a:rPr lang="en-US" dirty="0"/>
              <a:t>names are case sensitive </a:t>
            </a:r>
          </a:p>
        </p:txBody>
      </p:sp>
      <p:pic>
        <p:nvPicPr>
          <p:cNvPr id="4" name="Picture 3"/>
          <p:cNvPicPr>
            <a:picLocks noChangeAspect="1"/>
          </p:cNvPicPr>
          <p:nvPr/>
        </p:nvPicPr>
        <p:blipFill>
          <a:blip r:embed="rId2"/>
          <a:stretch>
            <a:fillRect/>
          </a:stretch>
        </p:blipFill>
        <p:spPr>
          <a:xfrm>
            <a:off x="10280366" y="3793202"/>
            <a:ext cx="1851024" cy="2959971"/>
          </a:xfrm>
          <a:prstGeom prst="rect">
            <a:avLst/>
          </a:prstGeom>
        </p:spPr>
      </p:pic>
    </p:spTree>
    <p:extLst>
      <p:ext uri="{BB962C8B-B14F-4D97-AF65-F5344CB8AC3E}">
        <p14:creationId xmlns:p14="http://schemas.microsoft.com/office/powerpoint/2010/main" val="39390128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4115229" cy="584775"/>
          </a:xfrm>
          <a:prstGeom prst="rect">
            <a:avLst/>
          </a:prstGeom>
          <a:noFill/>
        </p:spPr>
        <p:txBody>
          <a:bodyPr wrap="none" rtlCol="0">
            <a:spAutoFit/>
          </a:bodyPr>
          <a:lstStyle/>
          <a:p>
            <a:r>
              <a:rPr lang="en-US" sz="3200" dirty="0" smtClean="0">
                <a:solidFill>
                  <a:schemeClr val="bg1"/>
                </a:solidFill>
              </a:rPr>
              <a:t>Operators in Python</a:t>
            </a:r>
            <a:endParaRPr lang="en-US" sz="3200" dirty="0">
              <a:solidFill>
                <a:schemeClr val="bg1"/>
              </a:solidFill>
            </a:endParaRPr>
          </a:p>
        </p:txBody>
      </p:sp>
      <p:sp>
        <p:nvSpPr>
          <p:cNvPr id="3" name="TextBox 2"/>
          <p:cNvSpPr txBox="1"/>
          <p:nvPr/>
        </p:nvSpPr>
        <p:spPr>
          <a:xfrm>
            <a:off x="1004908" y="2626308"/>
            <a:ext cx="8555627" cy="2862322"/>
          </a:xfrm>
          <a:prstGeom prst="rect">
            <a:avLst/>
          </a:prstGeom>
          <a:noFill/>
        </p:spPr>
        <p:txBody>
          <a:bodyPr wrap="square" rtlCol="0">
            <a:spAutoFit/>
          </a:bodyPr>
          <a:lstStyle/>
          <a:p>
            <a:r>
              <a:rPr lang="en-US" dirty="0"/>
              <a:t>The following are some common operators in Python</a:t>
            </a:r>
            <a:r>
              <a:rPr lang="en-US" dirty="0" smtClean="0"/>
              <a:t>:</a:t>
            </a:r>
          </a:p>
          <a:p>
            <a:endParaRPr lang="en-US" dirty="0"/>
          </a:p>
          <a:p>
            <a:r>
              <a:rPr lang="en-US" dirty="0"/>
              <a:t>1.	Arithmetic Operators (+, -, *, /, etc.)</a:t>
            </a:r>
          </a:p>
          <a:p>
            <a:r>
              <a:rPr lang="en-US" dirty="0"/>
              <a:t>2.	Assignment Operators (=, +=, -=, </a:t>
            </a:r>
            <a:r>
              <a:rPr lang="en-US" dirty="0" smtClean="0"/>
              <a:t>*=, /=, etc</a:t>
            </a:r>
            <a:r>
              <a:rPr lang="en-US" dirty="0"/>
              <a:t>.)</a:t>
            </a:r>
          </a:p>
          <a:p>
            <a:r>
              <a:rPr lang="en-US" dirty="0"/>
              <a:t>3.	Comparison Operators (==, &gt;=, &lt;=, &gt;, &lt;, !=, etc.)</a:t>
            </a:r>
          </a:p>
          <a:p>
            <a:pPr marL="342900" indent="-342900">
              <a:buAutoNum type="arabicPeriod" startAt="4"/>
            </a:pPr>
            <a:r>
              <a:rPr lang="en-US" dirty="0" smtClean="0"/>
              <a:t>  Logical </a:t>
            </a:r>
            <a:r>
              <a:rPr lang="en-US" dirty="0"/>
              <a:t>Operators (and, or, not</a:t>
            </a:r>
            <a:r>
              <a:rPr lang="en-US" dirty="0" smtClean="0"/>
              <a:t>)</a:t>
            </a:r>
          </a:p>
          <a:p>
            <a:pPr marL="342900" indent="-342900">
              <a:buAutoNum type="arabicPeriod" startAt="4"/>
            </a:pPr>
            <a:endParaRPr lang="en-US" dirty="0"/>
          </a:p>
          <a:p>
            <a:endParaRPr lang="en-US" dirty="0" smtClean="0"/>
          </a:p>
          <a:p>
            <a:r>
              <a:rPr lang="en-US" dirty="0" smtClean="0"/>
              <a:t>	</a:t>
            </a:r>
          </a:p>
          <a:p>
            <a:endParaRPr lang="en-US" dirty="0"/>
          </a:p>
        </p:txBody>
      </p:sp>
      <p:pic>
        <p:nvPicPr>
          <p:cNvPr id="4" name="Picture 3"/>
          <p:cNvPicPr>
            <a:picLocks noChangeAspect="1"/>
          </p:cNvPicPr>
          <p:nvPr/>
        </p:nvPicPr>
        <p:blipFill>
          <a:blip r:embed="rId2"/>
          <a:stretch>
            <a:fillRect/>
          </a:stretch>
        </p:blipFill>
        <p:spPr>
          <a:xfrm>
            <a:off x="10280366" y="3793202"/>
            <a:ext cx="1851024" cy="2959971"/>
          </a:xfrm>
          <a:prstGeom prst="rect">
            <a:avLst/>
          </a:prstGeom>
        </p:spPr>
      </p:pic>
    </p:spTree>
    <p:extLst>
      <p:ext uri="{BB962C8B-B14F-4D97-AF65-F5344CB8AC3E}">
        <p14:creationId xmlns:p14="http://schemas.microsoft.com/office/powerpoint/2010/main" val="16239567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3143809" cy="584775"/>
          </a:xfrm>
          <a:prstGeom prst="rect">
            <a:avLst/>
          </a:prstGeom>
          <a:noFill/>
        </p:spPr>
        <p:txBody>
          <a:bodyPr wrap="none" rtlCol="0">
            <a:spAutoFit/>
          </a:bodyPr>
          <a:lstStyle/>
          <a:p>
            <a:r>
              <a:rPr lang="en-US" sz="3200" dirty="0" smtClean="0">
                <a:solidFill>
                  <a:schemeClr val="bg1"/>
                </a:solidFill>
              </a:rPr>
              <a:t>type() function</a:t>
            </a:r>
            <a:endParaRPr lang="en-US" sz="3200" dirty="0">
              <a:solidFill>
                <a:schemeClr val="bg1"/>
              </a:solidFill>
            </a:endParaRPr>
          </a:p>
        </p:txBody>
      </p:sp>
      <p:sp>
        <p:nvSpPr>
          <p:cNvPr id="3" name="TextBox 2"/>
          <p:cNvSpPr txBox="1"/>
          <p:nvPr/>
        </p:nvSpPr>
        <p:spPr>
          <a:xfrm>
            <a:off x="1167493" y="2604406"/>
            <a:ext cx="8204490" cy="2585323"/>
          </a:xfrm>
          <a:prstGeom prst="rect">
            <a:avLst/>
          </a:prstGeom>
          <a:noFill/>
        </p:spPr>
        <p:txBody>
          <a:bodyPr wrap="none" rtlCol="0">
            <a:spAutoFit/>
          </a:bodyPr>
          <a:lstStyle/>
          <a:p>
            <a:r>
              <a:rPr lang="en-US" dirty="0"/>
              <a:t>type function is used to find the data type of a given variable in Python.</a:t>
            </a:r>
          </a:p>
          <a:p>
            <a:endParaRPr lang="en-US" dirty="0" smtClean="0"/>
          </a:p>
          <a:p>
            <a:endParaRPr lang="en-US" dirty="0"/>
          </a:p>
          <a:p>
            <a:r>
              <a:rPr lang="en-US" dirty="0"/>
              <a:t>a = </a:t>
            </a:r>
            <a:r>
              <a:rPr lang="en-US" dirty="0" smtClean="0"/>
              <a:t>31</a:t>
            </a:r>
            <a:endParaRPr lang="en-US" dirty="0"/>
          </a:p>
          <a:p>
            <a:r>
              <a:rPr lang="en-US" dirty="0"/>
              <a:t>type(a)                      #class&lt;</a:t>
            </a:r>
            <a:r>
              <a:rPr lang="en-US" dirty="0" err="1"/>
              <a:t>int</a:t>
            </a:r>
            <a:r>
              <a:rPr lang="en-US" dirty="0"/>
              <a:t>&gt;</a:t>
            </a:r>
          </a:p>
          <a:p>
            <a:r>
              <a:rPr lang="en-US" dirty="0"/>
              <a:t> </a:t>
            </a:r>
          </a:p>
          <a:p>
            <a:r>
              <a:rPr lang="en-US" dirty="0"/>
              <a:t>b = “31</a:t>
            </a:r>
            <a:r>
              <a:rPr lang="en-US" dirty="0" smtClean="0"/>
              <a:t>”</a:t>
            </a:r>
            <a:r>
              <a:rPr lang="en-US" dirty="0"/>
              <a:t> </a:t>
            </a:r>
          </a:p>
          <a:p>
            <a:r>
              <a:rPr lang="en-US" dirty="0"/>
              <a:t>type(b)                      #class&lt;</a:t>
            </a:r>
            <a:r>
              <a:rPr lang="en-US" dirty="0" err="1"/>
              <a:t>str</a:t>
            </a:r>
            <a:r>
              <a:rPr lang="en-US" dirty="0"/>
              <a:t>&gt;</a:t>
            </a:r>
          </a:p>
          <a:p>
            <a:endParaRPr lang="en-US" dirty="0"/>
          </a:p>
        </p:txBody>
      </p:sp>
      <p:pic>
        <p:nvPicPr>
          <p:cNvPr id="5" name="Picture 4"/>
          <p:cNvPicPr>
            <a:picLocks noChangeAspect="1"/>
          </p:cNvPicPr>
          <p:nvPr/>
        </p:nvPicPr>
        <p:blipFill>
          <a:blip r:embed="rId2"/>
          <a:stretch>
            <a:fillRect/>
          </a:stretch>
        </p:blipFill>
        <p:spPr>
          <a:xfrm>
            <a:off x="10280366" y="3793202"/>
            <a:ext cx="1851024" cy="2959971"/>
          </a:xfrm>
          <a:prstGeom prst="rect">
            <a:avLst/>
          </a:prstGeom>
        </p:spPr>
      </p:pic>
    </p:spTree>
    <p:extLst>
      <p:ext uri="{BB962C8B-B14F-4D97-AF65-F5344CB8AC3E}">
        <p14:creationId xmlns:p14="http://schemas.microsoft.com/office/powerpoint/2010/main" val="42675330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2577950" cy="584775"/>
          </a:xfrm>
          <a:prstGeom prst="rect">
            <a:avLst/>
          </a:prstGeom>
          <a:noFill/>
        </p:spPr>
        <p:txBody>
          <a:bodyPr wrap="none" rtlCol="0">
            <a:spAutoFit/>
          </a:bodyPr>
          <a:lstStyle/>
          <a:p>
            <a:r>
              <a:rPr lang="en-US" sz="3200" dirty="0">
                <a:solidFill>
                  <a:schemeClr val="bg1"/>
                </a:solidFill>
              </a:rPr>
              <a:t>Typecasting</a:t>
            </a:r>
          </a:p>
        </p:txBody>
      </p:sp>
      <p:sp>
        <p:nvSpPr>
          <p:cNvPr id="3" name="TextBox 2"/>
          <p:cNvSpPr txBox="1"/>
          <p:nvPr/>
        </p:nvSpPr>
        <p:spPr>
          <a:xfrm>
            <a:off x="1167493" y="2604406"/>
            <a:ext cx="7789312" cy="3416320"/>
          </a:xfrm>
          <a:prstGeom prst="rect">
            <a:avLst/>
          </a:prstGeom>
          <a:noFill/>
        </p:spPr>
        <p:txBody>
          <a:bodyPr wrap="none" rtlCol="0">
            <a:spAutoFit/>
          </a:bodyPr>
          <a:lstStyle/>
          <a:p>
            <a:r>
              <a:rPr lang="en-US" dirty="0" smtClean="0"/>
              <a:t>A </a:t>
            </a:r>
            <a:r>
              <a:rPr lang="en-US" dirty="0"/>
              <a:t>number can be converted into a string and vice versa </a:t>
            </a:r>
            <a:r>
              <a:rPr lang="en-US" b="1" dirty="0"/>
              <a:t>(if possible)</a:t>
            </a:r>
          </a:p>
          <a:p>
            <a:r>
              <a:rPr lang="en-US" dirty="0"/>
              <a:t>There are many functions to convert one data type into another</a:t>
            </a:r>
            <a:r>
              <a:rPr lang="en-US" dirty="0" smtClean="0"/>
              <a:t>.</a:t>
            </a:r>
          </a:p>
          <a:p>
            <a:endParaRPr lang="en-US" dirty="0"/>
          </a:p>
          <a:p>
            <a:r>
              <a:rPr lang="en-US" dirty="0" err="1"/>
              <a:t>Str</a:t>
            </a:r>
            <a:r>
              <a:rPr lang="en-US" dirty="0"/>
              <a:t>(31)           # ”31” Integer to string conversion</a:t>
            </a:r>
          </a:p>
          <a:p>
            <a:r>
              <a:rPr lang="en-US" dirty="0"/>
              <a:t> </a:t>
            </a:r>
          </a:p>
          <a:p>
            <a:r>
              <a:rPr lang="en-US" dirty="0" err="1"/>
              <a:t>int</a:t>
            </a:r>
            <a:r>
              <a:rPr lang="en-US" dirty="0"/>
              <a:t>(“32”)       # 32 String to </a:t>
            </a:r>
            <a:r>
              <a:rPr lang="en-US" dirty="0" err="1"/>
              <a:t>int</a:t>
            </a:r>
            <a:r>
              <a:rPr lang="en-US" dirty="0"/>
              <a:t> conversion</a:t>
            </a:r>
          </a:p>
          <a:p>
            <a:r>
              <a:rPr lang="en-US" dirty="0"/>
              <a:t> </a:t>
            </a:r>
          </a:p>
          <a:p>
            <a:r>
              <a:rPr lang="en-US" dirty="0"/>
              <a:t>float(32)       #32.0 Integer to float conversion</a:t>
            </a:r>
          </a:p>
          <a:p>
            <a:endParaRPr lang="en-US" dirty="0" smtClean="0"/>
          </a:p>
          <a:p>
            <a:endParaRPr lang="en-US" dirty="0"/>
          </a:p>
          <a:p>
            <a:r>
              <a:rPr lang="en-US" dirty="0" smtClean="0"/>
              <a:t>Here </a:t>
            </a:r>
            <a:r>
              <a:rPr lang="en-US" dirty="0"/>
              <a:t>“31” is a string literal, and 31 is a numeric literal.</a:t>
            </a:r>
          </a:p>
          <a:p>
            <a:endParaRPr lang="en-US" dirty="0"/>
          </a:p>
        </p:txBody>
      </p:sp>
      <p:pic>
        <p:nvPicPr>
          <p:cNvPr id="4" name="Picture 3"/>
          <p:cNvPicPr>
            <a:picLocks noChangeAspect="1"/>
          </p:cNvPicPr>
          <p:nvPr/>
        </p:nvPicPr>
        <p:blipFill>
          <a:blip r:embed="rId2"/>
          <a:stretch>
            <a:fillRect/>
          </a:stretch>
        </p:blipFill>
        <p:spPr>
          <a:xfrm>
            <a:off x="10280366" y="3793202"/>
            <a:ext cx="1851024" cy="2959971"/>
          </a:xfrm>
          <a:prstGeom prst="rect">
            <a:avLst/>
          </a:prstGeom>
        </p:spPr>
      </p:pic>
    </p:spTree>
    <p:extLst>
      <p:ext uri="{BB962C8B-B14F-4D97-AF65-F5344CB8AC3E}">
        <p14:creationId xmlns:p14="http://schemas.microsoft.com/office/powerpoint/2010/main" val="41062776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3239990" cy="584775"/>
          </a:xfrm>
          <a:prstGeom prst="rect">
            <a:avLst/>
          </a:prstGeom>
          <a:noFill/>
        </p:spPr>
        <p:txBody>
          <a:bodyPr wrap="none" rtlCol="0">
            <a:spAutoFit/>
          </a:bodyPr>
          <a:lstStyle/>
          <a:p>
            <a:r>
              <a:rPr lang="en-US" sz="3200" dirty="0">
                <a:solidFill>
                  <a:schemeClr val="bg1"/>
                </a:solidFill>
              </a:rPr>
              <a:t>input() function</a:t>
            </a:r>
          </a:p>
        </p:txBody>
      </p:sp>
      <p:sp>
        <p:nvSpPr>
          <p:cNvPr id="3" name="TextBox 2"/>
          <p:cNvSpPr txBox="1"/>
          <p:nvPr/>
        </p:nvSpPr>
        <p:spPr>
          <a:xfrm>
            <a:off x="1167493" y="2604406"/>
            <a:ext cx="8121134" cy="1477328"/>
          </a:xfrm>
          <a:prstGeom prst="rect">
            <a:avLst/>
          </a:prstGeom>
          <a:noFill/>
        </p:spPr>
        <p:txBody>
          <a:bodyPr wrap="none" rtlCol="0">
            <a:spAutoFit/>
          </a:bodyPr>
          <a:lstStyle/>
          <a:p>
            <a:r>
              <a:rPr lang="en-US" dirty="0"/>
              <a:t>This function allows the user to take input from the keyboard as </a:t>
            </a:r>
            <a:r>
              <a:rPr lang="en-US" b="1" dirty="0"/>
              <a:t>a string</a:t>
            </a:r>
            <a:r>
              <a:rPr lang="en-US" dirty="0" smtClean="0"/>
              <a:t>.</a:t>
            </a:r>
          </a:p>
          <a:p>
            <a:endParaRPr lang="en-US" dirty="0"/>
          </a:p>
          <a:p>
            <a:endParaRPr lang="en-US" dirty="0"/>
          </a:p>
          <a:p>
            <a:r>
              <a:rPr lang="en-US" dirty="0"/>
              <a:t>a = input(“Enter name”)               #if a is “harry”, the user entered harry</a:t>
            </a:r>
          </a:p>
          <a:p>
            <a:endParaRPr lang="en-US" dirty="0"/>
          </a:p>
        </p:txBody>
      </p:sp>
      <p:pic>
        <p:nvPicPr>
          <p:cNvPr id="4" name="Picture 3"/>
          <p:cNvPicPr>
            <a:picLocks noChangeAspect="1"/>
          </p:cNvPicPr>
          <p:nvPr/>
        </p:nvPicPr>
        <p:blipFill>
          <a:blip r:embed="rId2"/>
          <a:stretch>
            <a:fillRect/>
          </a:stretch>
        </p:blipFill>
        <p:spPr>
          <a:xfrm>
            <a:off x="10280366" y="3793202"/>
            <a:ext cx="1851024" cy="2959971"/>
          </a:xfrm>
          <a:prstGeom prst="rect">
            <a:avLst/>
          </a:prstGeom>
        </p:spPr>
      </p:pic>
    </p:spTree>
    <p:extLst>
      <p:ext uri="{BB962C8B-B14F-4D97-AF65-F5344CB8AC3E}">
        <p14:creationId xmlns:p14="http://schemas.microsoft.com/office/powerpoint/2010/main" val="21456012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2871299" cy="584775"/>
          </a:xfrm>
          <a:prstGeom prst="rect">
            <a:avLst/>
          </a:prstGeom>
          <a:noFill/>
        </p:spPr>
        <p:txBody>
          <a:bodyPr wrap="none" rtlCol="0">
            <a:spAutoFit/>
          </a:bodyPr>
          <a:lstStyle/>
          <a:p>
            <a:r>
              <a:rPr lang="en-US" sz="3200" dirty="0" smtClean="0">
                <a:solidFill>
                  <a:schemeClr val="bg1"/>
                </a:solidFill>
              </a:rPr>
              <a:t>Practice set 2</a:t>
            </a:r>
            <a:endParaRPr lang="en-US" sz="3200" dirty="0">
              <a:solidFill>
                <a:schemeClr val="bg1"/>
              </a:solidFill>
            </a:endParaRPr>
          </a:p>
        </p:txBody>
      </p:sp>
      <p:sp>
        <p:nvSpPr>
          <p:cNvPr id="3" name="TextBox 2"/>
          <p:cNvSpPr txBox="1"/>
          <p:nvPr/>
        </p:nvSpPr>
        <p:spPr>
          <a:xfrm>
            <a:off x="1167493" y="2604406"/>
            <a:ext cx="10628231" cy="3970318"/>
          </a:xfrm>
          <a:prstGeom prst="rect">
            <a:avLst/>
          </a:prstGeom>
          <a:noFill/>
        </p:spPr>
        <p:txBody>
          <a:bodyPr wrap="none" rtlCol="0">
            <a:spAutoFit/>
          </a:bodyPr>
          <a:lstStyle/>
          <a:p>
            <a:pPr lvl="0"/>
            <a:r>
              <a:rPr lang="en-US" dirty="0" smtClean="0"/>
              <a:t>1.	Write </a:t>
            </a:r>
            <a:r>
              <a:rPr lang="en-US" dirty="0"/>
              <a:t>a python program to print the contents of a directory using </a:t>
            </a:r>
            <a:r>
              <a:rPr lang="en-US" dirty="0" err="1"/>
              <a:t>os</a:t>
            </a:r>
            <a:r>
              <a:rPr lang="en-US" dirty="0"/>
              <a:t> module. </a:t>
            </a:r>
          </a:p>
          <a:p>
            <a:pPr lvl="0"/>
            <a:r>
              <a:rPr lang="en-US" dirty="0"/>
              <a:t>	Search online for the function which does that</a:t>
            </a:r>
            <a:r>
              <a:rPr lang="en-US" dirty="0" smtClean="0"/>
              <a:t>.</a:t>
            </a:r>
          </a:p>
          <a:p>
            <a:pPr marL="342900" indent="-342900">
              <a:buAutoNum type="arabicPeriod" startAt="2"/>
            </a:pPr>
            <a:r>
              <a:rPr lang="en-US" dirty="0" smtClean="0"/>
              <a:t>Install </a:t>
            </a:r>
            <a:r>
              <a:rPr lang="en-US" dirty="0"/>
              <a:t>an external module and use it to perform an operation of your interest</a:t>
            </a:r>
            <a:r>
              <a:rPr lang="en-US" dirty="0" smtClean="0"/>
              <a:t>. </a:t>
            </a:r>
          </a:p>
          <a:p>
            <a:pPr lvl="1"/>
            <a:r>
              <a:rPr lang="en-US" dirty="0" smtClean="0"/>
              <a:t>(</a:t>
            </a:r>
            <a:r>
              <a:rPr lang="en-US" dirty="0"/>
              <a:t>e.g. play MP3 audio)</a:t>
            </a:r>
            <a:r>
              <a:rPr lang="en-US" dirty="0" smtClean="0"/>
              <a:t> </a:t>
            </a:r>
            <a:r>
              <a:rPr lang="en-US" dirty="0"/>
              <a:t> </a:t>
            </a:r>
            <a:endParaRPr lang="en-US" dirty="0" smtClean="0"/>
          </a:p>
          <a:p>
            <a:pPr marL="342900" indent="-342900">
              <a:buAutoNum type="arabicPeriod" startAt="2"/>
            </a:pPr>
            <a:r>
              <a:rPr lang="en-US" dirty="0" smtClean="0"/>
              <a:t>Write </a:t>
            </a:r>
            <a:r>
              <a:rPr lang="en-US" dirty="0"/>
              <a:t>a Python program to add two numbers.</a:t>
            </a:r>
          </a:p>
          <a:p>
            <a:pPr marL="342900" indent="-342900">
              <a:buAutoNum type="arabicPeriod" startAt="2"/>
            </a:pPr>
            <a:r>
              <a:rPr lang="en-US" dirty="0" smtClean="0"/>
              <a:t>Write </a:t>
            </a:r>
            <a:r>
              <a:rPr lang="en-US" dirty="0"/>
              <a:t>a Python program to find the remainder when a number is divided by Z(Integer).</a:t>
            </a:r>
          </a:p>
          <a:p>
            <a:pPr marL="342900" indent="-342900">
              <a:buAutoNum type="arabicPeriod" startAt="2"/>
            </a:pPr>
            <a:r>
              <a:rPr lang="en-US" dirty="0" smtClean="0"/>
              <a:t>Check </a:t>
            </a:r>
            <a:r>
              <a:rPr lang="en-US" dirty="0"/>
              <a:t>the type of the variable assigned using the input() function.</a:t>
            </a:r>
          </a:p>
          <a:p>
            <a:pPr marL="342900" indent="-342900">
              <a:buAutoNum type="arabicPeriod" startAt="2"/>
            </a:pPr>
            <a:r>
              <a:rPr lang="en-US" dirty="0" smtClean="0"/>
              <a:t>Use </a:t>
            </a:r>
            <a:r>
              <a:rPr lang="en-US" dirty="0"/>
              <a:t>a comparison operator to find out whether a given variable a is greater than b or not. </a:t>
            </a:r>
            <a:endParaRPr lang="en-US" dirty="0" smtClean="0"/>
          </a:p>
          <a:p>
            <a:pPr lvl="1"/>
            <a:r>
              <a:rPr lang="en-US" dirty="0" smtClean="0"/>
              <a:t>(</a:t>
            </a:r>
            <a:r>
              <a:rPr lang="en-US" dirty="0"/>
              <a:t>Take a=34 and b=80)</a:t>
            </a:r>
          </a:p>
          <a:p>
            <a:pPr marL="342900" indent="-342900">
              <a:buAutoNum type="arabicPeriod" startAt="2"/>
            </a:pPr>
            <a:r>
              <a:rPr lang="en-US" dirty="0" smtClean="0"/>
              <a:t>Write </a:t>
            </a:r>
            <a:r>
              <a:rPr lang="en-US" dirty="0"/>
              <a:t>a Python program to find the average of two numbers entered by the user.</a:t>
            </a:r>
          </a:p>
          <a:p>
            <a:pPr marL="342900" indent="-342900">
              <a:buFontTx/>
              <a:buAutoNum type="arabicPeriod" startAt="2"/>
            </a:pPr>
            <a:r>
              <a:rPr lang="en-US" dirty="0"/>
              <a:t>Write a Python program to calculate the square of a number entered by the user.</a:t>
            </a:r>
          </a:p>
          <a:p>
            <a:pPr marL="342900" indent="-342900">
              <a:buAutoNum type="arabicPeriod" startAt="2"/>
            </a:pPr>
            <a:endParaRPr lang="en-US" dirty="0" smtClean="0"/>
          </a:p>
          <a:p>
            <a:pPr lvl="0"/>
            <a:endParaRPr lang="en-US" dirty="0"/>
          </a:p>
          <a:p>
            <a:endParaRPr lang="en-US" dirty="0"/>
          </a:p>
        </p:txBody>
      </p:sp>
    </p:spTree>
    <p:extLst>
      <p:ext uri="{BB962C8B-B14F-4D97-AF65-F5344CB8AC3E}">
        <p14:creationId xmlns:p14="http://schemas.microsoft.com/office/powerpoint/2010/main" val="1344124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2616422" cy="584775"/>
          </a:xfrm>
          <a:prstGeom prst="rect">
            <a:avLst/>
          </a:prstGeom>
          <a:noFill/>
        </p:spPr>
        <p:txBody>
          <a:bodyPr wrap="none" rtlCol="0">
            <a:spAutoFit/>
          </a:bodyPr>
          <a:lstStyle/>
          <a:p>
            <a:r>
              <a:rPr lang="en-US" sz="3200" dirty="0" smtClean="0">
                <a:solidFill>
                  <a:schemeClr val="bg1"/>
                </a:solidFill>
              </a:rPr>
              <a:t>String Slicing</a:t>
            </a:r>
            <a:endParaRPr lang="en-US" sz="3200" dirty="0">
              <a:solidFill>
                <a:schemeClr val="bg1"/>
              </a:solidFill>
            </a:endParaRPr>
          </a:p>
        </p:txBody>
      </p:sp>
      <p:sp>
        <p:nvSpPr>
          <p:cNvPr id="3" name="TextBox 2"/>
          <p:cNvSpPr txBox="1"/>
          <p:nvPr/>
        </p:nvSpPr>
        <p:spPr>
          <a:xfrm>
            <a:off x="1167493" y="2604406"/>
            <a:ext cx="7079182" cy="2308324"/>
          </a:xfrm>
          <a:prstGeom prst="rect">
            <a:avLst/>
          </a:prstGeom>
          <a:noFill/>
        </p:spPr>
        <p:txBody>
          <a:bodyPr wrap="none" rtlCol="0">
            <a:spAutoFit/>
          </a:bodyPr>
          <a:lstStyle/>
          <a:p>
            <a:r>
              <a:rPr lang="en-US" dirty="0"/>
              <a:t>A string in Python can be sliced for getting a part of the string.</a:t>
            </a:r>
          </a:p>
          <a:p>
            <a:endParaRPr lang="en-US" dirty="0" smtClean="0"/>
          </a:p>
          <a:p>
            <a:r>
              <a:rPr lang="en-US" dirty="0"/>
              <a:t>The index in a string starts from 0 to (length-1) in Python. </a:t>
            </a:r>
            <a:endParaRPr lang="en-US" dirty="0" smtClean="0"/>
          </a:p>
          <a:p>
            <a:endParaRPr lang="en-US" dirty="0"/>
          </a:p>
          <a:p>
            <a:r>
              <a:rPr lang="en-US" dirty="0" err="1" smtClean="0"/>
              <a:t>aVariable</a:t>
            </a:r>
            <a:r>
              <a:rPr lang="en-US" dirty="0" smtClean="0"/>
              <a:t> = “Welcome”</a:t>
            </a:r>
          </a:p>
          <a:p>
            <a:endParaRPr lang="en-US" dirty="0"/>
          </a:p>
          <a:p>
            <a:endParaRPr lang="en-US" dirty="0" smtClean="0"/>
          </a:p>
          <a:p>
            <a:endParaRPr lang="en-US" dirty="0"/>
          </a:p>
        </p:txBody>
      </p:sp>
      <p:pic>
        <p:nvPicPr>
          <p:cNvPr id="4" name="Picture 3"/>
          <p:cNvPicPr>
            <a:picLocks noChangeAspect="1"/>
          </p:cNvPicPr>
          <p:nvPr/>
        </p:nvPicPr>
        <p:blipFill>
          <a:blip r:embed="rId2"/>
          <a:stretch>
            <a:fillRect/>
          </a:stretch>
        </p:blipFill>
        <p:spPr>
          <a:xfrm>
            <a:off x="10280366" y="3793202"/>
            <a:ext cx="1851024" cy="2959971"/>
          </a:xfrm>
          <a:prstGeom prst="rect">
            <a:avLst/>
          </a:prstGeom>
        </p:spPr>
      </p:pic>
      <p:pic>
        <p:nvPicPr>
          <p:cNvPr id="6" name="Picture 5"/>
          <p:cNvPicPr>
            <a:picLocks noChangeAspect="1"/>
          </p:cNvPicPr>
          <p:nvPr/>
        </p:nvPicPr>
        <p:blipFill>
          <a:blip r:embed="rId3"/>
          <a:stretch>
            <a:fillRect/>
          </a:stretch>
        </p:blipFill>
        <p:spPr>
          <a:xfrm>
            <a:off x="1747157" y="4212097"/>
            <a:ext cx="5823354" cy="2361462"/>
          </a:xfrm>
          <a:prstGeom prst="rect">
            <a:avLst/>
          </a:prstGeom>
        </p:spPr>
      </p:pic>
    </p:spTree>
    <p:extLst>
      <p:ext uri="{BB962C8B-B14F-4D97-AF65-F5344CB8AC3E}">
        <p14:creationId xmlns:p14="http://schemas.microsoft.com/office/powerpoint/2010/main" val="25535618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3238387" cy="584775"/>
          </a:xfrm>
          <a:prstGeom prst="rect">
            <a:avLst/>
          </a:prstGeom>
          <a:noFill/>
        </p:spPr>
        <p:txBody>
          <a:bodyPr wrap="none" rtlCol="0">
            <a:spAutoFit/>
          </a:bodyPr>
          <a:lstStyle/>
          <a:p>
            <a:r>
              <a:rPr lang="en-US" sz="3200" dirty="0">
                <a:solidFill>
                  <a:schemeClr val="bg1"/>
                </a:solidFill>
              </a:rPr>
              <a:t>String Functions</a:t>
            </a:r>
          </a:p>
        </p:txBody>
      </p:sp>
      <p:sp>
        <p:nvSpPr>
          <p:cNvPr id="3" name="TextBox 2"/>
          <p:cNvSpPr txBox="1"/>
          <p:nvPr/>
        </p:nvSpPr>
        <p:spPr>
          <a:xfrm>
            <a:off x="1167493" y="2562461"/>
            <a:ext cx="10987303" cy="3693319"/>
          </a:xfrm>
          <a:prstGeom prst="rect">
            <a:avLst/>
          </a:prstGeom>
          <a:noFill/>
        </p:spPr>
        <p:txBody>
          <a:bodyPr wrap="none" rtlCol="0">
            <a:spAutoFit/>
          </a:bodyPr>
          <a:lstStyle/>
          <a:p>
            <a:r>
              <a:rPr lang="en-US" dirty="0" smtClean="0"/>
              <a:t>1.	</a:t>
            </a:r>
            <a:r>
              <a:rPr lang="en-US" b="1" dirty="0" err="1" smtClean="0"/>
              <a:t>len</a:t>
            </a:r>
            <a:r>
              <a:rPr lang="en-US" b="1" dirty="0"/>
              <a:t>() </a:t>
            </a:r>
            <a:r>
              <a:rPr lang="en-US" dirty="0"/>
              <a:t>function : It returns the length of the string.</a:t>
            </a:r>
          </a:p>
          <a:p>
            <a:r>
              <a:rPr lang="en-US" dirty="0" smtClean="0"/>
              <a:t>					</a:t>
            </a:r>
            <a:r>
              <a:rPr lang="en-US" dirty="0" err="1" smtClean="0"/>
              <a:t>len</a:t>
            </a:r>
            <a:r>
              <a:rPr lang="en-US" dirty="0"/>
              <a:t>(‘harry’)               #Returns 5</a:t>
            </a:r>
          </a:p>
          <a:p>
            <a:r>
              <a:rPr lang="en-US" dirty="0" smtClean="0"/>
              <a:t>2.	</a:t>
            </a:r>
            <a:r>
              <a:rPr lang="en-US" b="1" dirty="0" err="1" smtClean="0"/>
              <a:t>endswith</a:t>
            </a:r>
            <a:r>
              <a:rPr lang="en-US" b="1" dirty="0"/>
              <a:t>(“</a:t>
            </a:r>
            <a:r>
              <a:rPr lang="en-US" b="1" dirty="0" err="1"/>
              <a:t>rry</a:t>
            </a:r>
            <a:r>
              <a:rPr lang="en-US" b="1" dirty="0"/>
              <a:t>”)</a:t>
            </a:r>
            <a:r>
              <a:rPr lang="en-US" dirty="0"/>
              <a:t> : This function tells whether the variable string ends with the string “</a:t>
            </a:r>
            <a:r>
              <a:rPr lang="en-US" dirty="0" err="1"/>
              <a:t>rry</a:t>
            </a:r>
            <a:r>
              <a:rPr lang="en-US" dirty="0"/>
              <a:t>” or not. </a:t>
            </a:r>
            <a:endParaRPr lang="en-US" dirty="0" smtClean="0"/>
          </a:p>
          <a:p>
            <a:pPr lvl="1"/>
            <a:r>
              <a:rPr lang="en-US" dirty="0"/>
              <a:t>	</a:t>
            </a:r>
            <a:r>
              <a:rPr lang="en-US" dirty="0" smtClean="0"/>
              <a:t>			If </a:t>
            </a:r>
            <a:r>
              <a:rPr lang="en-US" dirty="0"/>
              <a:t>string is “harry”, it returns for “</a:t>
            </a:r>
            <a:r>
              <a:rPr lang="en-US" dirty="0" err="1"/>
              <a:t>rry</a:t>
            </a:r>
            <a:r>
              <a:rPr lang="en-US" dirty="0"/>
              <a:t>” since harry ends with </a:t>
            </a:r>
            <a:r>
              <a:rPr lang="en-US" dirty="0" err="1"/>
              <a:t>rry</a:t>
            </a:r>
            <a:r>
              <a:rPr lang="en-US" dirty="0"/>
              <a:t>.</a:t>
            </a:r>
          </a:p>
          <a:p>
            <a:r>
              <a:rPr lang="en-US" dirty="0"/>
              <a:t>3.	</a:t>
            </a:r>
            <a:r>
              <a:rPr lang="en-US" b="1" dirty="0"/>
              <a:t>count(“c”) </a:t>
            </a:r>
            <a:r>
              <a:rPr lang="en-US" dirty="0"/>
              <a:t>: It counts the total number of occurrences of any character.</a:t>
            </a:r>
          </a:p>
          <a:p>
            <a:r>
              <a:rPr lang="en-US" dirty="0"/>
              <a:t>4.	</a:t>
            </a:r>
            <a:r>
              <a:rPr lang="en-US" b="1" dirty="0"/>
              <a:t>capitalize() </a:t>
            </a:r>
            <a:r>
              <a:rPr lang="en-US" dirty="0"/>
              <a:t>: This function capitalizes the first character of a given string.</a:t>
            </a:r>
          </a:p>
          <a:p>
            <a:pPr marL="342900" indent="-342900">
              <a:buAutoNum type="arabicPeriod" startAt="5"/>
            </a:pPr>
            <a:r>
              <a:rPr lang="en-US" b="1" dirty="0" smtClean="0"/>
              <a:t>  find(word)</a:t>
            </a:r>
            <a:r>
              <a:rPr lang="en-US" dirty="0" smtClean="0"/>
              <a:t> </a:t>
            </a:r>
            <a:r>
              <a:rPr lang="en-US" dirty="0"/>
              <a:t>: This function finds a word and returns the index of first occurrence of </a:t>
            </a:r>
            <a:endParaRPr lang="en-US" dirty="0" smtClean="0"/>
          </a:p>
          <a:p>
            <a:pPr lvl="2"/>
            <a:r>
              <a:rPr lang="en-US" dirty="0"/>
              <a:t>	</a:t>
            </a:r>
            <a:r>
              <a:rPr lang="en-US" dirty="0" smtClean="0"/>
              <a:t>	that </a:t>
            </a:r>
            <a:r>
              <a:rPr lang="en-US" dirty="0"/>
              <a:t>word in the string.</a:t>
            </a:r>
          </a:p>
          <a:p>
            <a:pPr marL="342900" indent="-342900">
              <a:buAutoNum type="arabicPeriod" startAt="6"/>
            </a:pPr>
            <a:r>
              <a:rPr lang="en-US" b="1" dirty="0" smtClean="0"/>
              <a:t>  replace(</a:t>
            </a:r>
            <a:r>
              <a:rPr lang="en-US" b="1" dirty="0" err="1" smtClean="0"/>
              <a:t>oldword</a:t>
            </a:r>
            <a:r>
              <a:rPr lang="en-US" b="1" dirty="0"/>
              <a:t>, </a:t>
            </a:r>
            <a:r>
              <a:rPr lang="en-US" b="1" dirty="0" err="1"/>
              <a:t>newword</a:t>
            </a:r>
            <a:r>
              <a:rPr lang="en-US" b="1" dirty="0"/>
              <a:t>) </a:t>
            </a:r>
            <a:r>
              <a:rPr lang="en-US" dirty="0"/>
              <a:t>: This function replaces the old word with the new word </a:t>
            </a:r>
          </a:p>
          <a:p>
            <a:r>
              <a:rPr lang="en-US" dirty="0" smtClean="0"/>
              <a:t>								in </a:t>
            </a:r>
            <a:r>
              <a:rPr lang="en-US" dirty="0"/>
              <a:t>the entire string</a:t>
            </a:r>
            <a:r>
              <a:rPr lang="en-US" dirty="0" smtClean="0"/>
              <a:t>.</a:t>
            </a:r>
          </a:p>
          <a:p>
            <a:endParaRPr lang="en-US" dirty="0"/>
          </a:p>
          <a:p>
            <a:endParaRPr lang="en-US" dirty="0" smtClean="0"/>
          </a:p>
          <a:p>
            <a:endParaRPr lang="en-US" dirty="0"/>
          </a:p>
        </p:txBody>
      </p:sp>
    </p:spTree>
    <p:extLst>
      <p:ext uri="{BB962C8B-B14F-4D97-AF65-F5344CB8AC3E}">
        <p14:creationId xmlns:p14="http://schemas.microsoft.com/office/powerpoint/2010/main" val="22593205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6269665" cy="584775"/>
          </a:xfrm>
          <a:prstGeom prst="rect">
            <a:avLst/>
          </a:prstGeom>
          <a:noFill/>
        </p:spPr>
        <p:txBody>
          <a:bodyPr wrap="none" rtlCol="0">
            <a:spAutoFit/>
          </a:bodyPr>
          <a:lstStyle/>
          <a:p>
            <a:r>
              <a:rPr lang="en-US" sz="3200" dirty="0">
                <a:solidFill>
                  <a:schemeClr val="bg1"/>
                </a:solidFill>
              </a:rPr>
              <a:t>Escape Sequence </a:t>
            </a:r>
            <a:r>
              <a:rPr lang="en-US" sz="3200" dirty="0" smtClean="0">
                <a:solidFill>
                  <a:schemeClr val="bg1"/>
                </a:solidFill>
              </a:rPr>
              <a:t>Characters</a:t>
            </a:r>
            <a:endParaRPr lang="en-US" sz="3200" dirty="0">
              <a:solidFill>
                <a:schemeClr val="bg1"/>
              </a:solidFill>
            </a:endParaRPr>
          </a:p>
        </p:txBody>
      </p:sp>
      <p:sp>
        <p:nvSpPr>
          <p:cNvPr id="3" name="TextBox 2"/>
          <p:cNvSpPr txBox="1"/>
          <p:nvPr/>
        </p:nvSpPr>
        <p:spPr>
          <a:xfrm>
            <a:off x="1167493" y="2562461"/>
            <a:ext cx="8614859" cy="2862322"/>
          </a:xfrm>
          <a:prstGeom prst="rect">
            <a:avLst/>
          </a:prstGeom>
          <a:noFill/>
        </p:spPr>
        <p:txBody>
          <a:bodyPr wrap="none" rtlCol="0">
            <a:spAutoFit/>
          </a:bodyPr>
          <a:lstStyle/>
          <a:p>
            <a:r>
              <a:rPr lang="en-US" dirty="0"/>
              <a:t>Sequence of characters after backslash ‘\’ [Escape Sequence Characters</a:t>
            </a:r>
            <a:r>
              <a:rPr lang="en-US" dirty="0" smtClean="0"/>
              <a:t>]</a:t>
            </a:r>
          </a:p>
          <a:p>
            <a:endParaRPr lang="en-US" dirty="0"/>
          </a:p>
          <a:p>
            <a:r>
              <a:rPr lang="en-US" dirty="0"/>
              <a:t>Escape Sequence Characters comprises of more than one character </a:t>
            </a:r>
            <a:endParaRPr lang="en-US" dirty="0" smtClean="0"/>
          </a:p>
          <a:p>
            <a:r>
              <a:rPr lang="en-US" dirty="0" smtClean="0"/>
              <a:t>but </a:t>
            </a:r>
            <a:r>
              <a:rPr lang="en-US" dirty="0"/>
              <a:t>represents one character when used within the string</a:t>
            </a:r>
            <a:r>
              <a:rPr lang="en-US" dirty="0" smtClean="0"/>
              <a:t>.</a:t>
            </a:r>
          </a:p>
          <a:p>
            <a:endParaRPr lang="en-US" dirty="0"/>
          </a:p>
          <a:p>
            <a:r>
              <a:rPr lang="en-US" dirty="0"/>
              <a:t>Examples: \n (new line), \t (tab), \’ (single quote), \\ (backslash), etc</a:t>
            </a:r>
            <a:r>
              <a:rPr lang="en-US" dirty="0" smtClean="0"/>
              <a:t>.</a:t>
            </a:r>
          </a:p>
          <a:p>
            <a:endParaRPr lang="en-US" dirty="0"/>
          </a:p>
          <a:p>
            <a:endParaRPr lang="en-US" dirty="0" smtClean="0"/>
          </a:p>
          <a:p>
            <a:r>
              <a:rPr lang="en-US" dirty="0" smtClean="0"/>
              <a:t>\     - backslash</a:t>
            </a:r>
          </a:p>
          <a:p>
            <a:r>
              <a:rPr lang="en-US" dirty="0" smtClean="0"/>
              <a:t>/     - forward slash </a:t>
            </a:r>
            <a:endParaRPr lang="en-US" dirty="0"/>
          </a:p>
        </p:txBody>
      </p:sp>
    </p:spTree>
    <p:extLst>
      <p:ext uri="{BB962C8B-B14F-4D97-AF65-F5344CB8AC3E}">
        <p14:creationId xmlns:p14="http://schemas.microsoft.com/office/powerpoint/2010/main" val="15901973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32807" y="1143000"/>
            <a:ext cx="2917786" cy="584775"/>
          </a:xfrm>
          <a:prstGeom prst="rect">
            <a:avLst/>
          </a:prstGeom>
          <a:noFill/>
        </p:spPr>
        <p:txBody>
          <a:bodyPr wrap="none" rtlCol="0">
            <a:spAutoFit/>
          </a:bodyPr>
          <a:lstStyle/>
          <a:p>
            <a:r>
              <a:rPr lang="en-US" sz="3200" dirty="0">
                <a:solidFill>
                  <a:schemeClr val="bg1"/>
                </a:solidFill>
              </a:rPr>
              <a:t>Practice Set 3</a:t>
            </a:r>
          </a:p>
        </p:txBody>
      </p:sp>
      <p:sp>
        <p:nvSpPr>
          <p:cNvPr id="3" name="Rectangle 2"/>
          <p:cNvSpPr/>
          <p:nvPr/>
        </p:nvSpPr>
        <p:spPr>
          <a:xfrm>
            <a:off x="1232807" y="2248444"/>
            <a:ext cx="6096000" cy="3909725"/>
          </a:xfrm>
          <a:prstGeom prst="rect">
            <a:avLst/>
          </a:prstGeom>
        </p:spPr>
        <p:txBody>
          <a:bodyPr>
            <a:spAutoFit/>
          </a:bodyPr>
          <a:lstStyle/>
          <a:p>
            <a:pPr marR="0" lvl="0">
              <a:lnSpc>
                <a:spcPct val="107000"/>
              </a:lnSpc>
              <a:spcBef>
                <a:spcPts val="0"/>
              </a:spcBef>
              <a:spcAft>
                <a:spcPts val="800"/>
              </a:spcAft>
              <a:tabLst>
                <a:tab pos="457200" algn="l"/>
              </a:tabLst>
            </a:pPr>
            <a:r>
              <a:rPr lang="en-US" sz="1400" dirty="0" smtClean="0">
                <a:latin typeface="Calibri" panose="020F0502020204030204" pitchFamily="34" charset="0"/>
                <a:ea typeface="Calibri" panose="020F0502020204030204" pitchFamily="34" charset="0"/>
                <a:cs typeface="Times New Roman" panose="02020603050405020304" pitchFamily="18" charset="0"/>
              </a:rPr>
              <a:t>1.	Write </a:t>
            </a:r>
            <a:r>
              <a:rPr lang="en-US" sz="1400" dirty="0">
                <a:latin typeface="Calibri" panose="020F0502020204030204" pitchFamily="34" charset="0"/>
                <a:ea typeface="Calibri" panose="020F0502020204030204" pitchFamily="34" charset="0"/>
                <a:cs typeface="Times New Roman" panose="02020603050405020304" pitchFamily="18" charset="0"/>
              </a:rPr>
              <a:t>a program to detect double spaces in a string</a:t>
            </a:r>
            <a:r>
              <a:rPr lang="en-US" sz="1400" dirty="0" smtClean="0">
                <a:latin typeface="Calibri" panose="020F0502020204030204" pitchFamily="34" charset="0"/>
                <a:ea typeface="Calibri" panose="020F0502020204030204" pitchFamily="34" charset="0"/>
                <a:cs typeface="Times New Roman" panose="02020603050405020304" pitchFamily="18" charset="0"/>
              </a:rPr>
              <a:t>. (count of double space or count of any char)</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marR="0" lvl="0">
              <a:lnSpc>
                <a:spcPct val="107000"/>
              </a:lnSpc>
              <a:spcBef>
                <a:spcPts val="0"/>
              </a:spcBef>
              <a:spcAft>
                <a:spcPts val="800"/>
              </a:spcAft>
              <a:tabLst>
                <a:tab pos="457200" algn="l"/>
              </a:tabLst>
            </a:pPr>
            <a:r>
              <a:rPr lang="en-US" sz="1400" dirty="0" smtClean="0">
                <a:latin typeface="Calibri" panose="020F0502020204030204" pitchFamily="34" charset="0"/>
                <a:ea typeface="Calibri" panose="020F0502020204030204" pitchFamily="34" charset="0"/>
                <a:cs typeface="Times New Roman" panose="02020603050405020304" pitchFamily="18" charset="0"/>
              </a:rPr>
              <a:t>2.	Write </a:t>
            </a:r>
            <a:r>
              <a:rPr lang="en-US" sz="1400" dirty="0">
                <a:latin typeface="Calibri" panose="020F0502020204030204" pitchFamily="34" charset="0"/>
                <a:ea typeface="Calibri" panose="020F0502020204030204" pitchFamily="34" charset="0"/>
                <a:cs typeface="Times New Roman" panose="02020603050405020304" pitchFamily="18" charset="0"/>
              </a:rPr>
              <a:t>a program to format the following letter using escape sequence characters.</a:t>
            </a:r>
          </a:p>
          <a:p>
            <a:pPr>
              <a:lnSpc>
                <a:spcPct val="107000"/>
              </a:lnSpc>
              <a:spcAft>
                <a:spcPts val="800"/>
              </a:spcAft>
            </a:pPr>
            <a:r>
              <a:rPr lang="en-US" sz="1400" dirty="0" smtClean="0">
                <a:latin typeface="Calibri" panose="020F0502020204030204" pitchFamily="34" charset="0"/>
                <a:ea typeface="Calibri" panose="020F0502020204030204" pitchFamily="34" charset="0"/>
                <a:cs typeface="Times New Roman" panose="02020603050405020304" pitchFamily="18" charset="0"/>
              </a:rPr>
              <a:t>Dear  Candidate, </a:t>
            </a:r>
          </a:p>
          <a:p>
            <a:pPr>
              <a:lnSpc>
                <a:spcPct val="107000"/>
              </a:lnSpc>
              <a:spcAft>
                <a:spcPts val="800"/>
              </a:spcAft>
            </a:pPr>
            <a:r>
              <a:rPr lang="en-US" sz="1400" dirty="0">
                <a:latin typeface="Calibri" panose="020F0502020204030204" pitchFamily="34" charset="0"/>
                <a:ea typeface="Calibri" panose="020F0502020204030204" pitchFamily="34" charset="0"/>
                <a:cs typeface="Times New Roman" panose="02020603050405020304" pitchFamily="18" charset="0"/>
              </a:rPr>
              <a:t>	</a:t>
            </a:r>
            <a:r>
              <a:rPr lang="en-US" sz="1400" dirty="0" smtClean="0">
                <a:latin typeface="Calibri" panose="020F0502020204030204" pitchFamily="34" charset="0"/>
                <a:ea typeface="Calibri" panose="020F0502020204030204" pitchFamily="34" charset="0"/>
                <a:cs typeface="Times New Roman" panose="02020603050405020304" pitchFamily="18" charset="0"/>
              </a:rPr>
              <a:t>We are delight to inform you that you have cleared all rounds of interview and we are extending offer to join us.</a:t>
            </a:r>
          </a:p>
          <a:p>
            <a:pPr>
              <a:lnSpc>
                <a:spcPct val="107000"/>
              </a:lnSpc>
              <a:spcAft>
                <a:spcPts val="800"/>
              </a:spcAft>
            </a:pPr>
            <a:r>
              <a:rPr lang="en-US" sz="1400" dirty="0" smtClean="0">
                <a:latin typeface="Calibri" panose="020F0502020204030204" pitchFamily="34" charset="0"/>
                <a:ea typeface="Calibri" panose="020F0502020204030204" pitchFamily="34" charset="0"/>
                <a:cs typeface="Times New Roman" panose="02020603050405020304" pitchFamily="18" charset="0"/>
              </a:rPr>
              <a:t>Thank you,</a:t>
            </a:r>
          </a:p>
          <a:p>
            <a:pPr>
              <a:lnSpc>
                <a:spcPct val="107000"/>
              </a:lnSpc>
              <a:spcAft>
                <a:spcPts val="800"/>
              </a:spcAft>
            </a:pPr>
            <a:r>
              <a:rPr lang="en-US" sz="1400" dirty="0" smtClean="0">
                <a:latin typeface="Calibri" panose="020F0502020204030204" pitchFamily="34" charset="0"/>
                <a:ea typeface="Calibri" panose="020F0502020204030204" pitchFamily="34" charset="0"/>
                <a:cs typeface="Times New Roman" panose="02020603050405020304" pitchFamily="18" charset="0"/>
              </a:rPr>
              <a:t>HR</a:t>
            </a:r>
          </a:p>
          <a:p>
            <a:pPr>
              <a:lnSpc>
                <a:spcPct val="107000"/>
              </a:lnSpc>
              <a:spcAft>
                <a:spcPts val="800"/>
              </a:spcAft>
            </a:pPr>
            <a:r>
              <a:rPr lang="en-US" sz="1400" dirty="0" smtClean="0">
                <a:latin typeface="Calibri" panose="020F0502020204030204" pitchFamily="34" charset="0"/>
                <a:ea typeface="Calibri" panose="020F0502020204030204" pitchFamily="34" charset="0"/>
                <a:cs typeface="Times New Roman" panose="02020603050405020304" pitchFamily="18" charset="0"/>
              </a:rPr>
              <a:t>3.	From above solution (2) replace ‘Candidate’ with your name and HR name with some other name. By using some string operation function</a:t>
            </a:r>
          </a:p>
          <a:p>
            <a:pPr>
              <a:lnSpc>
                <a:spcPct val="107000"/>
              </a:lnSpc>
              <a:spcAft>
                <a:spcPts val="800"/>
              </a:spcAft>
            </a:pPr>
            <a:r>
              <a:rPr lang="en-US" sz="1400" dirty="0">
                <a:latin typeface="Calibri" panose="020F0502020204030204" pitchFamily="34" charset="0"/>
                <a:ea typeface="Calibri" panose="020F0502020204030204" pitchFamily="34" charset="0"/>
                <a:cs typeface="Times New Roman" panose="02020603050405020304" pitchFamily="18" charset="0"/>
              </a:rPr>
              <a:t>4</a:t>
            </a:r>
            <a:r>
              <a:rPr lang="en-US" sz="1400" dirty="0" smtClean="0">
                <a:latin typeface="Calibri" panose="020F0502020204030204" pitchFamily="34" charset="0"/>
                <a:ea typeface="Calibri" panose="020F0502020204030204" pitchFamily="34" charset="0"/>
                <a:cs typeface="Times New Roman" panose="02020603050405020304" pitchFamily="18" charset="0"/>
              </a:rPr>
              <a:t>.	Replace </a:t>
            </a:r>
            <a:r>
              <a:rPr lang="en-US" sz="1400" dirty="0">
                <a:latin typeface="Calibri" panose="020F0502020204030204" pitchFamily="34" charset="0"/>
                <a:ea typeface="Calibri" panose="020F0502020204030204" pitchFamily="34" charset="0"/>
                <a:cs typeface="Times New Roman" panose="02020603050405020304" pitchFamily="18" charset="0"/>
              </a:rPr>
              <a:t>the double spaces from problem 3 with single spaces.</a:t>
            </a:r>
          </a:p>
          <a:p>
            <a:pPr>
              <a:lnSpc>
                <a:spcPct val="107000"/>
              </a:lnSpc>
              <a:spcAft>
                <a:spcPts val="800"/>
              </a:spcAft>
            </a:pPr>
            <a:endParaRPr lang="en-US" sz="1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263420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1026243" cy="584775"/>
          </a:xfrm>
          <a:prstGeom prst="rect">
            <a:avLst/>
          </a:prstGeom>
          <a:noFill/>
        </p:spPr>
        <p:txBody>
          <a:bodyPr wrap="none" rtlCol="0">
            <a:spAutoFit/>
          </a:bodyPr>
          <a:lstStyle/>
          <a:p>
            <a:r>
              <a:rPr lang="en-US" sz="3200" dirty="0">
                <a:solidFill>
                  <a:schemeClr val="bg1"/>
                </a:solidFill>
              </a:rPr>
              <a:t>Lists </a:t>
            </a:r>
          </a:p>
        </p:txBody>
      </p:sp>
      <p:sp>
        <p:nvSpPr>
          <p:cNvPr id="3" name="TextBox 2"/>
          <p:cNvSpPr txBox="1"/>
          <p:nvPr/>
        </p:nvSpPr>
        <p:spPr>
          <a:xfrm>
            <a:off x="1167493" y="2159690"/>
            <a:ext cx="8941871" cy="5324535"/>
          </a:xfrm>
          <a:prstGeom prst="rect">
            <a:avLst/>
          </a:prstGeom>
          <a:noFill/>
        </p:spPr>
        <p:txBody>
          <a:bodyPr wrap="none" rtlCol="0">
            <a:spAutoFit/>
          </a:bodyPr>
          <a:lstStyle/>
          <a:p>
            <a:r>
              <a:rPr lang="en-US" sz="1600" dirty="0"/>
              <a:t>Python Lists are containers to </a:t>
            </a:r>
            <a:r>
              <a:rPr lang="en-US" sz="1600" b="1" dirty="0"/>
              <a:t>store a set of values </a:t>
            </a:r>
            <a:r>
              <a:rPr lang="en-US" sz="1600" dirty="0"/>
              <a:t>of any data type</a:t>
            </a:r>
            <a:r>
              <a:rPr lang="en-US" sz="1600" dirty="0" smtClean="0"/>
              <a:t>.  (</a:t>
            </a:r>
            <a:r>
              <a:rPr lang="en-US" sz="1600" b="1" dirty="0" smtClean="0"/>
              <a:t>Mutable</a:t>
            </a:r>
            <a:r>
              <a:rPr lang="en-US" sz="1600" dirty="0" smtClean="0"/>
              <a:t> datatype)</a:t>
            </a:r>
          </a:p>
          <a:p>
            <a:endParaRPr lang="en-US" sz="1600" dirty="0"/>
          </a:p>
          <a:p>
            <a:r>
              <a:rPr lang="en-US" sz="1600" dirty="0" smtClean="0"/>
              <a:t>colors </a:t>
            </a:r>
            <a:r>
              <a:rPr lang="en-US" sz="1600" dirty="0"/>
              <a:t>= </a:t>
            </a:r>
            <a:r>
              <a:rPr lang="en-US" sz="1600" dirty="0" smtClean="0"/>
              <a:t>[‘Red’, ‘Yellow’, ‘Green’, </a:t>
            </a:r>
            <a:r>
              <a:rPr lang="en-US" sz="1600" dirty="0"/>
              <a:t>7, False</a:t>
            </a:r>
            <a:r>
              <a:rPr lang="en-US" sz="1600" dirty="0" smtClean="0"/>
              <a:t>]</a:t>
            </a:r>
          </a:p>
          <a:p>
            <a:endParaRPr lang="en-US" sz="1600" dirty="0"/>
          </a:p>
          <a:p>
            <a:r>
              <a:rPr lang="en-US" sz="1600" b="1" dirty="0"/>
              <a:t>List </a:t>
            </a:r>
            <a:r>
              <a:rPr lang="en-US" sz="1600" b="1" dirty="0" smtClean="0"/>
              <a:t>Indexing - </a:t>
            </a:r>
            <a:r>
              <a:rPr lang="en-US" sz="1600" dirty="0"/>
              <a:t>A list can be index just like a string</a:t>
            </a:r>
            <a:r>
              <a:rPr lang="en-US" sz="1600" dirty="0" smtClean="0"/>
              <a:t>.</a:t>
            </a:r>
          </a:p>
          <a:p>
            <a:r>
              <a:rPr lang="en-US" sz="1600" dirty="0" smtClean="0"/>
              <a:t>Friends[0]		#Red</a:t>
            </a:r>
          </a:p>
          <a:p>
            <a:r>
              <a:rPr lang="en-US" sz="1600" b="1" dirty="0"/>
              <a:t>List </a:t>
            </a:r>
            <a:r>
              <a:rPr lang="en-US" sz="1600" b="1" dirty="0" smtClean="0"/>
              <a:t>Slicing</a:t>
            </a:r>
            <a:endParaRPr lang="en-US" sz="1600" dirty="0" smtClean="0"/>
          </a:p>
          <a:p>
            <a:r>
              <a:rPr lang="en-US" sz="1600" dirty="0" smtClean="0"/>
              <a:t>Friends[0:2]		#Red, Yellow</a:t>
            </a:r>
            <a:endParaRPr lang="en-US" sz="1600" dirty="0"/>
          </a:p>
          <a:p>
            <a:r>
              <a:rPr lang="en-US" sz="1600" b="1" dirty="0" smtClean="0"/>
              <a:t>List </a:t>
            </a:r>
            <a:r>
              <a:rPr lang="en-US" sz="1600" b="1" dirty="0"/>
              <a:t>Methods</a:t>
            </a:r>
            <a:endParaRPr lang="en-US" sz="1600" dirty="0"/>
          </a:p>
          <a:p>
            <a:r>
              <a:rPr lang="en-US" sz="1600" dirty="0"/>
              <a:t>Consider the following list:</a:t>
            </a:r>
          </a:p>
          <a:p>
            <a:r>
              <a:rPr lang="en-US" sz="1600" dirty="0"/>
              <a:t>L1 = [1, 8, 7, </a:t>
            </a:r>
            <a:r>
              <a:rPr lang="en-US" sz="1600" dirty="0" smtClean="0"/>
              <a:t>2</a:t>
            </a:r>
            <a:r>
              <a:rPr lang="en-US" sz="1600" dirty="0"/>
              <a:t>, 21, 15</a:t>
            </a:r>
            <a:r>
              <a:rPr lang="en-US" sz="1600" dirty="0" smtClean="0"/>
              <a:t>]   #</a:t>
            </a:r>
            <a:r>
              <a:rPr lang="en-US" sz="1600" dirty="0" err="1" smtClean="0"/>
              <a:t>len</a:t>
            </a:r>
            <a:r>
              <a:rPr lang="en-US" sz="1600" dirty="0" smtClean="0"/>
              <a:t> = 6 </a:t>
            </a:r>
            <a:endParaRPr lang="en-US" sz="1600" dirty="0"/>
          </a:p>
          <a:p>
            <a:pPr lvl="0"/>
            <a:endParaRPr lang="en-US" sz="1600" dirty="0" smtClean="0"/>
          </a:p>
          <a:p>
            <a:pPr lvl="0"/>
            <a:r>
              <a:rPr lang="en-US" sz="1600" b="1" dirty="0" smtClean="0"/>
              <a:t>sort</a:t>
            </a:r>
            <a:r>
              <a:rPr lang="en-US" sz="1600" b="1" dirty="0"/>
              <a:t>()</a:t>
            </a:r>
            <a:r>
              <a:rPr lang="en-US" sz="1600" dirty="0"/>
              <a:t> – updates the list to [1,2,7,8,15,21]</a:t>
            </a:r>
          </a:p>
          <a:p>
            <a:pPr lvl="0"/>
            <a:r>
              <a:rPr lang="en-US" sz="1600" b="1" dirty="0"/>
              <a:t>reverse()</a:t>
            </a:r>
            <a:r>
              <a:rPr lang="en-US" sz="1600" dirty="0"/>
              <a:t> – updates the list to [15,21,2,7,8,1]</a:t>
            </a:r>
          </a:p>
          <a:p>
            <a:pPr lvl="0"/>
            <a:r>
              <a:rPr lang="en-US" sz="1600" b="1" dirty="0" smtClean="0"/>
              <a:t>append(8) </a:t>
            </a:r>
            <a:r>
              <a:rPr lang="en-US" sz="1600" dirty="0" smtClean="0"/>
              <a:t>– adds 8 at the end of the list</a:t>
            </a:r>
          </a:p>
          <a:p>
            <a:pPr lvl="0"/>
            <a:r>
              <a:rPr lang="en-US" sz="1600" b="1" dirty="0" smtClean="0"/>
              <a:t>insert(3,8) </a:t>
            </a:r>
            <a:r>
              <a:rPr lang="en-US" sz="1600" dirty="0" smtClean="0"/>
              <a:t>– This will add 8 at 3 index and rest items will shift index by 1</a:t>
            </a:r>
          </a:p>
          <a:p>
            <a:pPr lvl="0"/>
            <a:r>
              <a:rPr lang="en-US" sz="1600" b="1" dirty="0" smtClean="0"/>
              <a:t>pop(2) </a:t>
            </a:r>
            <a:r>
              <a:rPr lang="en-US" sz="1600" dirty="0" smtClean="0"/>
              <a:t>– It will delete the element at index 2 and return its value</a:t>
            </a:r>
          </a:p>
          <a:p>
            <a:pPr lvl="0"/>
            <a:r>
              <a:rPr lang="en-US" sz="1600" dirty="0"/>
              <a:t>		by default it take default last index if not provided</a:t>
            </a:r>
            <a:endParaRPr lang="en-US" sz="1600" dirty="0" smtClean="0"/>
          </a:p>
          <a:p>
            <a:pPr lvl="0"/>
            <a:r>
              <a:rPr lang="en-US" sz="1600" b="1" dirty="0" smtClean="0"/>
              <a:t>remove(21) </a:t>
            </a:r>
            <a:r>
              <a:rPr lang="en-US" sz="1600" dirty="0" smtClean="0"/>
              <a:t>– It will remove 21 from the last</a:t>
            </a:r>
          </a:p>
          <a:p>
            <a:endParaRPr lang="en-US" dirty="0" smtClean="0"/>
          </a:p>
          <a:p>
            <a:endParaRPr lang="en-US" dirty="0"/>
          </a:p>
        </p:txBody>
      </p:sp>
    </p:spTree>
    <p:extLst>
      <p:ext uri="{BB962C8B-B14F-4D97-AF65-F5344CB8AC3E}">
        <p14:creationId xmlns:p14="http://schemas.microsoft.com/office/powerpoint/2010/main" val="23732148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1510350" cy="584775"/>
          </a:xfrm>
          <a:prstGeom prst="rect">
            <a:avLst/>
          </a:prstGeom>
          <a:noFill/>
        </p:spPr>
        <p:txBody>
          <a:bodyPr wrap="none" rtlCol="0">
            <a:spAutoFit/>
          </a:bodyPr>
          <a:lstStyle/>
          <a:p>
            <a:r>
              <a:rPr lang="en-US" sz="3200" dirty="0">
                <a:solidFill>
                  <a:schemeClr val="bg1"/>
                </a:solidFill>
              </a:rPr>
              <a:t>Tuples </a:t>
            </a:r>
          </a:p>
        </p:txBody>
      </p:sp>
      <p:sp>
        <p:nvSpPr>
          <p:cNvPr id="3" name="TextBox 2"/>
          <p:cNvSpPr txBox="1"/>
          <p:nvPr/>
        </p:nvSpPr>
        <p:spPr>
          <a:xfrm>
            <a:off x="1167493" y="2562461"/>
            <a:ext cx="8255786" cy="3693319"/>
          </a:xfrm>
          <a:prstGeom prst="rect">
            <a:avLst/>
          </a:prstGeom>
          <a:noFill/>
        </p:spPr>
        <p:txBody>
          <a:bodyPr wrap="none" rtlCol="0">
            <a:spAutoFit/>
          </a:bodyPr>
          <a:lstStyle/>
          <a:p>
            <a:r>
              <a:rPr lang="en-US" dirty="0"/>
              <a:t>A tuple is an </a:t>
            </a:r>
            <a:r>
              <a:rPr lang="en-US" b="1" dirty="0"/>
              <a:t>immutable</a:t>
            </a:r>
            <a:r>
              <a:rPr lang="en-US" dirty="0"/>
              <a:t> (can’t change or modified) data type in </a:t>
            </a:r>
            <a:r>
              <a:rPr lang="en-US" dirty="0" smtClean="0"/>
              <a:t>Python</a:t>
            </a:r>
          </a:p>
          <a:p>
            <a:endParaRPr lang="en-US" dirty="0" smtClean="0"/>
          </a:p>
          <a:p>
            <a:r>
              <a:rPr lang="en-US" dirty="0"/>
              <a:t>Once defined, tuple elements can’t be manipulated or </a:t>
            </a:r>
            <a:r>
              <a:rPr lang="en-US" dirty="0" smtClean="0"/>
              <a:t>altered</a:t>
            </a:r>
          </a:p>
          <a:p>
            <a:endParaRPr lang="en-US" dirty="0"/>
          </a:p>
          <a:p>
            <a:r>
              <a:rPr lang="en-US" dirty="0"/>
              <a:t>a = ()              #It is an example of empty tuple </a:t>
            </a:r>
          </a:p>
          <a:p>
            <a:r>
              <a:rPr lang="en-US" dirty="0"/>
              <a:t>a = (1,)           #Tuple with only one element needs a comma</a:t>
            </a:r>
          </a:p>
          <a:p>
            <a:r>
              <a:rPr lang="en-US" dirty="0"/>
              <a:t>a = (1, 7, 2)   #Tuple with more than one </a:t>
            </a:r>
            <a:r>
              <a:rPr lang="en-US" dirty="0" smtClean="0"/>
              <a:t>element</a:t>
            </a:r>
          </a:p>
          <a:p>
            <a:endParaRPr lang="en-US" dirty="0"/>
          </a:p>
          <a:p>
            <a:r>
              <a:rPr lang="en-US" dirty="0"/>
              <a:t>Tuple parentheses are basically optional</a:t>
            </a:r>
          </a:p>
          <a:p>
            <a:r>
              <a:rPr lang="en-US" dirty="0"/>
              <a:t>a = 1, 7, 2       	# is also valid tuple</a:t>
            </a:r>
          </a:p>
          <a:p>
            <a:endParaRPr lang="en-US" dirty="0" smtClean="0"/>
          </a:p>
          <a:p>
            <a:endParaRPr lang="en-US" dirty="0"/>
          </a:p>
          <a:p>
            <a:endParaRPr lang="en-US" dirty="0"/>
          </a:p>
        </p:txBody>
      </p:sp>
      <p:sp>
        <p:nvSpPr>
          <p:cNvPr id="9" name="Rectangle 6"/>
          <p:cNvSpPr>
            <a:spLocks noChangeArrowheads="1"/>
          </p:cNvSpPr>
          <p:nvPr/>
        </p:nvSpPr>
        <p:spPr bwMode="auto">
          <a:xfrm>
            <a:off x="1167493" y="5717818"/>
            <a:ext cx="677478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An empty tuple can </a:t>
            </a:r>
            <a:r>
              <a:rPr lang="en-US" altLang="en-US" dirty="0" smtClean="0"/>
              <a:t>also be </a:t>
            </a:r>
            <a:r>
              <a:rPr lang="en-US" altLang="en-US" dirty="0"/>
              <a:t>created with tuple() without an argument.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err="1"/>
              <a:t>empty_tuple</a:t>
            </a:r>
            <a:r>
              <a:rPr lang="en-US" altLang="en-US" b="1" dirty="0"/>
              <a:t> = () </a:t>
            </a:r>
          </a:p>
        </p:txBody>
      </p:sp>
    </p:spTree>
    <p:extLst>
      <p:ext uri="{BB962C8B-B14F-4D97-AF65-F5344CB8AC3E}">
        <p14:creationId xmlns:p14="http://schemas.microsoft.com/office/powerpoint/2010/main" val="4667890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3328155" cy="584775"/>
          </a:xfrm>
          <a:prstGeom prst="rect">
            <a:avLst/>
          </a:prstGeom>
          <a:noFill/>
        </p:spPr>
        <p:txBody>
          <a:bodyPr wrap="none" rtlCol="0">
            <a:spAutoFit/>
          </a:bodyPr>
          <a:lstStyle/>
          <a:p>
            <a:r>
              <a:rPr lang="en-US" sz="3200" dirty="0">
                <a:solidFill>
                  <a:schemeClr val="bg1"/>
                </a:solidFill>
              </a:rPr>
              <a:t>Tuple </a:t>
            </a:r>
            <a:r>
              <a:rPr lang="en-US" sz="3200" dirty="0" smtClean="0">
                <a:solidFill>
                  <a:schemeClr val="bg1"/>
                </a:solidFill>
              </a:rPr>
              <a:t>methods </a:t>
            </a:r>
            <a:endParaRPr lang="en-US" sz="3200" dirty="0">
              <a:solidFill>
                <a:schemeClr val="bg1"/>
              </a:solidFill>
            </a:endParaRPr>
          </a:p>
        </p:txBody>
      </p:sp>
      <p:sp>
        <p:nvSpPr>
          <p:cNvPr id="3" name="TextBox 2"/>
          <p:cNvSpPr txBox="1"/>
          <p:nvPr/>
        </p:nvSpPr>
        <p:spPr>
          <a:xfrm>
            <a:off x="1167493" y="2652269"/>
            <a:ext cx="7707559" cy="1200329"/>
          </a:xfrm>
          <a:prstGeom prst="rect">
            <a:avLst/>
          </a:prstGeom>
          <a:noFill/>
        </p:spPr>
        <p:txBody>
          <a:bodyPr wrap="none" rtlCol="0">
            <a:spAutoFit/>
          </a:bodyPr>
          <a:lstStyle/>
          <a:p>
            <a:pPr marL="342900" lvl="0" indent="-342900">
              <a:buAutoNum type="arabicPeriod"/>
            </a:pPr>
            <a:r>
              <a:rPr lang="en-US" b="1" dirty="0" smtClean="0"/>
              <a:t> count(1</a:t>
            </a:r>
            <a:r>
              <a:rPr lang="en-US" b="1" dirty="0"/>
              <a:t>) – </a:t>
            </a:r>
            <a:r>
              <a:rPr lang="en-US" dirty="0"/>
              <a:t>It will return the number of times 1 occurs in a</a:t>
            </a:r>
            <a:r>
              <a:rPr lang="en-US" dirty="0" smtClean="0"/>
              <a:t>.</a:t>
            </a:r>
          </a:p>
          <a:p>
            <a:pPr lvl="0"/>
            <a:endParaRPr lang="en-US" dirty="0"/>
          </a:p>
          <a:p>
            <a:pPr lvl="0"/>
            <a:r>
              <a:rPr lang="en-US" b="1" dirty="0" smtClean="0"/>
              <a:t>2.	index(1</a:t>
            </a:r>
            <a:r>
              <a:rPr lang="en-US" b="1" dirty="0"/>
              <a:t>) – </a:t>
            </a:r>
            <a:r>
              <a:rPr lang="en-US" dirty="0"/>
              <a:t>It will return the index of the first occurrence of 1 in a.</a:t>
            </a:r>
          </a:p>
          <a:p>
            <a:endParaRPr lang="en-US" dirty="0"/>
          </a:p>
        </p:txBody>
      </p:sp>
    </p:spTree>
    <p:extLst>
      <p:ext uri="{BB962C8B-B14F-4D97-AF65-F5344CB8AC3E}">
        <p14:creationId xmlns:p14="http://schemas.microsoft.com/office/powerpoint/2010/main" val="10912001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48418" y="1019175"/>
            <a:ext cx="10001250" cy="5838825"/>
          </a:xfrm>
          <a:prstGeom prst="rect">
            <a:avLst/>
          </a:prstGeom>
        </p:spPr>
      </p:pic>
    </p:spTree>
    <p:extLst>
      <p:ext uri="{BB962C8B-B14F-4D97-AF65-F5344CB8AC3E}">
        <p14:creationId xmlns:p14="http://schemas.microsoft.com/office/powerpoint/2010/main" val="25340914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2316660" cy="584775"/>
          </a:xfrm>
          <a:prstGeom prst="rect">
            <a:avLst/>
          </a:prstGeom>
          <a:noFill/>
        </p:spPr>
        <p:txBody>
          <a:bodyPr wrap="none" rtlCol="0">
            <a:spAutoFit/>
          </a:bodyPr>
          <a:lstStyle/>
          <a:p>
            <a:r>
              <a:rPr lang="en-US" sz="3200" dirty="0">
                <a:solidFill>
                  <a:schemeClr val="bg1"/>
                </a:solidFill>
              </a:rPr>
              <a:t>Dictionary </a:t>
            </a:r>
          </a:p>
        </p:txBody>
      </p:sp>
      <p:sp>
        <p:nvSpPr>
          <p:cNvPr id="3" name="TextBox 2"/>
          <p:cNvSpPr txBox="1"/>
          <p:nvPr/>
        </p:nvSpPr>
        <p:spPr>
          <a:xfrm>
            <a:off x="1224643" y="2415505"/>
            <a:ext cx="8151590" cy="5078313"/>
          </a:xfrm>
          <a:prstGeom prst="rect">
            <a:avLst/>
          </a:prstGeom>
          <a:noFill/>
        </p:spPr>
        <p:txBody>
          <a:bodyPr wrap="none" rtlCol="0">
            <a:spAutoFit/>
          </a:bodyPr>
          <a:lstStyle/>
          <a:p>
            <a:r>
              <a:rPr lang="en-US" dirty="0"/>
              <a:t>Dictionary is a collection of key-value pairs</a:t>
            </a:r>
            <a:r>
              <a:rPr lang="en-US" dirty="0" smtClean="0"/>
              <a:t>.</a:t>
            </a:r>
          </a:p>
          <a:p>
            <a:endParaRPr lang="en-US" dirty="0"/>
          </a:p>
          <a:p>
            <a:r>
              <a:rPr lang="en-US" b="1" dirty="0"/>
              <a:t>Properties of Python Dictionaries</a:t>
            </a:r>
          </a:p>
          <a:p>
            <a:r>
              <a:rPr lang="en-US" dirty="0"/>
              <a:t>1.	It is unordered</a:t>
            </a:r>
          </a:p>
          <a:p>
            <a:r>
              <a:rPr lang="en-US" dirty="0"/>
              <a:t>2.	It is mutable</a:t>
            </a:r>
          </a:p>
          <a:p>
            <a:r>
              <a:rPr lang="en-US" dirty="0"/>
              <a:t>3.	It is </a:t>
            </a:r>
            <a:r>
              <a:rPr lang="en-US" dirty="0" smtClean="0"/>
              <a:t>indexed by </a:t>
            </a:r>
            <a:r>
              <a:rPr lang="en-US" b="1" dirty="0" smtClean="0"/>
              <a:t>key</a:t>
            </a:r>
            <a:r>
              <a:rPr lang="en-US" dirty="0" smtClean="0"/>
              <a:t> </a:t>
            </a:r>
            <a:endParaRPr lang="en-US" dirty="0"/>
          </a:p>
          <a:p>
            <a:r>
              <a:rPr lang="en-US" dirty="0"/>
              <a:t>4.	It cannot contain duplicate </a:t>
            </a:r>
            <a:r>
              <a:rPr lang="en-US" dirty="0" smtClean="0"/>
              <a:t>keys  but can contain duplicate values</a:t>
            </a:r>
            <a:endParaRPr lang="en-US" dirty="0"/>
          </a:p>
          <a:p>
            <a:endParaRPr lang="en-US" dirty="0" smtClean="0"/>
          </a:p>
          <a:p>
            <a:r>
              <a:rPr lang="en-US" dirty="0">
                <a:solidFill>
                  <a:srgbClr val="9CDCFE"/>
                </a:solidFill>
                <a:latin typeface="Consolas" panose="020B0609020204030204" pitchFamily="49" charset="0"/>
              </a:rPr>
              <a:t>a</a:t>
            </a:r>
            <a:r>
              <a:rPr lang="en-US" dirty="0">
                <a:solidFill>
                  <a:srgbClr val="D4D4D4"/>
                </a:solidFill>
                <a:latin typeface="Consolas" panose="020B0609020204030204" pitchFamily="49" charset="0"/>
              </a:rPr>
              <a:t> = {</a:t>
            </a:r>
            <a:r>
              <a:rPr lang="en-US" dirty="0">
                <a:solidFill>
                  <a:srgbClr val="CE9178"/>
                </a:solidFill>
                <a:latin typeface="Consolas" panose="020B0609020204030204" pitchFamily="49" charset="0"/>
              </a:rPr>
              <a:t>"key"</a:t>
            </a:r>
            <a:r>
              <a:rPr lang="en-US" dirty="0">
                <a:solidFill>
                  <a:srgbClr val="D4D4D4"/>
                </a:solidFill>
                <a:latin typeface="Consolas" panose="020B0609020204030204" pitchFamily="49" charset="0"/>
              </a:rPr>
              <a:t> : </a:t>
            </a:r>
            <a:r>
              <a:rPr lang="en-US" dirty="0">
                <a:solidFill>
                  <a:srgbClr val="CE9178"/>
                </a:solidFill>
                <a:latin typeface="Consolas" panose="020B0609020204030204" pitchFamily="49" charset="0"/>
              </a:rPr>
              <a:t>"value"</a:t>
            </a:r>
            <a:r>
              <a:rPr lang="en-US" dirty="0">
                <a:solidFill>
                  <a:srgbClr val="D4D4D4"/>
                </a:solidFill>
                <a:latin typeface="Consolas" panose="020B0609020204030204" pitchFamily="49" charset="0"/>
              </a:rPr>
              <a:t>,</a:t>
            </a:r>
          </a:p>
          <a:p>
            <a:r>
              <a:rPr lang="en-US" dirty="0">
                <a:solidFill>
                  <a:srgbClr val="CE9178"/>
                </a:solidFill>
                <a:latin typeface="Consolas" panose="020B0609020204030204" pitchFamily="49" charset="0"/>
              </a:rPr>
              <a:t>"harry"</a:t>
            </a:r>
            <a:r>
              <a:rPr lang="en-US" dirty="0">
                <a:solidFill>
                  <a:srgbClr val="D4D4D4"/>
                </a:solidFill>
                <a:latin typeface="Consolas" panose="020B0609020204030204" pitchFamily="49" charset="0"/>
              </a:rPr>
              <a:t>: </a:t>
            </a:r>
            <a:r>
              <a:rPr lang="en-US" dirty="0">
                <a:solidFill>
                  <a:srgbClr val="CE9178"/>
                </a:solidFill>
                <a:latin typeface="Consolas" panose="020B0609020204030204" pitchFamily="49" charset="0"/>
              </a:rPr>
              <a:t>"code"</a:t>
            </a:r>
            <a:r>
              <a:rPr lang="en-US" dirty="0">
                <a:solidFill>
                  <a:srgbClr val="D4D4D4"/>
                </a:solidFill>
                <a:latin typeface="Consolas" panose="020B0609020204030204" pitchFamily="49" charset="0"/>
              </a:rPr>
              <a:t>,</a:t>
            </a:r>
          </a:p>
          <a:p>
            <a:r>
              <a:rPr lang="en-US" dirty="0">
                <a:solidFill>
                  <a:srgbClr val="CE9178"/>
                </a:solidFill>
                <a:latin typeface="Consolas" panose="020B0609020204030204" pitchFamily="49" charset="0"/>
              </a:rPr>
              <a:t>"marks"</a:t>
            </a:r>
            <a:r>
              <a:rPr lang="en-US" dirty="0">
                <a:solidFill>
                  <a:srgbClr val="D4D4D4"/>
                </a:solidFill>
                <a:latin typeface="Consolas" panose="020B0609020204030204" pitchFamily="49" charset="0"/>
              </a:rPr>
              <a:t> : </a:t>
            </a:r>
            <a:r>
              <a:rPr lang="en-US" dirty="0">
                <a:solidFill>
                  <a:srgbClr val="CE9178"/>
                </a:solidFill>
                <a:latin typeface="Consolas" panose="020B0609020204030204" pitchFamily="49" charset="0"/>
              </a:rPr>
              <a:t>"100"</a:t>
            </a:r>
            <a:r>
              <a:rPr lang="en-US" dirty="0">
                <a:solidFill>
                  <a:srgbClr val="D4D4D4"/>
                </a:solidFill>
                <a:latin typeface="Consolas" panose="020B0609020204030204" pitchFamily="49" charset="0"/>
              </a:rPr>
              <a:t>,</a:t>
            </a:r>
          </a:p>
          <a:p>
            <a:r>
              <a:rPr lang="en-US" dirty="0">
                <a:solidFill>
                  <a:srgbClr val="CE9178"/>
                </a:solidFill>
                <a:latin typeface="Consolas" panose="020B0609020204030204" pitchFamily="49" charset="0"/>
              </a:rPr>
              <a:t>"list"</a:t>
            </a:r>
            <a:r>
              <a:rPr lang="en-US" dirty="0">
                <a:solidFill>
                  <a:srgbClr val="D4D4D4"/>
                </a:solidFill>
                <a:latin typeface="Consolas" panose="020B0609020204030204" pitchFamily="49" charset="0"/>
              </a:rPr>
              <a:t>: [</a:t>
            </a:r>
            <a:r>
              <a:rPr lang="en-US" dirty="0">
                <a:solidFill>
                  <a:srgbClr val="B5CEA8"/>
                </a:solidFill>
                <a:latin typeface="Consolas" panose="020B0609020204030204" pitchFamily="49" charset="0"/>
              </a:rPr>
              <a:t>1</a:t>
            </a:r>
            <a:r>
              <a:rPr lang="en-US" dirty="0">
                <a:solidFill>
                  <a:srgbClr val="D4D4D4"/>
                </a:solidFill>
                <a:latin typeface="Consolas" panose="020B0609020204030204" pitchFamily="49" charset="0"/>
              </a:rPr>
              <a:t>,</a:t>
            </a:r>
            <a:r>
              <a:rPr lang="en-US" dirty="0">
                <a:solidFill>
                  <a:srgbClr val="B5CEA8"/>
                </a:solidFill>
                <a:latin typeface="Consolas" panose="020B0609020204030204" pitchFamily="49" charset="0"/>
              </a:rPr>
              <a:t>2</a:t>
            </a:r>
            <a:r>
              <a:rPr lang="en-US" dirty="0">
                <a:solidFill>
                  <a:srgbClr val="D4D4D4"/>
                </a:solidFill>
                <a:latin typeface="Consolas" panose="020B0609020204030204" pitchFamily="49" charset="0"/>
              </a:rPr>
              <a:t>,</a:t>
            </a:r>
            <a:r>
              <a:rPr lang="en-US" dirty="0">
                <a:solidFill>
                  <a:srgbClr val="B5CEA8"/>
                </a:solidFill>
                <a:latin typeface="Consolas" panose="020B0609020204030204" pitchFamily="49" charset="0"/>
              </a:rPr>
              <a:t>9</a:t>
            </a:r>
            <a:r>
              <a:rPr lang="en-US" dirty="0">
                <a:solidFill>
                  <a:srgbClr val="D4D4D4"/>
                </a:solidFill>
                <a:latin typeface="Consolas" panose="020B0609020204030204" pitchFamily="49" charset="0"/>
              </a:rPr>
              <a:t>]</a:t>
            </a:r>
          </a:p>
          <a:p>
            <a:r>
              <a:rPr lang="en-US" dirty="0">
                <a:solidFill>
                  <a:srgbClr val="D4D4D4"/>
                </a:solidFill>
                <a:latin typeface="Consolas" panose="020B0609020204030204" pitchFamily="49" charset="0"/>
              </a:rPr>
              <a:t>}</a:t>
            </a:r>
          </a:p>
          <a:p>
            <a:r>
              <a:rPr lang="en-US" dirty="0">
                <a:solidFill>
                  <a:srgbClr val="9CDCFE"/>
                </a:solidFill>
                <a:latin typeface="Consolas" panose="020B0609020204030204" pitchFamily="49" charset="0"/>
              </a:rPr>
              <a:t>a</a:t>
            </a:r>
            <a:r>
              <a:rPr lang="en-US" dirty="0">
                <a:solidFill>
                  <a:srgbClr val="D4D4D4"/>
                </a:solidFill>
                <a:latin typeface="Consolas" panose="020B0609020204030204" pitchFamily="49" charset="0"/>
              </a:rPr>
              <a:t>[</a:t>
            </a:r>
            <a:r>
              <a:rPr lang="en-US" dirty="0">
                <a:solidFill>
                  <a:srgbClr val="CE9178"/>
                </a:solidFill>
                <a:latin typeface="Consolas" panose="020B0609020204030204" pitchFamily="49" charset="0"/>
              </a:rPr>
              <a:t>"key"</a:t>
            </a:r>
            <a:r>
              <a:rPr lang="en-US" dirty="0">
                <a:solidFill>
                  <a:srgbClr val="D4D4D4"/>
                </a:solidFill>
                <a:latin typeface="Consolas" panose="020B0609020204030204" pitchFamily="49" charset="0"/>
              </a:rPr>
              <a:t>]    </a:t>
            </a:r>
            <a:r>
              <a:rPr lang="en-US" dirty="0">
                <a:solidFill>
                  <a:srgbClr val="6A9955"/>
                </a:solidFill>
                <a:latin typeface="Consolas" panose="020B0609020204030204" pitchFamily="49" charset="0"/>
              </a:rPr>
              <a:t># Prints value</a:t>
            </a:r>
            <a:endParaRPr lang="en-US" dirty="0">
              <a:solidFill>
                <a:srgbClr val="D4D4D4"/>
              </a:solidFill>
              <a:latin typeface="Consolas" panose="020B0609020204030204" pitchFamily="49" charset="0"/>
            </a:endParaRPr>
          </a:p>
          <a:p>
            <a:r>
              <a:rPr lang="en-US" dirty="0">
                <a:solidFill>
                  <a:srgbClr val="9CDCFE"/>
                </a:solidFill>
                <a:latin typeface="Consolas" panose="020B0609020204030204" pitchFamily="49" charset="0"/>
              </a:rPr>
              <a:t>a</a:t>
            </a:r>
            <a:r>
              <a:rPr lang="en-US" dirty="0">
                <a:solidFill>
                  <a:srgbClr val="D4D4D4"/>
                </a:solidFill>
                <a:latin typeface="Consolas" panose="020B0609020204030204" pitchFamily="49" charset="0"/>
              </a:rPr>
              <a:t>[</a:t>
            </a:r>
            <a:r>
              <a:rPr lang="en-US" dirty="0">
                <a:solidFill>
                  <a:srgbClr val="CE9178"/>
                </a:solidFill>
                <a:latin typeface="Consolas" panose="020B0609020204030204" pitchFamily="49" charset="0"/>
              </a:rPr>
              <a:t>"list"</a:t>
            </a:r>
            <a:r>
              <a:rPr lang="en-US" dirty="0">
                <a:solidFill>
                  <a:srgbClr val="D4D4D4"/>
                </a:solidFill>
                <a:latin typeface="Consolas" panose="020B0609020204030204" pitchFamily="49" charset="0"/>
              </a:rPr>
              <a:t>]   </a:t>
            </a:r>
            <a:r>
              <a:rPr lang="en-US" dirty="0">
                <a:solidFill>
                  <a:srgbClr val="6A9955"/>
                </a:solidFill>
                <a:latin typeface="Consolas" panose="020B0609020204030204" pitchFamily="49" charset="0"/>
              </a:rPr>
              <a:t># Prints [1,2,9] </a:t>
            </a:r>
            <a:endParaRPr lang="en-US" dirty="0">
              <a:solidFill>
                <a:srgbClr val="D4D4D4"/>
              </a:solidFill>
              <a:latin typeface="Consolas" panose="020B0609020204030204" pitchFamily="49" charset="0"/>
            </a:endParaRPr>
          </a:p>
          <a:p>
            <a:r>
              <a:rPr lang="en-US" dirty="0">
                <a:solidFill>
                  <a:srgbClr val="D4D4D4"/>
                </a:solidFill>
                <a:latin typeface="Consolas" panose="020B0609020204030204" pitchFamily="49" charset="0"/>
              </a:rPr>
              <a:t/>
            </a:r>
            <a:br>
              <a:rPr lang="en-US" dirty="0">
                <a:solidFill>
                  <a:srgbClr val="D4D4D4"/>
                </a:solidFill>
                <a:latin typeface="Consolas" panose="020B0609020204030204" pitchFamily="49" charset="0"/>
              </a:rPr>
            </a:br>
            <a:endParaRPr lang="en-US" dirty="0">
              <a:solidFill>
                <a:srgbClr val="D4D4D4"/>
              </a:solidFill>
              <a:latin typeface="Consolas" panose="020B0609020204030204" pitchFamily="49" charset="0"/>
            </a:endParaRPr>
          </a:p>
          <a:p>
            <a:endParaRPr lang="en-US" dirty="0"/>
          </a:p>
        </p:txBody>
      </p:sp>
    </p:spTree>
    <p:extLst>
      <p:ext uri="{BB962C8B-B14F-4D97-AF65-F5344CB8AC3E}">
        <p14:creationId xmlns:p14="http://schemas.microsoft.com/office/powerpoint/2010/main" val="32642235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4171335" cy="584775"/>
          </a:xfrm>
          <a:prstGeom prst="rect">
            <a:avLst/>
          </a:prstGeom>
          <a:noFill/>
        </p:spPr>
        <p:txBody>
          <a:bodyPr wrap="none" rtlCol="0">
            <a:spAutoFit/>
          </a:bodyPr>
          <a:lstStyle/>
          <a:p>
            <a:r>
              <a:rPr lang="en-US" sz="3200" dirty="0">
                <a:solidFill>
                  <a:schemeClr val="bg1"/>
                </a:solidFill>
              </a:rPr>
              <a:t>Dictionary Methods </a:t>
            </a:r>
          </a:p>
        </p:txBody>
      </p:sp>
      <p:sp>
        <p:nvSpPr>
          <p:cNvPr id="3" name="TextBox 2"/>
          <p:cNvSpPr txBox="1"/>
          <p:nvPr/>
        </p:nvSpPr>
        <p:spPr>
          <a:xfrm>
            <a:off x="1167493" y="2301205"/>
            <a:ext cx="10704467" cy="3139321"/>
          </a:xfrm>
          <a:prstGeom prst="rect">
            <a:avLst/>
          </a:prstGeom>
          <a:noFill/>
        </p:spPr>
        <p:txBody>
          <a:bodyPr wrap="square" rtlCol="0">
            <a:spAutoFit/>
          </a:bodyPr>
          <a:lstStyle/>
          <a:p>
            <a:r>
              <a:rPr lang="en-US" dirty="0">
                <a:latin typeface="Consolas" panose="020B0609020204030204" pitchFamily="49" charset="0"/>
              </a:rPr>
              <a:t>1.	</a:t>
            </a:r>
            <a:r>
              <a:rPr lang="en-US" b="1" dirty="0"/>
              <a:t>items() </a:t>
            </a:r>
            <a:r>
              <a:rPr lang="en-US" dirty="0"/>
              <a:t>: returns a list of (</a:t>
            </a:r>
            <a:r>
              <a:rPr lang="en-US" dirty="0" err="1"/>
              <a:t>key,value</a:t>
            </a:r>
            <a:r>
              <a:rPr lang="en-US" dirty="0"/>
              <a:t>) tuple.</a:t>
            </a:r>
          </a:p>
          <a:p>
            <a:r>
              <a:rPr lang="en-US" dirty="0"/>
              <a:t>2.	</a:t>
            </a:r>
            <a:r>
              <a:rPr lang="en-US" b="1" dirty="0"/>
              <a:t>keys() </a:t>
            </a:r>
            <a:r>
              <a:rPr lang="en-US" dirty="0"/>
              <a:t>: returns a list containing dictionary’s keys.</a:t>
            </a:r>
          </a:p>
          <a:p>
            <a:r>
              <a:rPr lang="en-US" dirty="0" smtClean="0"/>
              <a:t>3.	</a:t>
            </a:r>
            <a:r>
              <a:rPr lang="en-US" b="1" dirty="0" smtClean="0"/>
              <a:t>update({“friend”: “Sam”}) </a:t>
            </a:r>
            <a:r>
              <a:rPr lang="en-US" dirty="0" smtClean="0"/>
              <a:t>: updates the dictionary with supplied key-value pairs.</a:t>
            </a:r>
          </a:p>
          <a:p>
            <a:pPr marL="342900" indent="-342900">
              <a:buAutoNum type="arabicPeriod" startAt="4"/>
            </a:pPr>
            <a:r>
              <a:rPr lang="en-US" b="1" dirty="0" smtClean="0"/>
              <a:t>  get</a:t>
            </a:r>
            <a:r>
              <a:rPr lang="en-US" b="1" dirty="0"/>
              <a:t>(“name”) </a:t>
            </a:r>
            <a:r>
              <a:rPr lang="en-US" dirty="0"/>
              <a:t>: returns the value of the specified keys (and value is returned </a:t>
            </a:r>
          </a:p>
          <a:p>
            <a:r>
              <a:rPr lang="en-US" dirty="0" smtClean="0"/>
              <a:t>		e.g</a:t>
            </a:r>
            <a:r>
              <a:rPr lang="en-US" dirty="0"/>
              <a:t>., “Harry” is returned here)</a:t>
            </a:r>
          </a:p>
          <a:p>
            <a:r>
              <a:rPr lang="en-US" dirty="0" smtClean="0">
                <a:solidFill>
                  <a:srgbClr val="D4D4D4"/>
                </a:solidFill>
                <a:latin typeface="Consolas" panose="020B0609020204030204" pitchFamily="49" charset="0"/>
              </a:rPr>
              <a:t>	</a:t>
            </a:r>
          </a:p>
          <a:p>
            <a:r>
              <a:rPr lang="en-US" dirty="0" smtClean="0">
                <a:solidFill>
                  <a:srgbClr val="D4D4D4"/>
                </a:solidFill>
                <a:latin typeface="Consolas" panose="020B0609020204030204" pitchFamily="49" charset="0"/>
              </a:rPr>
              <a:t>Get – will return value of specified key and if key not present then returns None</a:t>
            </a:r>
          </a:p>
          <a:p>
            <a:r>
              <a:rPr lang="en-US" dirty="0" smtClean="0">
                <a:solidFill>
                  <a:srgbClr val="D4D4D4"/>
                </a:solidFill>
                <a:latin typeface="Consolas" panose="020B0609020204030204" pitchFamily="49" charset="0"/>
              </a:rPr>
              <a:t>[“key”] – this will return value of specified key and if key is not present then gives error</a:t>
            </a:r>
            <a:br>
              <a:rPr lang="en-US" dirty="0" smtClean="0">
                <a:solidFill>
                  <a:srgbClr val="D4D4D4"/>
                </a:solidFill>
                <a:latin typeface="Consolas" panose="020B0609020204030204" pitchFamily="49" charset="0"/>
              </a:rPr>
            </a:br>
            <a:endParaRPr lang="en-US" dirty="0" smtClean="0">
              <a:solidFill>
                <a:srgbClr val="D4D4D4"/>
              </a:solidFill>
              <a:latin typeface="Consolas" panose="020B0609020204030204" pitchFamily="49" charset="0"/>
            </a:endParaRPr>
          </a:p>
          <a:p>
            <a:endParaRPr lang="en-US" dirty="0"/>
          </a:p>
        </p:txBody>
      </p:sp>
    </p:spTree>
    <p:extLst>
      <p:ext uri="{BB962C8B-B14F-4D97-AF65-F5344CB8AC3E}">
        <p14:creationId xmlns:p14="http://schemas.microsoft.com/office/powerpoint/2010/main" val="6566552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2885726" cy="584775"/>
          </a:xfrm>
          <a:prstGeom prst="rect">
            <a:avLst/>
          </a:prstGeom>
          <a:noFill/>
        </p:spPr>
        <p:txBody>
          <a:bodyPr wrap="none" rtlCol="0">
            <a:spAutoFit/>
          </a:bodyPr>
          <a:lstStyle/>
          <a:p>
            <a:r>
              <a:rPr lang="en-US" sz="3200" dirty="0">
                <a:solidFill>
                  <a:schemeClr val="bg1"/>
                </a:solidFill>
              </a:rPr>
              <a:t>Sets in Python</a:t>
            </a:r>
          </a:p>
        </p:txBody>
      </p:sp>
      <p:sp>
        <p:nvSpPr>
          <p:cNvPr id="3" name="TextBox 2"/>
          <p:cNvSpPr txBox="1"/>
          <p:nvPr/>
        </p:nvSpPr>
        <p:spPr>
          <a:xfrm>
            <a:off x="1167493" y="2301205"/>
            <a:ext cx="7284366" cy="2585323"/>
          </a:xfrm>
          <a:prstGeom prst="rect">
            <a:avLst/>
          </a:prstGeom>
          <a:noFill/>
        </p:spPr>
        <p:txBody>
          <a:bodyPr wrap="none" rtlCol="0">
            <a:spAutoFit/>
          </a:bodyPr>
          <a:lstStyle/>
          <a:p>
            <a:r>
              <a:rPr lang="en-US" dirty="0"/>
              <a:t>Set is a collection of non-repetitive </a:t>
            </a:r>
            <a:r>
              <a:rPr lang="en-US" dirty="0" smtClean="0"/>
              <a:t>elements</a:t>
            </a:r>
          </a:p>
          <a:p>
            <a:endParaRPr lang="en-US" dirty="0"/>
          </a:p>
          <a:p>
            <a:r>
              <a:rPr lang="en-US" b="1" dirty="0"/>
              <a:t>Properties of Sets</a:t>
            </a:r>
          </a:p>
          <a:p>
            <a:r>
              <a:rPr lang="en-US" dirty="0"/>
              <a:t>1.	Sets are unordered # Elements order doesn’t matter</a:t>
            </a:r>
          </a:p>
          <a:p>
            <a:r>
              <a:rPr lang="en-US" dirty="0"/>
              <a:t>2.	Sets are unindexed # Cannot access elements by index</a:t>
            </a:r>
          </a:p>
          <a:p>
            <a:pPr marL="342900" indent="-342900">
              <a:buAutoNum type="arabicPeriod" startAt="3"/>
            </a:pPr>
            <a:r>
              <a:rPr lang="en-US" dirty="0" smtClean="0"/>
              <a:t>  There </a:t>
            </a:r>
            <a:r>
              <a:rPr lang="en-US" dirty="0"/>
              <a:t>is no way to change items in </a:t>
            </a:r>
            <a:r>
              <a:rPr lang="en-US" dirty="0" smtClean="0"/>
              <a:t>sets  - </a:t>
            </a:r>
            <a:r>
              <a:rPr lang="en-US" b="1" dirty="0" smtClean="0"/>
              <a:t>Immutable</a:t>
            </a:r>
            <a:r>
              <a:rPr lang="en-US" dirty="0" smtClean="0"/>
              <a:t> items</a:t>
            </a:r>
          </a:p>
          <a:p>
            <a:pPr lvl="1"/>
            <a:r>
              <a:rPr lang="en-US" dirty="0" smtClean="0"/>
              <a:t>	Set is as whole mutable but inside items are immutable </a:t>
            </a:r>
            <a:endParaRPr lang="en-US" dirty="0"/>
          </a:p>
          <a:p>
            <a:r>
              <a:rPr lang="en-US" dirty="0"/>
              <a:t>4.	Sets cannot contain duplicate </a:t>
            </a:r>
            <a:r>
              <a:rPr lang="en-US" dirty="0" smtClean="0"/>
              <a:t>values  </a:t>
            </a:r>
            <a:endParaRPr lang="en-US" dirty="0"/>
          </a:p>
          <a:p>
            <a:endParaRPr lang="en-US" dirty="0"/>
          </a:p>
        </p:txBody>
      </p:sp>
      <p:sp>
        <p:nvSpPr>
          <p:cNvPr id="4" name="Rectangle 3"/>
          <p:cNvSpPr/>
          <p:nvPr/>
        </p:nvSpPr>
        <p:spPr>
          <a:xfrm>
            <a:off x="1167493" y="5191124"/>
            <a:ext cx="6096000" cy="1200329"/>
          </a:xfrm>
          <a:prstGeom prst="rect">
            <a:avLst/>
          </a:prstGeom>
        </p:spPr>
        <p:txBody>
          <a:bodyPr>
            <a:spAutoFit/>
          </a:bodyPr>
          <a:lstStyle/>
          <a:p>
            <a:r>
              <a:rPr lang="en-US" dirty="0">
                <a:solidFill>
                  <a:srgbClr val="000000"/>
                </a:solidFill>
                <a:latin typeface="Segoe UI" panose="020B0502040204020203" pitchFamily="34" charset="0"/>
              </a:rPr>
              <a:t># Add multiple elements in set by passing them as a tuple</a:t>
            </a:r>
            <a:br>
              <a:rPr lang="en-US" dirty="0">
                <a:solidFill>
                  <a:srgbClr val="000000"/>
                </a:solidFill>
                <a:latin typeface="Segoe UI" panose="020B0502040204020203" pitchFamily="34" charset="0"/>
              </a:rPr>
            </a:br>
            <a:r>
              <a:rPr lang="en-US" dirty="0" err="1">
                <a:solidFill>
                  <a:srgbClr val="000000"/>
                </a:solidFill>
                <a:latin typeface="Segoe UI" panose="020B0502040204020203" pitchFamily="34" charset="0"/>
              </a:rPr>
              <a:t>sample_set.update</a:t>
            </a:r>
            <a:r>
              <a:rPr lang="en-US" dirty="0">
                <a:solidFill>
                  <a:srgbClr val="000000"/>
                </a:solidFill>
                <a:latin typeface="Segoe UI" panose="020B0502040204020203" pitchFamily="34" charset="0"/>
              </a:rPr>
              <a:t>((10, 20, 30</a:t>
            </a:r>
            <a:r>
              <a:rPr lang="en-US" dirty="0" smtClean="0">
                <a:solidFill>
                  <a:srgbClr val="000000"/>
                </a:solidFill>
                <a:latin typeface="Segoe UI" panose="020B0502040204020203" pitchFamily="34" charset="0"/>
              </a:rPr>
              <a:t>))  </a:t>
            </a:r>
          </a:p>
          <a:p>
            <a:endParaRPr lang="en-US" b="0" i="0" dirty="0">
              <a:solidFill>
                <a:srgbClr val="000000"/>
              </a:solidFill>
              <a:effectLst/>
              <a:latin typeface="Segoe UI" panose="020B0502040204020203" pitchFamily="34" charset="0"/>
            </a:endParaRPr>
          </a:p>
          <a:p>
            <a:endParaRPr lang="en-US" b="0" i="0" dirty="0">
              <a:solidFill>
                <a:srgbClr val="000000"/>
              </a:solidFill>
              <a:effectLst/>
              <a:latin typeface="Segoe UI" panose="020B0502040204020203" pitchFamily="34" charset="0"/>
            </a:endParaRPr>
          </a:p>
        </p:txBody>
      </p:sp>
    </p:spTree>
    <p:extLst>
      <p:ext uri="{BB962C8B-B14F-4D97-AF65-F5344CB8AC3E}">
        <p14:creationId xmlns:p14="http://schemas.microsoft.com/office/powerpoint/2010/main" val="22355864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3908442" cy="584775"/>
          </a:xfrm>
          <a:prstGeom prst="rect">
            <a:avLst/>
          </a:prstGeom>
          <a:noFill/>
        </p:spPr>
        <p:txBody>
          <a:bodyPr wrap="none" rtlCol="0">
            <a:spAutoFit/>
          </a:bodyPr>
          <a:lstStyle/>
          <a:p>
            <a:r>
              <a:rPr lang="en-US" sz="3200" dirty="0">
                <a:solidFill>
                  <a:schemeClr val="bg1"/>
                </a:solidFill>
              </a:rPr>
              <a:t>Operations on Sets</a:t>
            </a:r>
          </a:p>
        </p:txBody>
      </p:sp>
      <p:sp>
        <p:nvSpPr>
          <p:cNvPr id="3" name="TextBox 2"/>
          <p:cNvSpPr txBox="1"/>
          <p:nvPr/>
        </p:nvSpPr>
        <p:spPr>
          <a:xfrm>
            <a:off x="1167493" y="2301205"/>
            <a:ext cx="9797875" cy="3970318"/>
          </a:xfrm>
          <a:prstGeom prst="rect">
            <a:avLst/>
          </a:prstGeom>
          <a:noFill/>
        </p:spPr>
        <p:txBody>
          <a:bodyPr wrap="none" rtlCol="0">
            <a:spAutoFit/>
          </a:bodyPr>
          <a:lstStyle/>
          <a:p>
            <a:r>
              <a:rPr lang="en-US" dirty="0" smtClean="0"/>
              <a:t>Consider </a:t>
            </a:r>
            <a:r>
              <a:rPr lang="en-US" dirty="0"/>
              <a:t>the following set:</a:t>
            </a:r>
          </a:p>
          <a:p>
            <a:r>
              <a:rPr lang="en-US" dirty="0"/>
              <a:t>S = {1,8,2,3}</a:t>
            </a:r>
          </a:p>
          <a:p>
            <a:endParaRPr lang="en-US" dirty="0" smtClean="0"/>
          </a:p>
          <a:p>
            <a:endParaRPr lang="en-US" dirty="0"/>
          </a:p>
          <a:p>
            <a:pPr lvl="0"/>
            <a:r>
              <a:rPr lang="en-US" b="1" dirty="0"/>
              <a:t>Len(s) : </a:t>
            </a:r>
            <a:r>
              <a:rPr lang="en-US" dirty="0"/>
              <a:t>Returns 4, the length of the set</a:t>
            </a:r>
          </a:p>
          <a:p>
            <a:pPr lvl="0"/>
            <a:r>
              <a:rPr lang="en-US" b="1" dirty="0"/>
              <a:t>remove(8) : </a:t>
            </a:r>
            <a:r>
              <a:rPr lang="en-US" dirty="0"/>
              <a:t>Updates the set S and removes 8 from S</a:t>
            </a:r>
          </a:p>
          <a:p>
            <a:pPr lvl="0"/>
            <a:r>
              <a:rPr lang="en-US" b="1" dirty="0"/>
              <a:t>pop() : </a:t>
            </a:r>
            <a:r>
              <a:rPr lang="en-US" dirty="0"/>
              <a:t>Removes an </a:t>
            </a:r>
            <a:r>
              <a:rPr lang="en-US" dirty="0" smtClean="0"/>
              <a:t>random </a:t>
            </a:r>
            <a:r>
              <a:rPr lang="en-US" dirty="0"/>
              <a:t>element from the set and returns the element removed.</a:t>
            </a:r>
          </a:p>
          <a:p>
            <a:pPr lvl="0"/>
            <a:r>
              <a:rPr lang="en-US" b="1" dirty="0"/>
              <a:t>clear() : </a:t>
            </a:r>
            <a:r>
              <a:rPr lang="en-US" dirty="0"/>
              <a:t>Empties the set S</a:t>
            </a:r>
          </a:p>
          <a:p>
            <a:pPr lvl="0"/>
            <a:r>
              <a:rPr lang="en-US" b="1" dirty="0"/>
              <a:t>union({8, 11}) : </a:t>
            </a:r>
            <a:r>
              <a:rPr lang="en-US" dirty="0"/>
              <a:t>Returns a new set with all items from both sets. #{1,8,2,3,11}</a:t>
            </a:r>
          </a:p>
          <a:p>
            <a:pPr lvl="0"/>
            <a:r>
              <a:rPr lang="en-US" b="1" dirty="0"/>
              <a:t>intersection({8, 11}) : </a:t>
            </a:r>
            <a:r>
              <a:rPr lang="en-US" dirty="0"/>
              <a:t>Returns a set which contains only items in both sets. #{8</a:t>
            </a:r>
            <a:r>
              <a:rPr lang="en-US" dirty="0" smtClean="0"/>
              <a:t>}</a:t>
            </a:r>
          </a:p>
          <a:p>
            <a:pPr lvl="0"/>
            <a:endParaRPr lang="en-US" dirty="0"/>
          </a:p>
          <a:p>
            <a:pPr lvl="0"/>
            <a:endParaRPr lang="en-US" dirty="0"/>
          </a:p>
          <a:p>
            <a:r>
              <a:rPr lang="en-US" dirty="0"/>
              <a:t>Note : If we specify empty set with {}   then default type will be dictionary &lt;class '</a:t>
            </a:r>
            <a:r>
              <a:rPr lang="en-US" dirty="0" err="1"/>
              <a:t>dict</a:t>
            </a:r>
            <a:r>
              <a:rPr lang="en-US" dirty="0"/>
              <a:t>'&gt;</a:t>
            </a:r>
          </a:p>
          <a:p>
            <a:endParaRPr lang="en-US" dirty="0"/>
          </a:p>
        </p:txBody>
      </p:sp>
    </p:spTree>
    <p:extLst>
      <p:ext uri="{BB962C8B-B14F-4D97-AF65-F5344CB8AC3E}">
        <p14:creationId xmlns:p14="http://schemas.microsoft.com/office/powerpoint/2010/main" val="38765803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ttps://api.codewithharry.com/media/videoSeriesFiles/courseFiles/python-tutorial-easy-for-beginners/SET1PY.png"/>
          <p:cNvPicPr/>
          <p:nvPr/>
        </p:nvPicPr>
        <p:blipFill>
          <a:blip r:embed="rId2">
            <a:extLst>
              <a:ext uri="{28A0092B-C50C-407E-A947-70E740481C1C}">
                <a14:useLocalDpi xmlns:a14="http://schemas.microsoft.com/office/drawing/2010/main" val="0"/>
              </a:ext>
            </a:extLst>
          </a:blip>
          <a:srcRect/>
          <a:stretch>
            <a:fillRect/>
          </a:stretch>
        </p:blipFill>
        <p:spPr bwMode="auto">
          <a:xfrm>
            <a:off x="2432413" y="2862943"/>
            <a:ext cx="6576060" cy="2781300"/>
          </a:xfrm>
          <a:prstGeom prst="rect">
            <a:avLst/>
          </a:prstGeom>
          <a:noFill/>
          <a:ln>
            <a:noFill/>
          </a:ln>
        </p:spPr>
      </p:pic>
    </p:spTree>
    <p:extLst>
      <p:ext uri="{BB962C8B-B14F-4D97-AF65-F5344CB8AC3E}">
        <p14:creationId xmlns:p14="http://schemas.microsoft.com/office/powerpoint/2010/main" val="18876053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67493" y="1110343"/>
            <a:ext cx="4780476" cy="584775"/>
          </a:xfrm>
          <a:prstGeom prst="rect">
            <a:avLst/>
          </a:prstGeom>
          <a:noFill/>
        </p:spPr>
        <p:txBody>
          <a:bodyPr wrap="none" rtlCol="0">
            <a:spAutoFit/>
          </a:bodyPr>
          <a:lstStyle/>
          <a:p>
            <a:r>
              <a:rPr lang="en-US" sz="3200" dirty="0">
                <a:solidFill>
                  <a:schemeClr val="bg1"/>
                </a:solidFill>
              </a:rPr>
              <a:t>Conditional </a:t>
            </a:r>
            <a:r>
              <a:rPr lang="en-US" sz="3200" dirty="0" smtClean="0">
                <a:solidFill>
                  <a:schemeClr val="bg1"/>
                </a:solidFill>
              </a:rPr>
              <a:t>Expressions</a:t>
            </a:r>
            <a:endParaRPr lang="en-US" sz="3200" dirty="0">
              <a:solidFill>
                <a:schemeClr val="bg1"/>
              </a:solidFill>
            </a:endParaRPr>
          </a:p>
        </p:txBody>
      </p:sp>
      <p:sp>
        <p:nvSpPr>
          <p:cNvPr id="6" name="Rectangle 2"/>
          <p:cNvSpPr>
            <a:spLocks noChangeArrowheads="1"/>
          </p:cNvSpPr>
          <p:nvPr/>
        </p:nvSpPr>
        <p:spPr bwMode="auto">
          <a:xfrm>
            <a:off x="511728" y="2795341"/>
            <a:ext cx="11224470" cy="31393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smtClean="0">
                <a:latin typeface="+mn-lt"/>
              </a:rPr>
              <a:t>The</a:t>
            </a:r>
            <a:r>
              <a:rPr lang="en-US" altLang="en-US" dirty="0">
                <a:latin typeface="+mn-lt"/>
              </a:rPr>
              <a:t> if statement is how you perform this sort of decision-making. It allows for conditional execution of a statement or group of statements based on the value of an expression. </a:t>
            </a:r>
            <a:endParaRPr lang="en-US" altLang="en-US" dirty="0" smtClean="0">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smtClean="0">
              <a:latin typeface="+mn-lt"/>
            </a:endParaRPr>
          </a:p>
          <a:p>
            <a:r>
              <a:rPr lang="en-US" dirty="0" smtClean="0"/>
              <a:t>if (condition1):		// if condition 1 is true</a:t>
            </a:r>
          </a:p>
          <a:p>
            <a:r>
              <a:rPr lang="en-US" dirty="0"/>
              <a:t>	print(“yes”)</a:t>
            </a:r>
          </a:p>
          <a:p>
            <a:r>
              <a:rPr lang="en-US" dirty="0" err="1"/>
              <a:t>elif</a:t>
            </a:r>
            <a:r>
              <a:rPr lang="en-US" dirty="0"/>
              <a:t> (condition2):		// if condition 2 is true</a:t>
            </a:r>
          </a:p>
          <a:p>
            <a:r>
              <a:rPr lang="en-US" dirty="0"/>
              <a:t>	print(“No”)</a:t>
            </a:r>
          </a:p>
          <a:p>
            <a:r>
              <a:rPr lang="en-US" dirty="0"/>
              <a:t>else:				// otherwise</a:t>
            </a:r>
          </a:p>
          <a:p>
            <a:r>
              <a:rPr lang="en-US" dirty="0"/>
              <a:t>	print(“May be”)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mn-lt"/>
            </a:endParaRPr>
          </a:p>
        </p:txBody>
      </p:sp>
      <p:sp>
        <p:nvSpPr>
          <p:cNvPr id="7" name="Rectangle 6"/>
          <p:cNvSpPr/>
          <p:nvPr/>
        </p:nvSpPr>
        <p:spPr>
          <a:xfrm>
            <a:off x="8777681" y="3874643"/>
            <a:ext cx="6096000" cy="1984518"/>
          </a:xfrm>
          <a:prstGeom prst="rect">
            <a:avLst/>
          </a:prstGeom>
        </p:spPr>
        <p:txBody>
          <a:bodyPr>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a = 22</a:t>
            </a:r>
          </a:p>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if (a&gt;9):</a:t>
            </a:r>
          </a:p>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print(“Greater”)</a:t>
            </a:r>
          </a:p>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else:</a:t>
            </a:r>
          </a:p>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print(“lesser”)</a:t>
            </a:r>
          </a:p>
        </p:txBody>
      </p:sp>
    </p:spTree>
    <p:extLst>
      <p:ext uri="{BB962C8B-B14F-4D97-AF65-F5344CB8AC3E}">
        <p14:creationId xmlns:p14="http://schemas.microsoft.com/office/powerpoint/2010/main" val="39047347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9620" y="2514600"/>
            <a:ext cx="9890849" cy="369332"/>
          </a:xfrm>
          <a:prstGeom prst="rect">
            <a:avLst/>
          </a:prstGeom>
          <a:noFill/>
        </p:spPr>
        <p:txBody>
          <a:bodyPr wrap="none" rtlCol="0">
            <a:spAutoFit/>
          </a:bodyPr>
          <a:lstStyle/>
          <a:p>
            <a:r>
              <a:rPr lang="en-US" dirty="0" err="1" smtClean="0"/>
              <a:t>elif</a:t>
            </a:r>
            <a:r>
              <a:rPr lang="en-US" dirty="0" smtClean="0"/>
              <a:t> and else block are optional. You if you wish to use both, either or none which is fine. </a:t>
            </a:r>
            <a:endParaRPr lang="en-US" dirty="0"/>
          </a:p>
        </p:txBody>
      </p:sp>
    </p:spTree>
    <p:extLst>
      <p:ext uri="{BB962C8B-B14F-4D97-AF65-F5344CB8AC3E}">
        <p14:creationId xmlns:p14="http://schemas.microsoft.com/office/powerpoint/2010/main" val="30994411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3283271" cy="584775"/>
          </a:xfrm>
          <a:prstGeom prst="rect">
            <a:avLst/>
          </a:prstGeom>
          <a:noFill/>
        </p:spPr>
        <p:txBody>
          <a:bodyPr wrap="none" rtlCol="0">
            <a:spAutoFit/>
          </a:bodyPr>
          <a:lstStyle/>
          <a:p>
            <a:r>
              <a:rPr lang="en-US" sz="3200" dirty="0" smtClean="0">
                <a:solidFill>
                  <a:schemeClr val="bg1"/>
                </a:solidFill>
              </a:rPr>
              <a:t>Loops in Python</a:t>
            </a:r>
            <a:endParaRPr lang="en-US" sz="3200" dirty="0">
              <a:solidFill>
                <a:schemeClr val="bg1"/>
              </a:solidFill>
            </a:endParaRPr>
          </a:p>
        </p:txBody>
      </p:sp>
      <p:sp>
        <p:nvSpPr>
          <p:cNvPr id="3" name="TextBox 2"/>
          <p:cNvSpPr txBox="1"/>
          <p:nvPr/>
        </p:nvSpPr>
        <p:spPr>
          <a:xfrm>
            <a:off x="1167493" y="2301205"/>
            <a:ext cx="10560316" cy="3139321"/>
          </a:xfrm>
          <a:prstGeom prst="rect">
            <a:avLst/>
          </a:prstGeom>
          <a:noFill/>
        </p:spPr>
        <p:txBody>
          <a:bodyPr wrap="square" rtlCol="0">
            <a:spAutoFit/>
          </a:bodyPr>
          <a:lstStyle/>
          <a:p>
            <a:r>
              <a:rPr lang="en-US" dirty="0"/>
              <a:t>a loop is a sequence of instruction s that is continually repeated until a certain condition is reached. </a:t>
            </a:r>
            <a:endParaRPr lang="en-US" dirty="0" smtClean="0"/>
          </a:p>
          <a:p>
            <a:r>
              <a:rPr lang="en-US" dirty="0" smtClean="0"/>
              <a:t>Typically</a:t>
            </a:r>
            <a:r>
              <a:rPr lang="en-US" dirty="0"/>
              <a:t>, a certain process is done, such as getting an item of data and changing it, and then some condition is checked such as whether a counter has reached a prescribed number.</a:t>
            </a:r>
            <a:endParaRPr lang="en-US" dirty="0" smtClean="0"/>
          </a:p>
          <a:p>
            <a:endParaRPr lang="en-US" dirty="0"/>
          </a:p>
          <a:p>
            <a:endParaRPr lang="en-US" dirty="0" smtClean="0"/>
          </a:p>
          <a:p>
            <a:r>
              <a:rPr lang="en-US" dirty="0" smtClean="0"/>
              <a:t>Primarily </a:t>
            </a:r>
            <a:r>
              <a:rPr lang="en-US" dirty="0"/>
              <a:t>there are two types of loops in Python</a:t>
            </a:r>
          </a:p>
          <a:p>
            <a:r>
              <a:rPr lang="en-US" dirty="0"/>
              <a:t>1.	While loop</a:t>
            </a:r>
          </a:p>
          <a:p>
            <a:r>
              <a:rPr lang="en-US" dirty="0"/>
              <a:t>2.	For loop</a:t>
            </a:r>
          </a:p>
          <a:p>
            <a:endParaRPr lang="en-US" dirty="0"/>
          </a:p>
        </p:txBody>
      </p:sp>
    </p:spTree>
    <p:extLst>
      <p:ext uri="{BB962C8B-B14F-4D97-AF65-F5344CB8AC3E}">
        <p14:creationId xmlns:p14="http://schemas.microsoft.com/office/powerpoint/2010/main" val="19025164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2380780" cy="584775"/>
          </a:xfrm>
          <a:prstGeom prst="rect">
            <a:avLst/>
          </a:prstGeom>
          <a:noFill/>
        </p:spPr>
        <p:txBody>
          <a:bodyPr wrap="none" rtlCol="0">
            <a:spAutoFit/>
          </a:bodyPr>
          <a:lstStyle/>
          <a:p>
            <a:r>
              <a:rPr lang="en-US" sz="3200" dirty="0" smtClean="0">
                <a:solidFill>
                  <a:schemeClr val="bg1"/>
                </a:solidFill>
              </a:rPr>
              <a:t>While Loop</a:t>
            </a:r>
            <a:endParaRPr lang="en-US" sz="3200" dirty="0">
              <a:solidFill>
                <a:schemeClr val="bg1"/>
              </a:solidFill>
            </a:endParaRPr>
          </a:p>
        </p:txBody>
      </p:sp>
      <p:sp>
        <p:nvSpPr>
          <p:cNvPr id="3" name="TextBox 2"/>
          <p:cNvSpPr txBox="1"/>
          <p:nvPr/>
        </p:nvSpPr>
        <p:spPr>
          <a:xfrm>
            <a:off x="1167493" y="2301205"/>
            <a:ext cx="10560316" cy="2893100"/>
          </a:xfrm>
          <a:prstGeom prst="rect">
            <a:avLst/>
          </a:prstGeom>
          <a:noFill/>
        </p:spPr>
        <p:txBody>
          <a:bodyPr wrap="square" rtlCol="0">
            <a:spAutoFit/>
          </a:bodyPr>
          <a:lstStyle/>
          <a:p>
            <a:r>
              <a:rPr lang="en-US" dirty="0" smtClean="0"/>
              <a:t>The </a:t>
            </a:r>
            <a:r>
              <a:rPr lang="en-US" dirty="0"/>
              <a:t>block keeps executing until the condition </a:t>
            </a:r>
            <a:r>
              <a:rPr lang="en-US" dirty="0" smtClean="0"/>
              <a:t>becomes false</a:t>
            </a:r>
          </a:p>
          <a:p>
            <a:endParaRPr lang="en-US" dirty="0"/>
          </a:p>
          <a:p>
            <a:r>
              <a:rPr lang="en-US" dirty="0" err="1"/>
              <a:t>i</a:t>
            </a:r>
            <a:r>
              <a:rPr lang="en-US" dirty="0"/>
              <a:t> = 0</a:t>
            </a:r>
          </a:p>
          <a:p>
            <a:r>
              <a:rPr lang="en-US" dirty="0"/>
              <a:t>while </a:t>
            </a:r>
            <a:r>
              <a:rPr lang="en-US" sz="2000" b="1" dirty="0" err="1"/>
              <a:t>i</a:t>
            </a:r>
            <a:r>
              <a:rPr lang="en-US" sz="2000" b="1" dirty="0"/>
              <a:t>&lt;5</a:t>
            </a:r>
            <a:r>
              <a:rPr lang="en-US" dirty="0" smtClean="0"/>
              <a:t>: 					# condition to be checked on every iteration</a:t>
            </a:r>
            <a:endParaRPr lang="en-US" dirty="0"/>
          </a:p>
          <a:p>
            <a:r>
              <a:rPr lang="en-US" dirty="0"/>
              <a:t>    print</a:t>
            </a:r>
            <a:r>
              <a:rPr lang="en-US" dirty="0" smtClean="0"/>
              <a:t>(“Hello”)</a:t>
            </a:r>
            <a:endParaRPr lang="en-US" dirty="0"/>
          </a:p>
          <a:p>
            <a:r>
              <a:rPr lang="en-US" dirty="0"/>
              <a:t>    </a:t>
            </a:r>
            <a:r>
              <a:rPr lang="en-US" b="1" dirty="0" err="1"/>
              <a:t>i</a:t>
            </a:r>
            <a:r>
              <a:rPr lang="en-US" b="1" dirty="0"/>
              <a:t> = </a:t>
            </a:r>
            <a:r>
              <a:rPr lang="en-US" b="1" dirty="0" smtClean="0"/>
              <a:t>i+1</a:t>
            </a:r>
          </a:p>
          <a:p>
            <a:endParaRPr lang="en-US" dirty="0"/>
          </a:p>
          <a:p>
            <a:endParaRPr lang="en-US" dirty="0" smtClean="0"/>
          </a:p>
          <a:p>
            <a:endParaRPr lang="en-US" dirty="0"/>
          </a:p>
          <a:p>
            <a:r>
              <a:rPr lang="en-US" dirty="0"/>
              <a:t>Note: if the condition never becomes false, the loop keeps getting executed.</a:t>
            </a:r>
          </a:p>
        </p:txBody>
      </p:sp>
    </p:spTree>
    <p:extLst>
      <p:ext uri="{BB962C8B-B14F-4D97-AF65-F5344CB8AC3E}">
        <p14:creationId xmlns:p14="http://schemas.microsoft.com/office/powerpoint/2010/main" val="13429006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1898277" cy="584775"/>
          </a:xfrm>
          <a:prstGeom prst="rect">
            <a:avLst/>
          </a:prstGeom>
          <a:noFill/>
        </p:spPr>
        <p:txBody>
          <a:bodyPr wrap="none" rtlCol="0">
            <a:spAutoFit/>
          </a:bodyPr>
          <a:lstStyle/>
          <a:p>
            <a:r>
              <a:rPr lang="en-US" sz="3200" dirty="0" smtClean="0">
                <a:solidFill>
                  <a:schemeClr val="bg1"/>
                </a:solidFill>
              </a:rPr>
              <a:t>For Loop</a:t>
            </a:r>
            <a:endParaRPr lang="en-US" sz="3200" dirty="0">
              <a:solidFill>
                <a:schemeClr val="bg1"/>
              </a:solidFill>
            </a:endParaRPr>
          </a:p>
        </p:txBody>
      </p:sp>
      <p:sp>
        <p:nvSpPr>
          <p:cNvPr id="3" name="TextBox 2"/>
          <p:cNvSpPr txBox="1"/>
          <p:nvPr/>
        </p:nvSpPr>
        <p:spPr>
          <a:xfrm>
            <a:off x="1167493" y="2301205"/>
            <a:ext cx="10560316" cy="1754326"/>
          </a:xfrm>
          <a:prstGeom prst="rect">
            <a:avLst/>
          </a:prstGeom>
          <a:noFill/>
        </p:spPr>
        <p:txBody>
          <a:bodyPr wrap="square" rtlCol="0">
            <a:spAutoFit/>
          </a:bodyPr>
          <a:lstStyle/>
          <a:p>
            <a:r>
              <a:rPr lang="en-US" dirty="0"/>
              <a:t>A for loop is used to iterate through a sequence like a list, tuple, or string (</a:t>
            </a:r>
            <a:r>
              <a:rPr lang="en-US" dirty="0" err="1"/>
              <a:t>iterables</a:t>
            </a:r>
            <a:r>
              <a:rPr lang="en-US" dirty="0" smtClean="0"/>
              <a:t>)</a:t>
            </a:r>
          </a:p>
          <a:p>
            <a:endParaRPr lang="en-US" dirty="0"/>
          </a:p>
          <a:p>
            <a:r>
              <a:rPr lang="en-US" dirty="0"/>
              <a:t>The syntax of a for loop looks like this:</a:t>
            </a:r>
          </a:p>
          <a:p>
            <a:r>
              <a:rPr lang="en-US" dirty="0"/>
              <a:t>l = [1, 7, 8]</a:t>
            </a:r>
          </a:p>
          <a:p>
            <a:r>
              <a:rPr lang="en-US" dirty="0"/>
              <a:t>for item in l:</a:t>
            </a:r>
          </a:p>
          <a:p>
            <a:r>
              <a:rPr lang="en-US" dirty="0"/>
              <a:t>	print(item)</a:t>
            </a:r>
          </a:p>
        </p:txBody>
      </p:sp>
    </p:spTree>
    <p:extLst>
      <p:ext uri="{BB962C8B-B14F-4D97-AF65-F5344CB8AC3E}">
        <p14:creationId xmlns:p14="http://schemas.microsoft.com/office/powerpoint/2010/main" val="8656954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5186035" cy="584775"/>
          </a:xfrm>
          <a:prstGeom prst="rect">
            <a:avLst/>
          </a:prstGeom>
          <a:noFill/>
        </p:spPr>
        <p:txBody>
          <a:bodyPr wrap="none" rtlCol="0">
            <a:spAutoFit/>
          </a:bodyPr>
          <a:lstStyle/>
          <a:p>
            <a:r>
              <a:rPr lang="en-US" sz="3200" dirty="0">
                <a:solidFill>
                  <a:schemeClr val="bg1"/>
                </a:solidFill>
              </a:rPr>
              <a:t>Range function in Python</a:t>
            </a:r>
          </a:p>
        </p:txBody>
      </p:sp>
      <p:sp>
        <p:nvSpPr>
          <p:cNvPr id="3" name="TextBox 2"/>
          <p:cNvSpPr txBox="1"/>
          <p:nvPr/>
        </p:nvSpPr>
        <p:spPr>
          <a:xfrm>
            <a:off x="1167493" y="2301205"/>
            <a:ext cx="10560316" cy="1477328"/>
          </a:xfrm>
          <a:prstGeom prst="rect">
            <a:avLst/>
          </a:prstGeom>
          <a:noFill/>
        </p:spPr>
        <p:txBody>
          <a:bodyPr wrap="square" rtlCol="0">
            <a:spAutoFit/>
          </a:bodyPr>
          <a:lstStyle/>
          <a:p>
            <a:r>
              <a:rPr lang="en-US" dirty="0"/>
              <a:t>The range function in python is used to generate a sequence of numbers</a:t>
            </a:r>
            <a:r>
              <a:rPr lang="en-US" dirty="0" smtClean="0"/>
              <a:t>.</a:t>
            </a:r>
          </a:p>
          <a:p>
            <a:endParaRPr lang="en-US" dirty="0"/>
          </a:p>
          <a:p>
            <a:r>
              <a:rPr lang="en-US" dirty="0"/>
              <a:t>We can also specify the start, stop, and step-size as follows:</a:t>
            </a:r>
          </a:p>
          <a:p>
            <a:r>
              <a:rPr lang="en-US" dirty="0"/>
              <a:t>            range(start, stop, </a:t>
            </a:r>
            <a:r>
              <a:rPr lang="en-US" dirty="0" err="1"/>
              <a:t>step_size</a:t>
            </a:r>
            <a:r>
              <a:rPr lang="en-US" dirty="0"/>
              <a:t>)</a:t>
            </a:r>
          </a:p>
          <a:p>
            <a:r>
              <a:rPr lang="en-US" dirty="0"/>
              <a:t>•	step size is usually not used with range()</a:t>
            </a:r>
          </a:p>
        </p:txBody>
      </p:sp>
    </p:spTree>
    <p:extLst>
      <p:ext uri="{BB962C8B-B14F-4D97-AF65-F5344CB8AC3E}">
        <p14:creationId xmlns:p14="http://schemas.microsoft.com/office/powerpoint/2010/main" val="12935713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3603872" cy="584775"/>
          </a:xfrm>
          <a:prstGeom prst="rect">
            <a:avLst/>
          </a:prstGeom>
          <a:noFill/>
        </p:spPr>
        <p:txBody>
          <a:bodyPr wrap="none" rtlCol="0">
            <a:spAutoFit/>
          </a:bodyPr>
          <a:lstStyle/>
          <a:p>
            <a:r>
              <a:rPr lang="en-US" sz="3200" dirty="0">
                <a:solidFill>
                  <a:schemeClr val="bg1"/>
                </a:solidFill>
              </a:rPr>
              <a:t>For loop with else</a:t>
            </a:r>
          </a:p>
        </p:txBody>
      </p:sp>
      <p:sp>
        <p:nvSpPr>
          <p:cNvPr id="3" name="TextBox 2"/>
          <p:cNvSpPr txBox="1"/>
          <p:nvPr/>
        </p:nvSpPr>
        <p:spPr>
          <a:xfrm>
            <a:off x="1167493" y="2301205"/>
            <a:ext cx="10560316" cy="2585323"/>
          </a:xfrm>
          <a:prstGeom prst="rect">
            <a:avLst/>
          </a:prstGeom>
          <a:noFill/>
        </p:spPr>
        <p:txBody>
          <a:bodyPr wrap="square" rtlCol="0">
            <a:spAutoFit/>
          </a:bodyPr>
          <a:lstStyle/>
          <a:p>
            <a:r>
              <a:rPr lang="en-US" dirty="0"/>
              <a:t>An optional else can be used with a for loop if the code is to be executed when the loop exhausts</a:t>
            </a:r>
            <a:r>
              <a:rPr lang="en-US" dirty="0" smtClean="0"/>
              <a:t>.</a:t>
            </a:r>
          </a:p>
          <a:p>
            <a:endParaRPr lang="en-US" dirty="0"/>
          </a:p>
          <a:p>
            <a:r>
              <a:rPr lang="en-US" dirty="0"/>
              <a:t>Example:</a:t>
            </a:r>
          </a:p>
          <a:p>
            <a:r>
              <a:rPr lang="en-US" dirty="0"/>
              <a:t>l = [1, 7, 8]</a:t>
            </a:r>
          </a:p>
          <a:p>
            <a:r>
              <a:rPr lang="en-US" dirty="0"/>
              <a:t>for item in l:</a:t>
            </a:r>
          </a:p>
          <a:p>
            <a:r>
              <a:rPr lang="en-US" dirty="0"/>
              <a:t>	print(item)</a:t>
            </a:r>
          </a:p>
          <a:p>
            <a:r>
              <a:rPr lang="en-US" dirty="0"/>
              <a:t>else:</a:t>
            </a:r>
          </a:p>
          <a:p>
            <a:r>
              <a:rPr lang="en-US" dirty="0"/>
              <a:t>	print(“Done”)	#This is printed when the loop exhausts!</a:t>
            </a:r>
          </a:p>
        </p:txBody>
      </p:sp>
    </p:spTree>
    <p:extLst>
      <p:ext uri="{BB962C8B-B14F-4D97-AF65-F5344CB8AC3E}">
        <p14:creationId xmlns:p14="http://schemas.microsoft.com/office/powerpoint/2010/main" val="29980775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3536546" cy="584775"/>
          </a:xfrm>
          <a:prstGeom prst="rect">
            <a:avLst/>
          </a:prstGeom>
          <a:noFill/>
        </p:spPr>
        <p:txBody>
          <a:bodyPr wrap="none" rtlCol="0">
            <a:spAutoFit/>
          </a:bodyPr>
          <a:lstStyle/>
          <a:p>
            <a:r>
              <a:rPr lang="en-US" sz="3200" dirty="0" smtClean="0">
                <a:solidFill>
                  <a:schemeClr val="bg1"/>
                </a:solidFill>
              </a:rPr>
              <a:t>Loop Statements</a:t>
            </a:r>
            <a:endParaRPr lang="en-US" sz="3200" dirty="0">
              <a:solidFill>
                <a:schemeClr val="bg1"/>
              </a:solidFill>
            </a:endParaRPr>
          </a:p>
        </p:txBody>
      </p:sp>
      <p:sp>
        <p:nvSpPr>
          <p:cNvPr id="3" name="TextBox 2"/>
          <p:cNvSpPr txBox="1"/>
          <p:nvPr/>
        </p:nvSpPr>
        <p:spPr>
          <a:xfrm>
            <a:off x="1167493" y="2268548"/>
            <a:ext cx="10560316" cy="2862322"/>
          </a:xfrm>
          <a:prstGeom prst="rect">
            <a:avLst/>
          </a:prstGeom>
          <a:noFill/>
        </p:spPr>
        <p:txBody>
          <a:bodyPr wrap="square" rtlCol="0">
            <a:spAutoFit/>
          </a:bodyPr>
          <a:lstStyle/>
          <a:p>
            <a:pPr marL="342900" indent="-342900">
              <a:buAutoNum type="arabicPeriod"/>
            </a:pPr>
            <a:r>
              <a:rPr lang="en-US" b="1" dirty="0" smtClean="0"/>
              <a:t>Break</a:t>
            </a:r>
          </a:p>
          <a:p>
            <a:pPr lvl="1"/>
            <a:r>
              <a:rPr lang="en-US" dirty="0" smtClean="0"/>
              <a:t>		‘</a:t>
            </a:r>
            <a:r>
              <a:rPr lang="en-US" dirty="0"/>
              <a:t>break’ is used to come out of the loop when encountered. It instructs the </a:t>
            </a:r>
            <a:r>
              <a:rPr lang="en-US" dirty="0" smtClean="0"/>
              <a:t>		program </a:t>
            </a:r>
            <a:r>
              <a:rPr lang="en-US" dirty="0"/>
              <a:t>to – Exit the loop </a:t>
            </a:r>
            <a:r>
              <a:rPr lang="en-US" dirty="0" smtClean="0"/>
              <a:t>now</a:t>
            </a:r>
          </a:p>
          <a:p>
            <a:pPr lvl="1"/>
            <a:endParaRPr lang="en-US" dirty="0" smtClean="0"/>
          </a:p>
          <a:p>
            <a:pPr marL="342900" indent="-342900">
              <a:buAutoNum type="arabicPeriod"/>
            </a:pPr>
            <a:r>
              <a:rPr lang="en-US" b="1" dirty="0" smtClean="0"/>
              <a:t>Continue</a:t>
            </a:r>
          </a:p>
          <a:p>
            <a:r>
              <a:rPr lang="en-US" dirty="0"/>
              <a:t>	</a:t>
            </a:r>
            <a:r>
              <a:rPr lang="en-US" dirty="0" smtClean="0"/>
              <a:t>		‘</a:t>
            </a:r>
            <a:r>
              <a:rPr lang="en-US" dirty="0"/>
              <a:t>continue’ is used to stop the current iteration of the loop and continue with the </a:t>
            </a:r>
            <a:r>
              <a:rPr lang="en-US" dirty="0" smtClean="0"/>
              <a:t>			next one. </a:t>
            </a:r>
            <a:r>
              <a:rPr lang="en-US" dirty="0"/>
              <a:t>It instructs the program to “skip this iteration.”</a:t>
            </a:r>
            <a:r>
              <a:rPr lang="en-US" dirty="0" smtClean="0"/>
              <a:t> </a:t>
            </a:r>
          </a:p>
          <a:p>
            <a:r>
              <a:rPr lang="en-US" b="1" dirty="0" smtClean="0"/>
              <a:t>3.	Pass</a:t>
            </a:r>
            <a:endParaRPr lang="en-US" b="1" dirty="0"/>
          </a:p>
          <a:p>
            <a:r>
              <a:rPr lang="en-US" dirty="0"/>
              <a:t>		pass is a null statement in python. It instructs to “Do nothing.”</a:t>
            </a:r>
          </a:p>
          <a:p>
            <a:pPr marL="342900" indent="-342900">
              <a:buAutoNum type="arabicPeriod"/>
            </a:pPr>
            <a:endParaRPr lang="en-US" dirty="0"/>
          </a:p>
        </p:txBody>
      </p:sp>
    </p:spTree>
    <p:extLst>
      <p:ext uri="{BB962C8B-B14F-4D97-AF65-F5344CB8AC3E}">
        <p14:creationId xmlns:p14="http://schemas.microsoft.com/office/powerpoint/2010/main" val="28303641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1890261" cy="584775"/>
          </a:xfrm>
          <a:prstGeom prst="rect">
            <a:avLst/>
          </a:prstGeom>
          <a:noFill/>
        </p:spPr>
        <p:txBody>
          <a:bodyPr wrap="none" rtlCol="0">
            <a:spAutoFit/>
          </a:bodyPr>
          <a:lstStyle/>
          <a:p>
            <a:r>
              <a:rPr lang="en-US" sz="3200" dirty="0" smtClean="0">
                <a:solidFill>
                  <a:schemeClr val="bg1"/>
                </a:solidFill>
              </a:rPr>
              <a:t>Function</a:t>
            </a:r>
            <a:endParaRPr lang="en-US" sz="3200" dirty="0">
              <a:solidFill>
                <a:schemeClr val="bg1"/>
              </a:solidFill>
            </a:endParaRPr>
          </a:p>
        </p:txBody>
      </p:sp>
      <p:sp>
        <p:nvSpPr>
          <p:cNvPr id="3" name="TextBox 2"/>
          <p:cNvSpPr txBox="1"/>
          <p:nvPr/>
        </p:nvSpPr>
        <p:spPr>
          <a:xfrm>
            <a:off x="1110343" y="2260384"/>
            <a:ext cx="10560316" cy="3970318"/>
          </a:xfrm>
          <a:prstGeom prst="rect">
            <a:avLst/>
          </a:prstGeom>
          <a:noFill/>
        </p:spPr>
        <p:txBody>
          <a:bodyPr wrap="square" rtlCol="0">
            <a:spAutoFit/>
          </a:bodyPr>
          <a:lstStyle/>
          <a:p>
            <a:r>
              <a:rPr lang="en-US" dirty="0"/>
              <a:t>A function is a group of statements performing a </a:t>
            </a:r>
            <a:r>
              <a:rPr lang="en-US" dirty="0" smtClean="0"/>
              <a:t>specific task.</a:t>
            </a:r>
          </a:p>
          <a:p>
            <a:endParaRPr lang="en-US" dirty="0" smtClean="0"/>
          </a:p>
          <a:p>
            <a:r>
              <a:rPr lang="en-US" dirty="0" smtClean="0"/>
              <a:t>To make program modular</a:t>
            </a:r>
          </a:p>
          <a:p>
            <a:endParaRPr lang="en-US" dirty="0"/>
          </a:p>
          <a:p>
            <a:r>
              <a:rPr lang="en-US" dirty="0" smtClean="0"/>
              <a:t>Reuse</a:t>
            </a:r>
          </a:p>
          <a:p>
            <a:endParaRPr lang="en-US" dirty="0"/>
          </a:p>
          <a:p>
            <a:endParaRPr lang="en-US" dirty="0" smtClean="0"/>
          </a:p>
          <a:p>
            <a:r>
              <a:rPr lang="en-US" dirty="0"/>
              <a:t>The syntax of a </a:t>
            </a:r>
            <a:r>
              <a:rPr lang="en-US" dirty="0" smtClean="0"/>
              <a:t>function declaration </a:t>
            </a:r>
            <a:r>
              <a:rPr lang="en-US" dirty="0"/>
              <a:t>looks as follows:</a:t>
            </a:r>
          </a:p>
          <a:p>
            <a:r>
              <a:rPr lang="en-US" dirty="0" err="1"/>
              <a:t>def</a:t>
            </a:r>
            <a:r>
              <a:rPr lang="en-US" dirty="0"/>
              <a:t> func1():</a:t>
            </a:r>
          </a:p>
          <a:p>
            <a:r>
              <a:rPr lang="en-US" dirty="0"/>
              <a:t>	print(“Hello</a:t>
            </a:r>
            <a:r>
              <a:rPr lang="en-US" dirty="0" smtClean="0"/>
              <a:t>”)   # function body # function code</a:t>
            </a:r>
            <a:endParaRPr lang="en-US" dirty="0"/>
          </a:p>
          <a:p>
            <a:endParaRPr lang="en-US" dirty="0" smtClean="0"/>
          </a:p>
          <a:p>
            <a:r>
              <a:rPr lang="en-US" dirty="0" smtClean="0"/>
              <a:t>--------------------------------------------------------------------------------------------------------------</a:t>
            </a:r>
            <a:endParaRPr lang="en-US" dirty="0"/>
          </a:p>
          <a:p>
            <a:r>
              <a:rPr lang="en-US" dirty="0"/>
              <a:t>func1()          #This is called function call</a:t>
            </a:r>
          </a:p>
          <a:p>
            <a:endParaRPr lang="en-US" dirty="0"/>
          </a:p>
        </p:txBody>
      </p:sp>
    </p:spTree>
    <p:extLst>
      <p:ext uri="{BB962C8B-B14F-4D97-AF65-F5344CB8AC3E}">
        <p14:creationId xmlns:p14="http://schemas.microsoft.com/office/powerpoint/2010/main" val="20827332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3728906" cy="584775"/>
          </a:xfrm>
          <a:prstGeom prst="rect">
            <a:avLst/>
          </a:prstGeom>
          <a:noFill/>
        </p:spPr>
        <p:txBody>
          <a:bodyPr wrap="none" rtlCol="0">
            <a:spAutoFit/>
          </a:bodyPr>
          <a:lstStyle/>
          <a:p>
            <a:r>
              <a:rPr lang="en-US" sz="3200" dirty="0">
                <a:solidFill>
                  <a:schemeClr val="bg1"/>
                </a:solidFill>
              </a:rPr>
              <a:t>Types </a:t>
            </a:r>
            <a:r>
              <a:rPr lang="en-US" sz="3200" dirty="0" smtClean="0">
                <a:solidFill>
                  <a:schemeClr val="bg1"/>
                </a:solidFill>
              </a:rPr>
              <a:t>of Function</a:t>
            </a:r>
            <a:endParaRPr lang="en-US" sz="3200" dirty="0">
              <a:solidFill>
                <a:schemeClr val="bg1"/>
              </a:solidFill>
            </a:endParaRPr>
          </a:p>
        </p:txBody>
      </p:sp>
      <p:sp>
        <p:nvSpPr>
          <p:cNvPr id="3" name="TextBox 2"/>
          <p:cNvSpPr txBox="1"/>
          <p:nvPr/>
        </p:nvSpPr>
        <p:spPr>
          <a:xfrm>
            <a:off x="1167493" y="2268548"/>
            <a:ext cx="10560316" cy="1754326"/>
          </a:xfrm>
          <a:prstGeom prst="rect">
            <a:avLst/>
          </a:prstGeom>
          <a:noFill/>
        </p:spPr>
        <p:txBody>
          <a:bodyPr wrap="square" rtlCol="0">
            <a:spAutoFit/>
          </a:bodyPr>
          <a:lstStyle/>
          <a:p>
            <a:pPr marL="342900" lvl="0" indent="-342900">
              <a:buFont typeface="+mj-lt"/>
              <a:buAutoNum type="arabicPeriod"/>
            </a:pPr>
            <a:r>
              <a:rPr lang="en-US" dirty="0"/>
              <a:t>Built-in functions #Already present in </a:t>
            </a:r>
            <a:r>
              <a:rPr lang="en-US" dirty="0" smtClean="0"/>
              <a:t>Python</a:t>
            </a:r>
          </a:p>
          <a:p>
            <a:pPr lvl="1"/>
            <a:r>
              <a:rPr lang="en-US" dirty="0"/>
              <a:t>	 Examples of built-in function includes </a:t>
            </a:r>
            <a:r>
              <a:rPr lang="en-US" dirty="0" err="1"/>
              <a:t>len</a:t>
            </a:r>
            <a:r>
              <a:rPr lang="en-US" dirty="0"/>
              <a:t>(), print(), range(), </a:t>
            </a:r>
            <a:r>
              <a:rPr lang="en-US" dirty="0" err="1"/>
              <a:t>etc</a:t>
            </a:r>
            <a:endParaRPr lang="en-US" dirty="0" smtClean="0"/>
          </a:p>
          <a:p>
            <a:pPr marL="342900" lvl="0" indent="-342900">
              <a:buFont typeface="+mj-lt"/>
              <a:buAutoNum type="arabicPeriod"/>
            </a:pPr>
            <a:endParaRPr lang="en-US" dirty="0" smtClean="0"/>
          </a:p>
          <a:p>
            <a:pPr marL="342900" lvl="0" indent="-342900">
              <a:buFont typeface="+mj-lt"/>
              <a:buAutoNum type="arabicPeriod"/>
            </a:pPr>
            <a:r>
              <a:rPr lang="en-US" dirty="0"/>
              <a:t>User-defined functions #Defined by the user</a:t>
            </a:r>
            <a:endParaRPr lang="en-US" dirty="0" smtClean="0"/>
          </a:p>
          <a:p>
            <a:r>
              <a:rPr lang="en-US" dirty="0" smtClean="0"/>
              <a:t>		The </a:t>
            </a:r>
            <a:r>
              <a:rPr lang="en-US" dirty="0"/>
              <a:t>func1() function we defined is an example of a user-defined function.</a:t>
            </a:r>
          </a:p>
          <a:p>
            <a:endParaRPr lang="en-US" dirty="0"/>
          </a:p>
        </p:txBody>
      </p:sp>
    </p:spTree>
    <p:extLst>
      <p:ext uri="{BB962C8B-B14F-4D97-AF65-F5344CB8AC3E}">
        <p14:creationId xmlns:p14="http://schemas.microsoft.com/office/powerpoint/2010/main" val="5997618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5218095" cy="584775"/>
          </a:xfrm>
          <a:prstGeom prst="rect">
            <a:avLst/>
          </a:prstGeom>
          <a:noFill/>
        </p:spPr>
        <p:txBody>
          <a:bodyPr wrap="none" rtlCol="0">
            <a:spAutoFit/>
          </a:bodyPr>
          <a:lstStyle/>
          <a:p>
            <a:r>
              <a:rPr lang="en-US" sz="3200" dirty="0">
                <a:solidFill>
                  <a:schemeClr val="bg1"/>
                </a:solidFill>
              </a:rPr>
              <a:t>Functions with arguments</a:t>
            </a:r>
          </a:p>
        </p:txBody>
      </p:sp>
      <p:sp>
        <p:nvSpPr>
          <p:cNvPr id="3" name="TextBox 2"/>
          <p:cNvSpPr txBox="1"/>
          <p:nvPr/>
        </p:nvSpPr>
        <p:spPr>
          <a:xfrm>
            <a:off x="1167493" y="2268548"/>
            <a:ext cx="10560316" cy="3139321"/>
          </a:xfrm>
          <a:prstGeom prst="rect">
            <a:avLst/>
          </a:prstGeom>
          <a:noFill/>
        </p:spPr>
        <p:txBody>
          <a:bodyPr wrap="square" rtlCol="0">
            <a:spAutoFit/>
          </a:bodyPr>
          <a:lstStyle/>
          <a:p>
            <a:r>
              <a:rPr lang="en-US" dirty="0"/>
              <a:t>A function can accept some values it can work with. We can put these values in the parenthesis. A function can also return values as shown below</a:t>
            </a:r>
            <a:r>
              <a:rPr lang="en-US" dirty="0" smtClean="0"/>
              <a:t>:</a:t>
            </a:r>
          </a:p>
          <a:p>
            <a:endParaRPr lang="en-US" dirty="0"/>
          </a:p>
          <a:p>
            <a:r>
              <a:rPr lang="en-US" dirty="0" err="1"/>
              <a:t>def</a:t>
            </a:r>
            <a:r>
              <a:rPr lang="en-US" dirty="0"/>
              <a:t> greet(name):</a:t>
            </a:r>
          </a:p>
          <a:p>
            <a:r>
              <a:rPr lang="en-US" dirty="0"/>
              <a:t>	gr = “Hello” + name</a:t>
            </a:r>
          </a:p>
          <a:p>
            <a:r>
              <a:rPr lang="en-US" dirty="0"/>
              <a:t>	return gr</a:t>
            </a:r>
          </a:p>
          <a:p>
            <a:r>
              <a:rPr lang="en-US" dirty="0" smtClean="0"/>
              <a:t>--------------------------------------------------------------</a:t>
            </a:r>
          </a:p>
          <a:p>
            <a:r>
              <a:rPr lang="en-US" dirty="0" smtClean="0"/>
              <a:t>a </a:t>
            </a:r>
            <a:r>
              <a:rPr lang="en-US" dirty="0"/>
              <a:t>= greet</a:t>
            </a:r>
            <a:r>
              <a:rPr lang="en-US" dirty="0" smtClean="0"/>
              <a:t>(“Credence”) #“</a:t>
            </a:r>
            <a:r>
              <a:rPr lang="en-US" dirty="0"/>
              <a:t>Credence</a:t>
            </a:r>
            <a:r>
              <a:rPr lang="en-US" dirty="0" smtClean="0"/>
              <a:t>” </a:t>
            </a:r>
            <a:r>
              <a:rPr lang="en-US" dirty="0"/>
              <a:t>is passed to greet in name</a:t>
            </a:r>
          </a:p>
          <a:p>
            <a:r>
              <a:rPr lang="en-US" dirty="0"/>
              <a:t> </a:t>
            </a:r>
          </a:p>
          <a:p>
            <a:r>
              <a:rPr lang="en-US" dirty="0"/>
              <a:t># a will now contain “Hello Credence</a:t>
            </a:r>
            <a:r>
              <a:rPr lang="en-US" dirty="0" smtClean="0"/>
              <a:t>”</a:t>
            </a:r>
            <a:endParaRPr lang="en-US" dirty="0"/>
          </a:p>
          <a:p>
            <a:endParaRPr lang="en-US" dirty="0"/>
          </a:p>
        </p:txBody>
      </p:sp>
    </p:spTree>
    <p:extLst>
      <p:ext uri="{BB962C8B-B14F-4D97-AF65-F5344CB8AC3E}">
        <p14:creationId xmlns:p14="http://schemas.microsoft.com/office/powerpoint/2010/main" val="3083163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10286790" cy="584775"/>
          </a:xfrm>
          <a:prstGeom prst="rect">
            <a:avLst/>
          </a:prstGeom>
          <a:noFill/>
        </p:spPr>
        <p:txBody>
          <a:bodyPr wrap="none" rtlCol="0">
            <a:spAutoFit/>
          </a:bodyPr>
          <a:lstStyle/>
          <a:p>
            <a:r>
              <a:rPr lang="en-US" sz="3200" dirty="0">
                <a:solidFill>
                  <a:schemeClr val="bg1"/>
                </a:solidFill>
              </a:rPr>
              <a:t>Functions </a:t>
            </a:r>
            <a:r>
              <a:rPr lang="en-US" sz="3200" dirty="0" smtClean="0">
                <a:solidFill>
                  <a:schemeClr val="bg1"/>
                </a:solidFill>
              </a:rPr>
              <a:t>arguments with </a:t>
            </a:r>
            <a:r>
              <a:rPr lang="en-US" sz="3200" dirty="0">
                <a:solidFill>
                  <a:schemeClr val="bg1"/>
                </a:solidFill>
              </a:rPr>
              <a:t>Default Parameter Value</a:t>
            </a:r>
          </a:p>
        </p:txBody>
      </p:sp>
      <p:sp>
        <p:nvSpPr>
          <p:cNvPr id="3" name="TextBox 2"/>
          <p:cNvSpPr txBox="1"/>
          <p:nvPr/>
        </p:nvSpPr>
        <p:spPr>
          <a:xfrm>
            <a:off x="1167493" y="2268548"/>
            <a:ext cx="10560316" cy="3139321"/>
          </a:xfrm>
          <a:prstGeom prst="rect">
            <a:avLst/>
          </a:prstGeom>
          <a:noFill/>
        </p:spPr>
        <p:txBody>
          <a:bodyPr wrap="square" rtlCol="0">
            <a:spAutoFit/>
          </a:bodyPr>
          <a:lstStyle/>
          <a:p>
            <a:r>
              <a:rPr lang="en-US" dirty="0"/>
              <a:t>We can have a value as the default argument in a </a:t>
            </a:r>
            <a:r>
              <a:rPr lang="en-US" dirty="0" smtClean="0"/>
              <a:t>function</a:t>
            </a:r>
          </a:p>
          <a:p>
            <a:endParaRPr lang="en-US" dirty="0"/>
          </a:p>
          <a:p>
            <a:r>
              <a:rPr lang="en-US" dirty="0"/>
              <a:t>For Example:</a:t>
            </a:r>
          </a:p>
          <a:p>
            <a:r>
              <a:rPr lang="en-US" dirty="0" err="1"/>
              <a:t>def</a:t>
            </a:r>
            <a:r>
              <a:rPr lang="en-US" dirty="0"/>
              <a:t> greet(name=</a:t>
            </a:r>
            <a:r>
              <a:rPr lang="en-US" dirty="0" smtClean="0"/>
              <a:t>’Credence’):</a:t>
            </a:r>
            <a:endParaRPr lang="en-US" dirty="0"/>
          </a:p>
          <a:p>
            <a:r>
              <a:rPr lang="en-US" dirty="0"/>
              <a:t>	#function </a:t>
            </a:r>
            <a:r>
              <a:rPr lang="en-US" dirty="0" smtClean="0"/>
              <a:t>body</a:t>
            </a:r>
          </a:p>
          <a:p>
            <a:endParaRPr lang="en-US" dirty="0"/>
          </a:p>
          <a:p>
            <a:r>
              <a:rPr lang="en-US" dirty="0" smtClean="0"/>
              <a:t>-----------------------------------------------------------------------------------</a:t>
            </a:r>
            <a:endParaRPr lang="en-US" dirty="0"/>
          </a:p>
          <a:p>
            <a:r>
              <a:rPr lang="en-US" dirty="0"/>
              <a:t>greet()                       #Name will be </a:t>
            </a:r>
            <a:r>
              <a:rPr lang="en-US" dirty="0" smtClean="0"/>
              <a:t>‘</a:t>
            </a:r>
            <a:r>
              <a:rPr lang="en-US" dirty="0"/>
              <a:t>Credence</a:t>
            </a:r>
            <a:r>
              <a:rPr lang="en-US" dirty="0" smtClean="0"/>
              <a:t>’ </a:t>
            </a:r>
            <a:r>
              <a:rPr lang="en-US" dirty="0"/>
              <a:t>in function body(default)</a:t>
            </a:r>
          </a:p>
          <a:p>
            <a:r>
              <a:rPr lang="en-US" dirty="0"/>
              <a:t> </a:t>
            </a:r>
          </a:p>
          <a:p>
            <a:r>
              <a:rPr lang="en-US" dirty="0"/>
              <a:t>greet</a:t>
            </a:r>
            <a:r>
              <a:rPr lang="en-US" dirty="0" smtClean="0"/>
              <a:t>(“</a:t>
            </a:r>
            <a:r>
              <a:rPr lang="en-US" dirty="0"/>
              <a:t>Credence</a:t>
            </a:r>
            <a:r>
              <a:rPr lang="en-US" dirty="0" smtClean="0"/>
              <a:t>”)        </a:t>
            </a:r>
            <a:r>
              <a:rPr lang="en-US" dirty="0"/>
              <a:t>#Name will be </a:t>
            </a:r>
            <a:r>
              <a:rPr lang="en-US" dirty="0" smtClean="0"/>
              <a:t>“</a:t>
            </a:r>
            <a:r>
              <a:rPr lang="en-US" dirty="0"/>
              <a:t>Credence</a:t>
            </a:r>
            <a:r>
              <a:rPr lang="en-US" dirty="0" smtClean="0"/>
              <a:t>” </a:t>
            </a:r>
            <a:r>
              <a:rPr lang="en-US" dirty="0"/>
              <a:t>in function body(passed)</a:t>
            </a:r>
          </a:p>
          <a:p>
            <a:endParaRPr lang="en-US" dirty="0"/>
          </a:p>
        </p:txBody>
      </p:sp>
    </p:spTree>
    <p:extLst>
      <p:ext uri="{BB962C8B-B14F-4D97-AF65-F5344CB8AC3E}">
        <p14:creationId xmlns:p14="http://schemas.microsoft.com/office/powerpoint/2010/main" val="22999631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2098651" cy="584775"/>
          </a:xfrm>
          <a:prstGeom prst="rect">
            <a:avLst/>
          </a:prstGeom>
          <a:noFill/>
        </p:spPr>
        <p:txBody>
          <a:bodyPr wrap="none" rtlCol="0">
            <a:spAutoFit/>
          </a:bodyPr>
          <a:lstStyle/>
          <a:p>
            <a:r>
              <a:rPr lang="en-US" sz="3200" dirty="0">
                <a:solidFill>
                  <a:schemeClr val="bg1"/>
                </a:solidFill>
              </a:rPr>
              <a:t>Recursion</a:t>
            </a:r>
          </a:p>
        </p:txBody>
      </p:sp>
      <p:sp>
        <p:nvSpPr>
          <p:cNvPr id="3" name="TextBox 2"/>
          <p:cNvSpPr txBox="1"/>
          <p:nvPr/>
        </p:nvSpPr>
        <p:spPr>
          <a:xfrm>
            <a:off x="1167493" y="2268548"/>
            <a:ext cx="10560316" cy="3139321"/>
          </a:xfrm>
          <a:prstGeom prst="rect">
            <a:avLst/>
          </a:prstGeom>
          <a:noFill/>
        </p:spPr>
        <p:txBody>
          <a:bodyPr wrap="square" rtlCol="0">
            <a:spAutoFit/>
          </a:bodyPr>
          <a:lstStyle/>
          <a:p>
            <a:r>
              <a:rPr lang="en-US" dirty="0"/>
              <a:t>Recursion is a function which calls itself.</a:t>
            </a:r>
          </a:p>
          <a:p>
            <a:endParaRPr lang="en-US" dirty="0" smtClean="0"/>
          </a:p>
          <a:p>
            <a:r>
              <a:rPr lang="en-US" dirty="0"/>
              <a:t>This function can be defined as follows:</a:t>
            </a:r>
          </a:p>
          <a:p>
            <a:r>
              <a:rPr lang="en-US" dirty="0" err="1"/>
              <a:t>def</a:t>
            </a:r>
            <a:r>
              <a:rPr lang="en-US" dirty="0"/>
              <a:t> factorial(n):</a:t>
            </a:r>
          </a:p>
          <a:p>
            <a:r>
              <a:rPr lang="en-US" dirty="0"/>
              <a:t>	if </a:t>
            </a:r>
            <a:r>
              <a:rPr lang="en-US" dirty="0" err="1"/>
              <a:t>i</a:t>
            </a:r>
            <a:r>
              <a:rPr lang="en-US" dirty="0"/>
              <a:t> == 0 or </a:t>
            </a:r>
            <a:r>
              <a:rPr lang="en-US" dirty="0" err="1"/>
              <a:t>i</a:t>
            </a:r>
            <a:r>
              <a:rPr lang="en-US" dirty="0"/>
              <a:t> == 1 : #Base condition which doesn’t call the function any further</a:t>
            </a:r>
          </a:p>
          <a:p>
            <a:r>
              <a:rPr lang="en-US" dirty="0"/>
              <a:t>		return </a:t>
            </a:r>
            <a:r>
              <a:rPr lang="en-US" dirty="0" err="1"/>
              <a:t>i</a:t>
            </a:r>
            <a:endParaRPr lang="en-US" dirty="0"/>
          </a:p>
          <a:p>
            <a:r>
              <a:rPr lang="en-US" dirty="0"/>
              <a:t>	else:</a:t>
            </a:r>
          </a:p>
          <a:p>
            <a:r>
              <a:rPr lang="en-US" dirty="0"/>
              <a:t>		return n*factorial(n-1) #Function calling itself</a:t>
            </a:r>
          </a:p>
          <a:p>
            <a:endParaRPr lang="en-US" dirty="0" smtClean="0"/>
          </a:p>
          <a:p>
            <a:endParaRPr lang="en-US" dirty="0"/>
          </a:p>
          <a:p>
            <a:endParaRPr lang="en-US" dirty="0"/>
          </a:p>
        </p:txBody>
      </p:sp>
    </p:spTree>
    <p:extLst>
      <p:ext uri="{BB962C8B-B14F-4D97-AF65-F5344CB8AC3E}">
        <p14:creationId xmlns:p14="http://schemas.microsoft.com/office/powerpoint/2010/main" val="36428037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2098651" cy="584775"/>
          </a:xfrm>
          <a:prstGeom prst="rect">
            <a:avLst/>
          </a:prstGeom>
          <a:noFill/>
        </p:spPr>
        <p:txBody>
          <a:bodyPr wrap="none" rtlCol="0">
            <a:spAutoFit/>
          </a:bodyPr>
          <a:lstStyle/>
          <a:p>
            <a:r>
              <a:rPr lang="en-US" sz="3200" dirty="0">
                <a:solidFill>
                  <a:schemeClr val="bg1"/>
                </a:solidFill>
              </a:rPr>
              <a:t>Recursion</a:t>
            </a:r>
          </a:p>
        </p:txBody>
      </p:sp>
      <p:pic>
        <p:nvPicPr>
          <p:cNvPr id="4" name="Picture 3" descr="https://api.codewithharry.com/media/videoSeriesFiles/courseFiles/python-tutorial-easy-for-beginners/facpy1.png"/>
          <p:cNvPicPr/>
          <p:nvPr/>
        </p:nvPicPr>
        <p:blipFill>
          <a:blip r:embed="rId3">
            <a:extLst>
              <a:ext uri="{28A0092B-C50C-407E-A947-70E740481C1C}">
                <a14:useLocalDpi xmlns:a14="http://schemas.microsoft.com/office/drawing/2010/main" val="0"/>
              </a:ext>
            </a:extLst>
          </a:blip>
          <a:srcRect/>
          <a:stretch>
            <a:fillRect/>
          </a:stretch>
        </p:blipFill>
        <p:spPr bwMode="auto">
          <a:xfrm>
            <a:off x="2474323" y="3017520"/>
            <a:ext cx="5463540" cy="3223260"/>
          </a:xfrm>
          <a:prstGeom prst="rect">
            <a:avLst/>
          </a:prstGeom>
          <a:noFill/>
          <a:ln>
            <a:noFill/>
          </a:ln>
        </p:spPr>
      </p:pic>
    </p:spTree>
    <p:extLst>
      <p:ext uri="{BB962C8B-B14F-4D97-AF65-F5344CB8AC3E}">
        <p14:creationId xmlns:p14="http://schemas.microsoft.com/office/powerpoint/2010/main" val="38809032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5413661" cy="584775"/>
          </a:xfrm>
          <a:prstGeom prst="rect">
            <a:avLst/>
          </a:prstGeom>
          <a:noFill/>
        </p:spPr>
        <p:txBody>
          <a:bodyPr wrap="none" rtlCol="0">
            <a:spAutoFit/>
          </a:bodyPr>
          <a:lstStyle/>
          <a:p>
            <a:r>
              <a:rPr lang="en-US" sz="3200" dirty="0">
                <a:solidFill>
                  <a:schemeClr val="bg1"/>
                </a:solidFill>
              </a:rPr>
              <a:t> Syntax Error </a:t>
            </a:r>
            <a:r>
              <a:rPr lang="en-US" sz="3200" dirty="0" smtClean="0">
                <a:solidFill>
                  <a:schemeClr val="bg1"/>
                </a:solidFill>
              </a:rPr>
              <a:t>VS </a:t>
            </a:r>
            <a:r>
              <a:rPr lang="en-US" sz="3200" dirty="0">
                <a:solidFill>
                  <a:schemeClr val="bg1"/>
                </a:solidFill>
              </a:rPr>
              <a:t>Exceptions</a:t>
            </a:r>
          </a:p>
        </p:txBody>
      </p:sp>
      <p:sp>
        <p:nvSpPr>
          <p:cNvPr id="3" name="TextBox 2"/>
          <p:cNvSpPr txBox="1"/>
          <p:nvPr/>
        </p:nvSpPr>
        <p:spPr>
          <a:xfrm>
            <a:off x="900793" y="2550488"/>
            <a:ext cx="10560316" cy="2585323"/>
          </a:xfrm>
          <a:prstGeom prst="rect">
            <a:avLst/>
          </a:prstGeom>
          <a:noFill/>
        </p:spPr>
        <p:txBody>
          <a:bodyPr wrap="square" rtlCol="0">
            <a:spAutoFit/>
          </a:bodyPr>
          <a:lstStyle/>
          <a:p>
            <a:r>
              <a:rPr lang="en-US" b="1" dirty="0">
                <a:solidFill>
                  <a:srgbClr val="273239"/>
                </a:solidFill>
                <a:latin typeface="urw-din"/>
              </a:rPr>
              <a:t>Syntax Error:</a:t>
            </a:r>
            <a:r>
              <a:rPr lang="en-US" dirty="0">
                <a:solidFill>
                  <a:srgbClr val="273239"/>
                </a:solidFill>
                <a:latin typeface="urw-din"/>
              </a:rPr>
              <a:t> As the name suggests this error is caused by the wrong syntax in the code. It leads to the termination of the program. </a:t>
            </a:r>
            <a:endParaRPr lang="en-US" dirty="0" smtClean="0">
              <a:solidFill>
                <a:srgbClr val="273239"/>
              </a:solidFill>
              <a:latin typeface="urw-din"/>
            </a:endParaRPr>
          </a:p>
          <a:p>
            <a:endParaRPr lang="en-US" dirty="0">
              <a:solidFill>
                <a:srgbClr val="273239"/>
              </a:solidFill>
              <a:latin typeface="urw-din"/>
            </a:endParaRPr>
          </a:p>
          <a:p>
            <a:r>
              <a:rPr lang="en-US" b="1" dirty="0">
                <a:solidFill>
                  <a:srgbClr val="273239"/>
                </a:solidFill>
                <a:latin typeface="urw-din"/>
              </a:rPr>
              <a:t>Exceptions:</a:t>
            </a:r>
            <a:r>
              <a:rPr lang="en-US" dirty="0">
                <a:solidFill>
                  <a:srgbClr val="273239"/>
                </a:solidFill>
                <a:latin typeface="urw-din"/>
              </a:rPr>
              <a:t> Exceptions are raised when the program is syntactically correct, but the code resulted in an error</a:t>
            </a:r>
            <a:r>
              <a:rPr lang="en-US" dirty="0" smtClean="0">
                <a:solidFill>
                  <a:srgbClr val="273239"/>
                </a:solidFill>
                <a:latin typeface="urw-din"/>
              </a:rPr>
              <a:t>.</a:t>
            </a:r>
          </a:p>
          <a:p>
            <a:endParaRPr lang="en-US" dirty="0">
              <a:solidFill>
                <a:srgbClr val="273239"/>
              </a:solidFill>
              <a:latin typeface="urw-din"/>
            </a:endParaRPr>
          </a:p>
          <a:p>
            <a:r>
              <a:rPr lang="en-US" b="1" dirty="0">
                <a:solidFill>
                  <a:srgbClr val="273239"/>
                </a:solidFill>
                <a:latin typeface="urw-din"/>
              </a:rPr>
              <a:t>Note:</a:t>
            </a:r>
            <a:r>
              <a:rPr lang="en-US" dirty="0">
                <a:solidFill>
                  <a:srgbClr val="273239"/>
                </a:solidFill>
                <a:latin typeface="urw-din"/>
              </a:rPr>
              <a:t> Exception is the base class for all the exceptions in Python</a:t>
            </a:r>
            <a:r>
              <a:rPr lang="en-US" dirty="0" smtClean="0">
                <a:solidFill>
                  <a:srgbClr val="273239"/>
                </a:solidFill>
                <a:latin typeface="urw-din"/>
              </a:rPr>
              <a:t>.</a:t>
            </a:r>
          </a:p>
          <a:p>
            <a:endParaRPr lang="en-US" dirty="0">
              <a:solidFill>
                <a:srgbClr val="273239"/>
              </a:solidFill>
              <a:latin typeface="urw-din"/>
            </a:endParaRPr>
          </a:p>
          <a:p>
            <a:endParaRPr lang="en-US" dirty="0"/>
          </a:p>
        </p:txBody>
      </p:sp>
    </p:spTree>
    <p:extLst>
      <p:ext uri="{BB962C8B-B14F-4D97-AF65-F5344CB8AC3E}">
        <p14:creationId xmlns:p14="http://schemas.microsoft.com/office/powerpoint/2010/main" val="25644899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9961381" cy="584775"/>
          </a:xfrm>
          <a:prstGeom prst="rect">
            <a:avLst/>
          </a:prstGeom>
          <a:noFill/>
        </p:spPr>
        <p:txBody>
          <a:bodyPr wrap="none" rtlCol="0">
            <a:spAutoFit/>
          </a:bodyPr>
          <a:lstStyle/>
          <a:p>
            <a:r>
              <a:rPr lang="en-US" sz="3200" dirty="0">
                <a:solidFill>
                  <a:schemeClr val="bg1"/>
                </a:solidFill>
              </a:rPr>
              <a:t> Try and Except Statement – Catching Exceptions</a:t>
            </a:r>
          </a:p>
        </p:txBody>
      </p:sp>
      <p:sp>
        <p:nvSpPr>
          <p:cNvPr id="3" name="TextBox 2"/>
          <p:cNvSpPr txBox="1"/>
          <p:nvPr/>
        </p:nvSpPr>
        <p:spPr>
          <a:xfrm>
            <a:off x="1167493" y="2268548"/>
            <a:ext cx="10560316" cy="646331"/>
          </a:xfrm>
          <a:prstGeom prst="rect">
            <a:avLst/>
          </a:prstGeom>
          <a:noFill/>
        </p:spPr>
        <p:txBody>
          <a:bodyPr wrap="square" rtlCol="0">
            <a:spAutoFit/>
          </a:bodyPr>
          <a:lstStyle/>
          <a:p>
            <a:r>
              <a:rPr lang="en-US" dirty="0">
                <a:solidFill>
                  <a:srgbClr val="273239"/>
                </a:solidFill>
                <a:latin typeface="urw-din"/>
              </a:rPr>
              <a:t>Statements that can raise exceptions are kept inside the try clause and the statements that handle the exception are written inside except clause.</a:t>
            </a:r>
            <a:endParaRPr lang="en-US" dirty="0"/>
          </a:p>
        </p:txBody>
      </p:sp>
      <p:sp>
        <p:nvSpPr>
          <p:cNvPr id="4" name="Rectangle 1"/>
          <p:cNvSpPr>
            <a:spLocks noChangeArrowheads="1"/>
          </p:cNvSpPr>
          <p:nvPr/>
        </p:nvSpPr>
        <p:spPr bwMode="auto">
          <a:xfrm>
            <a:off x="1361802" y="3624848"/>
            <a:ext cx="7004957" cy="17389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000000"/>
                </a:solidFill>
                <a:effectLst/>
                <a:latin typeface="Consolas" panose="020B0609020204030204" pitchFamily="49" charset="0"/>
              </a:rPr>
              <a:t>a </a:t>
            </a:r>
            <a:r>
              <a:rPr kumimoji="0" lang="en-US" altLang="en-US" sz="1100" b="1" i="0" u="none" strike="noStrike" cap="none" normalizeH="0" baseline="0" dirty="0" smtClean="0">
                <a:ln>
                  <a:noFill/>
                </a:ln>
                <a:solidFill>
                  <a:srgbClr val="006699"/>
                </a:solidFill>
                <a:effectLst/>
                <a:latin typeface="Consolas" panose="020B0609020204030204" pitchFamily="49" charset="0"/>
              </a:rPr>
              <a:t>=</a:t>
            </a:r>
            <a:r>
              <a:rPr kumimoji="0" lang="en-US" altLang="en-US" sz="800" b="0" i="0" u="none" strike="noStrike" cap="none" normalizeH="0" baseline="0" dirty="0" smtClean="0">
                <a:ln>
                  <a:noFill/>
                </a:ln>
                <a:solidFill>
                  <a:srgbClr val="273239"/>
                </a:solidFill>
                <a:effectLst/>
                <a:latin typeface="Consolas" panose="020B0609020204030204" pitchFamily="49" charset="0"/>
              </a:rPr>
              <a:t> </a:t>
            </a:r>
            <a:r>
              <a:rPr kumimoji="0" lang="en-US" altLang="en-US" sz="1100" b="0" i="0" u="none" strike="noStrike" cap="none" normalizeH="0" baseline="0" dirty="0" smtClean="0">
                <a:ln>
                  <a:noFill/>
                </a:ln>
                <a:solidFill>
                  <a:srgbClr val="000000"/>
                </a:solidFill>
                <a:effectLst/>
                <a:latin typeface="Consolas" panose="020B0609020204030204" pitchFamily="49" charset="0"/>
              </a:rPr>
              <a:t>[</a:t>
            </a:r>
            <a:r>
              <a:rPr kumimoji="0" lang="en-US" altLang="en-US" sz="1100" b="0" i="0" u="none" strike="noStrike" cap="none" normalizeH="0" baseline="0" dirty="0" smtClean="0">
                <a:ln>
                  <a:noFill/>
                </a:ln>
                <a:solidFill>
                  <a:srgbClr val="009900"/>
                </a:solidFill>
                <a:effectLst/>
                <a:latin typeface="Consolas" panose="020B0609020204030204" pitchFamily="49" charset="0"/>
              </a:rPr>
              <a:t>1</a:t>
            </a:r>
            <a:r>
              <a:rPr kumimoji="0" lang="en-US" altLang="en-US" sz="1100" b="0" i="0" u="none" strike="noStrike" cap="none" normalizeH="0" baseline="0" dirty="0" smtClean="0">
                <a:ln>
                  <a:noFill/>
                </a:ln>
                <a:solidFill>
                  <a:srgbClr val="000000"/>
                </a:solidFill>
                <a:effectLst/>
                <a:latin typeface="Consolas" panose="020B0609020204030204" pitchFamily="49" charset="0"/>
              </a:rPr>
              <a:t>, </a:t>
            </a:r>
            <a:r>
              <a:rPr kumimoji="0" lang="en-US" altLang="en-US" sz="1100" b="0" i="0" u="none" strike="noStrike" cap="none" normalizeH="0" baseline="0" dirty="0" smtClean="0">
                <a:ln>
                  <a:noFill/>
                </a:ln>
                <a:solidFill>
                  <a:srgbClr val="009900"/>
                </a:solidFill>
                <a:effectLst/>
                <a:latin typeface="Consolas" panose="020B0609020204030204" pitchFamily="49" charset="0"/>
              </a:rPr>
              <a:t>2</a:t>
            </a:r>
            <a:r>
              <a:rPr kumimoji="0" lang="en-US" altLang="en-US" sz="1100" b="0" i="0" u="none" strike="noStrike" cap="none" normalizeH="0" baseline="0" dirty="0" smtClean="0">
                <a:ln>
                  <a:noFill/>
                </a:ln>
                <a:solidFill>
                  <a:srgbClr val="000000"/>
                </a:solidFill>
                <a:effectLst/>
                <a:latin typeface="Consolas" panose="020B0609020204030204" pitchFamily="49" charset="0"/>
              </a:rPr>
              <a:t>, </a:t>
            </a:r>
            <a:r>
              <a:rPr kumimoji="0" lang="en-US" altLang="en-US" sz="1100" b="0" i="0" u="none" strike="noStrike" cap="none" normalizeH="0" baseline="0" dirty="0" smtClean="0">
                <a:ln>
                  <a:noFill/>
                </a:ln>
                <a:solidFill>
                  <a:srgbClr val="009900"/>
                </a:solidFill>
                <a:effectLst/>
                <a:latin typeface="Consolas" panose="020B0609020204030204" pitchFamily="49" charset="0"/>
              </a:rPr>
              <a:t>3</a:t>
            </a:r>
            <a:r>
              <a:rPr kumimoji="0" lang="en-US" altLang="en-US" sz="1100" b="0" i="0" u="none" strike="noStrike" cap="none" normalizeH="0" baseline="0" dirty="0" smtClean="0">
                <a:ln>
                  <a:noFill/>
                </a:ln>
                <a:solidFill>
                  <a:srgbClr val="000000"/>
                </a:solidFill>
                <a:effectLst/>
                <a:latin typeface="Consolas" panose="020B0609020204030204" pitchFamily="49" charset="0"/>
              </a:rPr>
              <a:t>]</a:t>
            </a:r>
            <a:endParaRPr kumimoji="0" lang="en-US" alt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smtClean="0">
                <a:ln>
                  <a:noFill/>
                </a:ln>
                <a:solidFill>
                  <a:srgbClr val="006699"/>
                </a:solidFill>
                <a:effectLst/>
                <a:latin typeface="Consolas" panose="020B0609020204030204" pitchFamily="49" charset="0"/>
              </a:rPr>
              <a:t>try</a:t>
            </a:r>
            <a:r>
              <a:rPr kumimoji="0" lang="en-US" altLang="en-US" sz="1100" b="0" i="0" u="none" strike="noStrike" cap="none" normalizeH="0" baseline="0" dirty="0" smtClean="0">
                <a:ln>
                  <a:noFill/>
                </a:ln>
                <a:solidFill>
                  <a:srgbClr val="000000"/>
                </a:solidFill>
                <a:effectLst/>
                <a:latin typeface="Consolas" panose="020B0609020204030204" pitchFamily="49" charset="0"/>
              </a:rPr>
              <a:t>:</a:t>
            </a:r>
            <a:endParaRPr kumimoji="0" lang="en-US" alt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273239"/>
                </a:solidFill>
                <a:effectLst/>
                <a:latin typeface="Consolas" panose="020B0609020204030204" pitchFamily="49" charset="0"/>
              </a:rPr>
              <a:t>    </a:t>
            </a:r>
            <a:r>
              <a:rPr kumimoji="0" lang="en-US" altLang="en-US" sz="1100" b="1" i="0" u="none" strike="noStrike" cap="none" normalizeH="0" baseline="0" dirty="0" smtClean="0">
                <a:ln>
                  <a:noFill/>
                </a:ln>
                <a:solidFill>
                  <a:srgbClr val="006699"/>
                </a:solidFill>
                <a:effectLst/>
                <a:latin typeface="Consolas" panose="020B0609020204030204" pitchFamily="49" charset="0"/>
              </a:rPr>
              <a:t>print</a:t>
            </a:r>
            <a:r>
              <a:rPr kumimoji="0" lang="en-US" altLang="en-US" sz="800" b="0" i="0" u="none" strike="noStrike" cap="none" normalizeH="0" baseline="0" dirty="0" smtClean="0">
                <a:ln>
                  <a:noFill/>
                </a:ln>
                <a:solidFill>
                  <a:srgbClr val="273239"/>
                </a:solidFill>
                <a:effectLst/>
                <a:latin typeface="Consolas" panose="020B0609020204030204" pitchFamily="49" charset="0"/>
              </a:rPr>
              <a:t> </a:t>
            </a:r>
            <a:r>
              <a:rPr kumimoji="0" lang="en-US" altLang="en-US" sz="1100" b="0" i="0" u="none" strike="noStrike" cap="none" normalizeH="0" baseline="0" dirty="0" smtClean="0">
                <a:ln>
                  <a:noFill/>
                </a:ln>
                <a:solidFill>
                  <a:srgbClr val="000000"/>
                </a:solidFill>
                <a:effectLst/>
                <a:latin typeface="Consolas" panose="020B0609020204030204" pitchFamily="49" charset="0"/>
              </a:rPr>
              <a:t>(</a:t>
            </a:r>
            <a:r>
              <a:rPr kumimoji="0" lang="en-US" altLang="en-US" sz="1100" b="0" i="0" u="none" strike="noStrike" cap="none" normalizeH="0" baseline="0" dirty="0" smtClean="0">
                <a:ln>
                  <a:noFill/>
                </a:ln>
                <a:solidFill>
                  <a:srgbClr val="0000FF"/>
                </a:solidFill>
                <a:effectLst/>
                <a:latin typeface="Consolas" panose="020B0609020204030204" pitchFamily="49" charset="0"/>
              </a:rPr>
              <a:t>"Second element = %d"</a:t>
            </a:r>
            <a:r>
              <a:rPr kumimoji="0" lang="en-US" altLang="en-US" sz="800" b="0" i="0" u="none" strike="noStrike" cap="none" normalizeH="0" baseline="0" dirty="0" smtClean="0">
                <a:ln>
                  <a:noFill/>
                </a:ln>
                <a:solidFill>
                  <a:srgbClr val="273239"/>
                </a:solidFill>
                <a:effectLst/>
                <a:latin typeface="Consolas" panose="020B0609020204030204" pitchFamily="49" charset="0"/>
              </a:rPr>
              <a:t> </a:t>
            </a:r>
            <a:r>
              <a:rPr kumimoji="0" lang="en-US" altLang="en-US" sz="1100" b="1" i="0" u="none" strike="noStrike" cap="none" normalizeH="0" baseline="0" dirty="0" smtClean="0">
                <a:ln>
                  <a:noFill/>
                </a:ln>
                <a:solidFill>
                  <a:srgbClr val="006699"/>
                </a:solidFill>
                <a:effectLst/>
                <a:latin typeface="Consolas" panose="020B0609020204030204" pitchFamily="49" charset="0"/>
              </a:rPr>
              <a:t>%</a:t>
            </a:r>
            <a:r>
              <a:rPr kumimoji="0" lang="en-US" altLang="en-US" sz="1100" b="0" i="0" u="none" strike="noStrike" cap="none" normalizeH="0" baseline="0" dirty="0" smtClean="0">
                <a:ln>
                  <a:noFill/>
                </a:ln>
                <a:solidFill>
                  <a:srgbClr val="000000"/>
                </a:solidFill>
                <a:effectLst/>
                <a:latin typeface="Consolas" panose="020B0609020204030204" pitchFamily="49" charset="0"/>
              </a:rPr>
              <a:t>(a[</a:t>
            </a:r>
            <a:r>
              <a:rPr kumimoji="0" lang="en-US" altLang="en-US" sz="1100" b="0" i="0" u="none" strike="noStrike" cap="none" normalizeH="0" baseline="0" dirty="0" smtClean="0">
                <a:ln>
                  <a:noFill/>
                </a:ln>
                <a:solidFill>
                  <a:srgbClr val="009900"/>
                </a:solidFill>
                <a:effectLst/>
                <a:latin typeface="Consolas" panose="020B0609020204030204" pitchFamily="49" charset="0"/>
              </a:rPr>
              <a:t>1</a:t>
            </a:r>
            <a:r>
              <a:rPr kumimoji="0" lang="en-US" altLang="en-US" sz="1100" b="0" i="0" u="none" strike="noStrike" cap="none" normalizeH="0" baseline="0" dirty="0" smtClean="0">
                <a:ln>
                  <a:noFill/>
                </a:ln>
                <a:solidFill>
                  <a:srgbClr val="000000"/>
                </a:solidFill>
                <a:effectLst/>
                <a:latin typeface="Consolas" panose="020B0609020204030204" pitchFamily="49" charset="0"/>
              </a:rPr>
              <a:t>]))</a:t>
            </a:r>
            <a:endParaRPr kumimoji="0" lang="en-US" alt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273239"/>
                </a:solidFill>
                <a:effectLst/>
                <a:latin typeface="Consolas" panose="020B0609020204030204" pitchFamily="49" charset="0"/>
              </a:rPr>
              <a:t> </a:t>
            </a:r>
            <a:endParaRPr kumimoji="0" lang="en-US" alt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273239"/>
                </a:solidFill>
                <a:effectLst/>
                <a:latin typeface="Consolas" panose="020B0609020204030204" pitchFamily="49" charset="0"/>
              </a:rPr>
              <a:t>    </a:t>
            </a:r>
            <a:r>
              <a:rPr kumimoji="0" lang="en-US" altLang="en-US" sz="1100" b="0" i="0" u="none" strike="noStrike" cap="none" normalizeH="0" baseline="0" dirty="0" smtClean="0">
                <a:ln>
                  <a:noFill/>
                </a:ln>
                <a:solidFill>
                  <a:srgbClr val="008200"/>
                </a:solidFill>
                <a:effectLst/>
                <a:latin typeface="Consolas" panose="020B0609020204030204" pitchFamily="49" charset="0"/>
              </a:rPr>
              <a:t># Throws error since there are only 3 elements in array</a:t>
            </a:r>
            <a:endParaRPr kumimoji="0" lang="en-US" alt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273239"/>
                </a:solidFill>
                <a:effectLst/>
                <a:latin typeface="Consolas" panose="020B0609020204030204" pitchFamily="49" charset="0"/>
              </a:rPr>
              <a:t>    </a:t>
            </a:r>
            <a:r>
              <a:rPr kumimoji="0" lang="en-US" altLang="en-US" sz="1100" b="1" i="0" u="none" strike="noStrike" cap="none" normalizeH="0" baseline="0" dirty="0" smtClean="0">
                <a:ln>
                  <a:noFill/>
                </a:ln>
                <a:solidFill>
                  <a:srgbClr val="006699"/>
                </a:solidFill>
                <a:effectLst/>
                <a:latin typeface="Consolas" panose="020B0609020204030204" pitchFamily="49" charset="0"/>
              </a:rPr>
              <a:t>print</a:t>
            </a:r>
            <a:r>
              <a:rPr kumimoji="0" lang="en-US" altLang="en-US" sz="800" b="0" i="0" u="none" strike="noStrike" cap="none" normalizeH="0" baseline="0" dirty="0" smtClean="0">
                <a:ln>
                  <a:noFill/>
                </a:ln>
                <a:solidFill>
                  <a:srgbClr val="273239"/>
                </a:solidFill>
                <a:effectLst/>
                <a:latin typeface="Consolas" panose="020B0609020204030204" pitchFamily="49" charset="0"/>
              </a:rPr>
              <a:t> </a:t>
            </a:r>
            <a:r>
              <a:rPr kumimoji="0" lang="en-US" altLang="en-US" sz="1100" b="0" i="0" u="none" strike="noStrike" cap="none" normalizeH="0" baseline="0" dirty="0" smtClean="0">
                <a:ln>
                  <a:noFill/>
                </a:ln>
                <a:solidFill>
                  <a:srgbClr val="000000"/>
                </a:solidFill>
                <a:effectLst/>
                <a:latin typeface="Consolas" panose="020B0609020204030204" pitchFamily="49" charset="0"/>
              </a:rPr>
              <a:t>(</a:t>
            </a:r>
            <a:r>
              <a:rPr kumimoji="0" lang="en-US" altLang="en-US" sz="1100" b="0" i="0" u="none" strike="noStrike" cap="none" normalizeH="0" baseline="0" dirty="0" smtClean="0">
                <a:ln>
                  <a:noFill/>
                </a:ln>
                <a:solidFill>
                  <a:srgbClr val="0000FF"/>
                </a:solidFill>
                <a:effectLst/>
                <a:latin typeface="Consolas" panose="020B0609020204030204" pitchFamily="49" charset="0"/>
              </a:rPr>
              <a:t>"Fourth element = %d"</a:t>
            </a:r>
            <a:r>
              <a:rPr kumimoji="0" lang="en-US" altLang="en-US" sz="800" b="0" i="0" u="none" strike="noStrike" cap="none" normalizeH="0" baseline="0" dirty="0" smtClean="0">
                <a:ln>
                  <a:noFill/>
                </a:ln>
                <a:solidFill>
                  <a:srgbClr val="273239"/>
                </a:solidFill>
                <a:effectLst/>
                <a:latin typeface="Consolas" panose="020B0609020204030204" pitchFamily="49" charset="0"/>
              </a:rPr>
              <a:t> </a:t>
            </a:r>
            <a:r>
              <a:rPr kumimoji="0" lang="en-US" altLang="en-US" sz="1100" b="1" i="0" u="none" strike="noStrike" cap="none" normalizeH="0" baseline="0" dirty="0" smtClean="0">
                <a:ln>
                  <a:noFill/>
                </a:ln>
                <a:solidFill>
                  <a:srgbClr val="006699"/>
                </a:solidFill>
                <a:effectLst/>
                <a:latin typeface="Consolas" panose="020B0609020204030204" pitchFamily="49" charset="0"/>
              </a:rPr>
              <a:t>%</a:t>
            </a:r>
            <a:r>
              <a:rPr kumimoji="0" lang="en-US" altLang="en-US" sz="1100" b="0" i="0" u="none" strike="noStrike" cap="none" normalizeH="0" baseline="0" dirty="0" smtClean="0">
                <a:ln>
                  <a:noFill/>
                </a:ln>
                <a:solidFill>
                  <a:srgbClr val="000000"/>
                </a:solidFill>
                <a:effectLst/>
                <a:latin typeface="Consolas" panose="020B0609020204030204" pitchFamily="49" charset="0"/>
              </a:rPr>
              <a:t>(a[</a:t>
            </a:r>
            <a:r>
              <a:rPr kumimoji="0" lang="en-US" altLang="en-US" sz="1100" b="0" i="0" u="none" strike="noStrike" cap="none" normalizeH="0" baseline="0" dirty="0" smtClean="0">
                <a:ln>
                  <a:noFill/>
                </a:ln>
                <a:solidFill>
                  <a:srgbClr val="009900"/>
                </a:solidFill>
                <a:effectLst/>
                <a:latin typeface="Consolas" panose="020B0609020204030204" pitchFamily="49" charset="0"/>
              </a:rPr>
              <a:t>3</a:t>
            </a:r>
            <a:r>
              <a:rPr kumimoji="0" lang="en-US" altLang="en-US" sz="1100" b="0" i="0" u="none" strike="noStrike" cap="none" normalizeH="0" baseline="0" dirty="0" smtClean="0">
                <a:ln>
                  <a:noFill/>
                </a:ln>
                <a:solidFill>
                  <a:srgbClr val="000000"/>
                </a:solidFill>
                <a:effectLst/>
                <a:latin typeface="Consolas" panose="020B0609020204030204" pitchFamily="49" charset="0"/>
              </a:rPr>
              <a:t>]))</a:t>
            </a:r>
            <a:endParaRPr kumimoji="0" lang="en-US" alt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273239"/>
                </a:solidFill>
                <a:effectLst/>
                <a:latin typeface="Consolas" panose="020B0609020204030204" pitchFamily="49" charset="0"/>
              </a:rPr>
              <a:t> </a:t>
            </a:r>
            <a:endParaRPr kumimoji="0" lang="en-US" alt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smtClean="0">
                <a:ln>
                  <a:noFill/>
                </a:ln>
                <a:solidFill>
                  <a:srgbClr val="006699"/>
                </a:solidFill>
                <a:effectLst/>
                <a:latin typeface="Consolas" panose="020B0609020204030204" pitchFamily="49" charset="0"/>
              </a:rPr>
              <a:t>except</a:t>
            </a:r>
            <a:r>
              <a:rPr kumimoji="0" lang="en-US" altLang="en-US" sz="1100" b="0" i="0" u="none" strike="noStrike" cap="none" normalizeH="0" baseline="0" dirty="0" smtClean="0">
                <a:ln>
                  <a:noFill/>
                </a:ln>
                <a:solidFill>
                  <a:srgbClr val="000000"/>
                </a:solidFill>
                <a:effectLst/>
                <a:latin typeface="Consolas" panose="020B0609020204030204" pitchFamily="49" charset="0"/>
              </a:rPr>
              <a:t>:</a:t>
            </a:r>
            <a:endParaRPr kumimoji="0" lang="en-US" alt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273239"/>
                </a:solidFill>
                <a:effectLst/>
                <a:latin typeface="Consolas" panose="020B0609020204030204" pitchFamily="49" charset="0"/>
              </a:rPr>
              <a:t>    </a:t>
            </a:r>
            <a:r>
              <a:rPr kumimoji="0" lang="en-US" altLang="en-US" sz="1100" b="0" i="0" u="none" strike="noStrike" cap="none" normalizeH="0" baseline="0" dirty="0" smtClean="0">
                <a:ln>
                  <a:noFill/>
                </a:ln>
                <a:solidFill>
                  <a:srgbClr val="FF1493"/>
                </a:solidFill>
                <a:effectLst/>
                <a:latin typeface="Consolas" panose="020B0609020204030204" pitchFamily="49" charset="0"/>
              </a:rPr>
              <a:t>print</a:t>
            </a:r>
            <a:r>
              <a:rPr kumimoji="0" lang="en-US" altLang="en-US" sz="800" b="0" i="0" u="none" strike="noStrike" cap="none" normalizeH="0" baseline="0" dirty="0" smtClean="0">
                <a:ln>
                  <a:noFill/>
                </a:ln>
                <a:solidFill>
                  <a:srgbClr val="273239"/>
                </a:solidFill>
                <a:effectLst/>
                <a:latin typeface="Consolas" panose="020B0609020204030204" pitchFamily="49" charset="0"/>
              </a:rPr>
              <a:t> </a:t>
            </a:r>
            <a:r>
              <a:rPr kumimoji="0" lang="en-US" altLang="en-US" sz="1100" b="0" i="0" u="none" strike="noStrike" cap="none" normalizeH="0" baseline="0" dirty="0" smtClean="0">
                <a:ln>
                  <a:noFill/>
                </a:ln>
                <a:solidFill>
                  <a:srgbClr val="000000"/>
                </a:solidFill>
                <a:effectLst/>
                <a:latin typeface="Consolas" panose="020B0609020204030204" pitchFamily="49" charset="0"/>
              </a:rPr>
              <a:t>(</a:t>
            </a:r>
            <a:r>
              <a:rPr kumimoji="0" lang="en-US" altLang="en-US" sz="1100" b="0" i="0" u="none" strike="noStrike" cap="none" normalizeH="0" baseline="0" dirty="0" smtClean="0">
                <a:ln>
                  <a:noFill/>
                </a:ln>
                <a:solidFill>
                  <a:srgbClr val="0000FF"/>
                </a:solidFill>
                <a:effectLst/>
                <a:latin typeface="Consolas" panose="020B0609020204030204" pitchFamily="49" charset="0"/>
              </a:rPr>
              <a:t>"An error occurred"</a:t>
            </a:r>
            <a:r>
              <a:rPr kumimoji="0" lang="en-US" altLang="en-US" sz="1100" b="0" i="0" u="none" strike="noStrike" cap="none" normalizeH="0" baseline="0" dirty="0" smtClean="0">
                <a:ln>
                  <a:noFill/>
                </a:ln>
                <a:solidFill>
                  <a:srgbClr val="000000"/>
                </a:solidFill>
                <a:effectLst/>
                <a:latin typeface="Consolas" panose="020B0609020204030204" pitchFamily="49" charset="0"/>
              </a:rPr>
              <a:t>)</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4808490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5949064" cy="584775"/>
          </a:xfrm>
          <a:prstGeom prst="rect">
            <a:avLst/>
          </a:prstGeom>
          <a:noFill/>
        </p:spPr>
        <p:txBody>
          <a:bodyPr wrap="none" rtlCol="0">
            <a:spAutoFit/>
          </a:bodyPr>
          <a:lstStyle/>
          <a:p>
            <a:r>
              <a:rPr lang="en-US" sz="3200" dirty="0">
                <a:solidFill>
                  <a:schemeClr val="bg1"/>
                </a:solidFill>
              </a:rPr>
              <a:t> Catching Specific Exception</a:t>
            </a:r>
          </a:p>
        </p:txBody>
      </p:sp>
      <p:sp>
        <p:nvSpPr>
          <p:cNvPr id="3" name="TextBox 2"/>
          <p:cNvSpPr txBox="1"/>
          <p:nvPr/>
        </p:nvSpPr>
        <p:spPr>
          <a:xfrm>
            <a:off x="1167493" y="2268548"/>
            <a:ext cx="10560316" cy="1477328"/>
          </a:xfrm>
          <a:prstGeom prst="rect">
            <a:avLst/>
          </a:prstGeom>
          <a:noFill/>
        </p:spPr>
        <p:txBody>
          <a:bodyPr wrap="square" rtlCol="0">
            <a:spAutoFit/>
          </a:bodyPr>
          <a:lstStyle/>
          <a:p>
            <a:r>
              <a:rPr lang="en-US" dirty="0">
                <a:solidFill>
                  <a:srgbClr val="273239"/>
                </a:solidFill>
                <a:latin typeface="urw-din"/>
              </a:rPr>
              <a:t>A try statement can have more than one except clause, to specify handlers for different exceptions</a:t>
            </a:r>
            <a:r>
              <a:rPr lang="en-US" dirty="0" smtClean="0">
                <a:solidFill>
                  <a:srgbClr val="273239"/>
                </a:solidFill>
                <a:latin typeface="urw-din"/>
              </a:rPr>
              <a:t>.</a:t>
            </a:r>
          </a:p>
          <a:p>
            <a:endParaRPr lang="en-US" dirty="0">
              <a:solidFill>
                <a:srgbClr val="273239"/>
              </a:solidFill>
              <a:latin typeface="urw-din"/>
            </a:endParaRPr>
          </a:p>
          <a:p>
            <a:r>
              <a:rPr lang="en-US" dirty="0" smtClean="0">
                <a:solidFill>
                  <a:srgbClr val="273239"/>
                </a:solidFill>
                <a:latin typeface="urw-din"/>
              </a:rPr>
              <a:t>Specific exceptions handled in respective except block </a:t>
            </a:r>
          </a:p>
          <a:p>
            <a:endParaRPr lang="en-US" dirty="0">
              <a:solidFill>
                <a:srgbClr val="273239"/>
              </a:solidFill>
              <a:latin typeface="urw-din"/>
            </a:endParaRPr>
          </a:p>
          <a:p>
            <a:r>
              <a:rPr lang="en-US" dirty="0" smtClean="0">
                <a:solidFill>
                  <a:srgbClr val="273239"/>
                </a:solidFill>
                <a:latin typeface="urw-din"/>
              </a:rPr>
              <a:t>All other exception handled in except: block </a:t>
            </a:r>
            <a:endParaRPr lang="en-US" dirty="0"/>
          </a:p>
        </p:txBody>
      </p:sp>
      <p:sp>
        <p:nvSpPr>
          <p:cNvPr id="5" name="Rectangle 1"/>
          <p:cNvSpPr>
            <a:spLocks noChangeArrowheads="1"/>
          </p:cNvSpPr>
          <p:nvPr/>
        </p:nvSpPr>
        <p:spPr bwMode="auto">
          <a:xfrm>
            <a:off x="1402385" y="4233858"/>
            <a:ext cx="2892779" cy="1541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rgbClr val="273239"/>
                </a:solidFill>
                <a:effectLst/>
                <a:latin typeface="Consolas" panose="020B0609020204030204" pitchFamily="49" charset="0"/>
              </a:rPr>
              <a:t>try: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rgbClr val="273239"/>
                </a:solidFill>
                <a:latin typeface="Consolas" panose="020B0609020204030204" pitchFamily="49" charset="0"/>
              </a:rPr>
              <a:t>	</a:t>
            </a:r>
            <a:r>
              <a:rPr kumimoji="0" lang="en-US" altLang="en-US" sz="1200" b="0" i="0" u="none" strike="noStrike" cap="none" normalizeH="0" baseline="0" dirty="0" smtClean="0">
                <a:ln>
                  <a:noFill/>
                </a:ln>
                <a:solidFill>
                  <a:srgbClr val="273239"/>
                </a:solidFill>
                <a:effectLst/>
                <a:latin typeface="Consolas" panose="020B0609020204030204" pitchFamily="49" charset="0"/>
              </a:rPr>
              <a:t># statement(s)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rgbClr val="273239"/>
                </a:solidFill>
                <a:effectLst/>
                <a:latin typeface="Consolas" panose="020B0609020204030204" pitchFamily="49" charset="0"/>
              </a:rPr>
              <a:t>except </a:t>
            </a:r>
            <a:r>
              <a:rPr kumimoji="0" lang="en-US" altLang="en-US" sz="1200" b="0" i="0" u="none" strike="noStrike" cap="none" normalizeH="0" baseline="0" dirty="0" err="1" smtClean="0">
                <a:ln>
                  <a:noFill/>
                </a:ln>
                <a:solidFill>
                  <a:srgbClr val="273239"/>
                </a:solidFill>
                <a:effectLst/>
                <a:latin typeface="Consolas" panose="020B0609020204030204" pitchFamily="49" charset="0"/>
              </a:rPr>
              <a:t>ZeroDivisionError</a:t>
            </a:r>
            <a:r>
              <a:rPr kumimoji="0" lang="en-US" altLang="en-US" sz="1200" b="0" i="0" u="none" strike="noStrike" cap="none" normalizeH="0" baseline="0" dirty="0" smtClean="0">
                <a:ln>
                  <a:noFill/>
                </a:ln>
                <a:solidFill>
                  <a:srgbClr val="273239"/>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rgbClr val="273239"/>
                </a:solidFill>
                <a:latin typeface="Consolas" panose="020B0609020204030204" pitchFamily="49" charset="0"/>
              </a:rPr>
              <a:t>	</a:t>
            </a:r>
            <a:r>
              <a:rPr kumimoji="0" lang="en-US" altLang="en-US" sz="1200" b="0" i="0" u="none" strike="noStrike" cap="none" normalizeH="0" baseline="0" dirty="0" smtClean="0">
                <a:ln>
                  <a:noFill/>
                </a:ln>
                <a:solidFill>
                  <a:srgbClr val="273239"/>
                </a:solidFill>
                <a:effectLst/>
                <a:latin typeface="Consolas" panose="020B0609020204030204" pitchFamily="49" charset="0"/>
              </a:rPr>
              <a:t># statement(s)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rgbClr val="273239"/>
                </a:solidFill>
                <a:effectLst/>
                <a:latin typeface="Consolas" panose="020B0609020204030204" pitchFamily="49" charset="0"/>
              </a:rPr>
              <a:t>except </a:t>
            </a:r>
            <a:r>
              <a:rPr kumimoji="0" lang="en-US" altLang="en-US" sz="1200" b="0" i="0" u="none" strike="noStrike" cap="none" normalizeH="0" baseline="0" dirty="0" err="1" smtClean="0">
                <a:ln>
                  <a:noFill/>
                </a:ln>
                <a:solidFill>
                  <a:srgbClr val="273239"/>
                </a:solidFill>
                <a:effectLst/>
                <a:latin typeface="Consolas" panose="020B0609020204030204" pitchFamily="49" charset="0"/>
              </a:rPr>
              <a:t>IndexError</a:t>
            </a:r>
            <a:r>
              <a:rPr kumimoji="0" lang="en-US" altLang="en-US" sz="1200" b="0" i="0" u="none" strike="noStrike" cap="none" normalizeH="0" baseline="0" dirty="0" smtClean="0">
                <a:ln>
                  <a:noFill/>
                </a:ln>
                <a:solidFill>
                  <a:srgbClr val="273239"/>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smtClean="0">
                <a:solidFill>
                  <a:srgbClr val="273239"/>
                </a:solidFill>
                <a:latin typeface="Consolas" panose="020B0609020204030204" pitchFamily="49" charset="0"/>
              </a:rPr>
              <a:t>	</a:t>
            </a:r>
            <a:r>
              <a:rPr kumimoji="0" lang="en-US" altLang="en-US" sz="1200" b="0" i="0" u="none" strike="noStrike" cap="none" normalizeH="0" baseline="0" dirty="0" smtClean="0">
                <a:ln>
                  <a:noFill/>
                </a:ln>
                <a:solidFill>
                  <a:srgbClr val="273239"/>
                </a:solidFill>
                <a:effectLst/>
                <a:latin typeface="Consolas" panose="020B0609020204030204" pitchFamily="49" charset="0"/>
              </a:rPr>
              <a:t># statement(s)</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rgbClr val="273239"/>
                </a:solidFill>
                <a:latin typeface="Consolas" panose="020B0609020204030204" pitchFamily="49" charset="0"/>
              </a:rPr>
              <a:t>e</a:t>
            </a:r>
            <a:r>
              <a:rPr lang="en-US" altLang="en-US" sz="1200" dirty="0" smtClean="0">
                <a:solidFill>
                  <a:srgbClr val="273239"/>
                </a:solidFill>
                <a:latin typeface="Consolas" panose="020B0609020204030204" pitchFamily="49" charset="0"/>
              </a:rPr>
              <a:t>xcept: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73239"/>
                </a:solidFill>
                <a:effectLst/>
                <a:latin typeface="Consolas" panose="020B0609020204030204" pitchFamily="49" charset="0"/>
              </a:rPr>
              <a:t>	</a:t>
            </a:r>
            <a:r>
              <a:rPr kumimoji="0" lang="en-US" altLang="en-US" sz="1200" b="0" i="0" u="none" strike="noStrike" cap="none" normalizeH="0" baseline="0" dirty="0" smtClean="0">
                <a:ln>
                  <a:noFill/>
                </a:ln>
                <a:solidFill>
                  <a:srgbClr val="273239"/>
                </a:solidFill>
                <a:effectLst/>
                <a:latin typeface="Consolas" panose="020B0609020204030204" pitchFamily="49" charset="0"/>
              </a:rPr>
              <a:t># statements(s)</a:t>
            </a:r>
            <a:r>
              <a:rPr kumimoji="0" lang="en-US" altLang="en-US" sz="800" b="0" i="0" u="none" strike="noStrike" cap="none" normalizeH="0" baseline="0" dirty="0" smtClean="0">
                <a:ln>
                  <a:noFill/>
                </a:ln>
                <a:solidFill>
                  <a:schemeClr val="tx1"/>
                </a:solidFill>
                <a:effectLst/>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909432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4565673" cy="584775"/>
          </a:xfrm>
          <a:prstGeom prst="rect">
            <a:avLst/>
          </a:prstGeom>
          <a:noFill/>
        </p:spPr>
        <p:txBody>
          <a:bodyPr wrap="none" rtlCol="0">
            <a:spAutoFit/>
          </a:bodyPr>
          <a:lstStyle/>
          <a:p>
            <a:r>
              <a:rPr lang="en-US" sz="3200" dirty="0">
                <a:solidFill>
                  <a:schemeClr val="bg1"/>
                </a:solidFill>
              </a:rPr>
              <a:t> </a:t>
            </a:r>
            <a:r>
              <a:rPr lang="en-US" sz="3200" dirty="0" smtClean="0">
                <a:solidFill>
                  <a:schemeClr val="bg1"/>
                </a:solidFill>
              </a:rPr>
              <a:t>else and finally block</a:t>
            </a:r>
            <a:endParaRPr lang="en-US" sz="3200" dirty="0">
              <a:solidFill>
                <a:schemeClr val="bg1"/>
              </a:solidFill>
            </a:endParaRPr>
          </a:p>
        </p:txBody>
      </p:sp>
      <p:sp>
        <p:nvSpPr>
          <p:cNvPr id="3" name="TextBox 2"/>
          <p:cNvSpPr txBox="1"/>
          <p:nvPr/>
        </p:nvSpPr>
        <p:spPr>
          <a:xfrm>
            <a:off x="1167493" y="2268548"/>
            <a:ext cx="10560316" cy="923330"/>
          </a:xfrm>
          <a:prstGeom prst="rect">
            <a:avLst/>
          </a:prstGeom>
          <a:noFill/>
        </p:spPr>
        <p:txBody>
          <a:bodyPr wrap="square" rtlCol="0">
            <a:spAutoFit/>
          </a:bodyPr>
          <a:lstStyle/>
          <a:p>
            <a:r>
              <a:rPr lang="en-US" b="1" dirty="0" smtClean="0">
                <a:solidFill>
                  <a:srgbClr val="273239"/>
                </a:solidFill>
                <a:latin typeface="urw-din"/>
              </a:rPr>
              <a:t>else  :  </a:t>
            </a:r>
            <a:r>
              <a:rPr lang="en-US" dirty="0" smtClean="0">
                <a:solidFill>
                  <a:srgbClr val="273239"/>
                </a:solidFill>
                <a:latin typeface="urw-din"/>
              </a:rPr>
              <a:t>Sometimes we want to run a piece of code when try was successful  </a:t>
            </a:r>
          </a:p>
          <a:p>
            <a:endParaRPr lang="en-US" dirty="0">
              <a:solidFill>
                <a:srgbClr val="273239"/>
              </a:solidFill>
              <a:latin typeface="urw-din"/>
            </a:endParaRPr>
          </a:p>
          <a:p>
            <a:r>
              <a:rPr lang="en-US" b="1" dirty="0" smtClean="0">
                <a:solidFill>
                  <a:srgbClr val="273239"/>
                </a:solidFill>
                <a:latin typeface="urw-din"/>
              </a:rPr>
              <a:t>finally : </a:t>
            </a:r>
            <a:r>
              <a:rPr lang="en-US" dirty="0" smtClean="0">
                <a:solidFill>
                  <a:srgbClr val="273239"/>
                </a:solidFill>
                <a:latin typeface="urw-din"/>
              </a:rPr>
              <a:t>finally block will always executed regardless exception occurred or not</a:t>
            </a:r>
            <a:endParaRPr lang="en-US" dirty="0"/>
          </a:p>
        </p:txBody>
      </p:sp>
      <p:sp>
        <p:nvSpPr>
          <p:cNvPr id="4" name="Rectangle 3"/>
          <p:cNvSpPr/>
          <p:nvPr/>
        </p:nvSpPr>
        <p:spPr>
          <a:xfrm>
            <a:off x="2596243" y="3740816"/>
            <a:ext cx="5029200" cy="2308324"/>
          </a:xfrm>
          <a:prstGeom prst="rect">
            <a:avLst/>
          </a:prstGeom>
        </p:spPr>
        <p:txBody>
          <a:bodyPr wrap="square">
            <a:spAutoFit/>
          </a:bodyPr>
          <a:lstStyle/>
          <a:p>
            <a:r>
              <a:rPr lang="en-US" dirty="0">
                <a:solidFill>
                  <a:srgbClr val="C586C0"/>
                </a:solidFill>
                <a:latin typeface="Consolas" panose="020B0609020204030204" pitchFamily="49" charset="0"/>
              </a:rPr>
              <a:t>try</a:t>
            </a:r>
            <a:r>
              <a:rPr lang="en-US" dirty="0">
                <a:solidFill>
                  <a:srgbClr val="D4D4D4"/>
                </a:solidFill>
                <a:latin typeface="Consolas" panose="020B0609020204030204" pitchFamily="49" charset="0"/>
              </a:rPr>
              <a:t>: </a:t>
            </a:r>
          </a:p>
          <a:p>
            <a:r>
              <a:rPr lang="en-US" dirty="0">
                <a:solidFill>
                  <a:srgbClr val="D4D4D4"/>
                </a:solidFill>
                <a:latin typeface="Consolas" panose="020B0609020204030204" pitchFamily="49" charset="0"/>
              </a:rPr>
              <a:t>    </a:t>
            </a:r>
            <a:r>
              <a:rPr lang="en-US" dirty="0">
                <a:solidFill>
                  <a:srgbClr val="9CDCFE"/>
                </a:solidFill>
                <a:latin typeface="Consolas" panose="020B0609020204030204" pitchFamily="49" charset="0"/>
              </a:rPr>
              <a:t>a</a:t>
            </a:r>
            <a:r>
              <a:rPr lang="en-US" dirty="0">
                <a:solidFill>
                  <a:srgbClr val="D4D4D4"/>
                </a:solidFill>
                <a:latin typeface="Consolas" panose="020B0609020204030204" pitchFamily="49" charset="0"/>
              </a:rPr>
              <a:t> = </a:t>
            </a:r>
            <a:r>
              <a:rPr lang="en-US" dirty="0">
                <a:solidFill>
                  <a:srgbClr val="B5CEA8"/>
                </a:solidFill>
                <a:latin typeface="Consolas" panose="020B0609020204030204" pitchFamily="49" charset="0"/>
              </a:rPr>
              <a:t>10</a:t>
            </a:r>
            <a:endParaRPr lang="en-US" dirty="0">
              <a:solidFill>
                <a:srgbClr val="D4D4D4"/>
              </a:solidFill>
              <a:latin typeface="Consolas" panose="020B0609020204030204" pitchFamily="49" charset="0"/>
            </a:endParaRPr>
          </a:p>
          <a:p>
            <a:r>
              <a:rPr lang="en-US" dirty="0">
                <a:solidFill>
                  <a:srgbClr val="C586C0"/>
                </a:solidFill>
                <a:latin typeface="Consolas" panose="020B0609020204030204" pitchFamily="49" charset="0"/>
              </a:rPr>
              <a:t>except</a:t>
            </a:r>
            <a:r>
              <a:rPr lang="en-US" dirty="0">
                <a:solidFill>
                  <a:srgbClr val="D4D4D4"/>
                </a:solidFill>
                <a:latin typeface="Consolas" panose="020B0609020204030204" pitchFamily="49" charset="0"/>
              </a:rPr>
              <a:t>: </a:t>
            </a:r>
          </a:p>
          <a:p>
            <a:r>
              <a:rPr lang="en-US" dirty="0">
                <a:solidFill>
                  <a:srgbClr val="D4D4D4"/>
                </a:solidFill>
                <a:latin typeface="Consolas" panose="020B0609020204030204" pitchFamily="49" charset="0"/>
              </a:rPr>
              <a:t>    </a:t>
            </a:r>
            <a:r>
              <a:rPr lang="en-US" dirty="0">
                <a:solidFill>
                  <a:srgbClr val="DCDCAA"/>
                </a:solidFill>
                <a:latin typeface="Consolas" panose="020B0609020204030204" pitchFamily="49" charset="0"/>
              </a:rPr>
              <a:t>print</a:t>
            </a:r>
            <a:r>
              <a:rPr lang="en-US" dirty="0">
                <a:solidFill>
                  <a:srgbClr val="D4D4D4"/>
                </a:solidFill>
                <a:latin typeface="Consolas" panose="020B0609020204030204" pitchFamily="49" charset="0"/>
              </a:rPr>
              <a:t>(</a:t>
            </a:r>
            <a:r>
              <a:rPr lang="en-US" dirty="0">
                <a:solidFill>
                  <a:srgbClr val="CE9178"/>
                </a:solidFill>
                <a:latin typeface="Consolas" panose="020B0609020204030204" pitchFamily="49" charset="0"/>
              </a:rPr>
              <a:t>"Exception handled"</a:t>
            </a:r>
            <a:r>
              <a:rPr lang="en-US" dirty="0">
                <a:solidFill>
                  <a:srgbClr val="D4D4D4"/>
                </a:solidFill>
                <a:latin typeface="Consolas" panose="020B0609020204030204" pitchFamily="49" charset="0"/>
              </a:rPr>
              <a:t>)</a:t>
            </a:r>
          </a:p>
          <a:p>
            <a:r>
              <a:rPr lang="en-US" dirty="0">
                <a:solidFill>
                  <a:srgbClr val="C586C0"/>
                </a:solidFill>
                <a:latin typeface="Consolas" panose="020B0609020204030204" pitchFamily="49" charset="0"/>
              </a:rPr>
              <a:t>else</a:t>
            </a:r>
            <a:r>
              <a:rPr lang="en-US" dirty="0">
                <a:solidFill>
                  <a:srgbClr val="D4D4D4"/>
                </a:solidFill>
                <a:latin typeface="Consolas" panose="020B0609020204030204" pitchFamily="49" charset="0"/>
              </a:rPr>
              <a:t>: </a:t>
            </a:r>
          </a:p>
          <a:p>
            <a:r>
              <a:rPr lang="en-US" dirty="0">
                <a:solidFill>
                  <a:srgbClr val="D4D4D4"/>
                </a:solidFill>
                <a:latin typeface="Consolas" panose="020B0609020204030204" pitchFamily="49" charset="0"/>
              </a:rPr>
              <a:t>    </a:t>
            </a:r>
            <a:r>
              <a:rPr lang="en-US" dirty="0">
                <a:solidFill>
                  <a:srgbClr val="DCDCAA"/>
                </a:solidFill>
                <a:latin typeface="Consolas" panose="020B0609020204030204" pitchFamily="49" charset="0"/>
              </a:rPr>
              <a:t>print</a:t>
            </a:r>
            <a:r>
              <a:rPr lang="en-US" dirty="0">
                <a:solidFill>
                  <a:srgbClr val="D4D4D4"/>
                </a:solidFill>
                <a:latin typeface="Consolas" panose="020B0609020204030204" pitchFamily="49" charset="0"/>
              </a:rPr>
              <a:t>(</a:t>
            </a:r>
            <a:r>
              <a:rPr lang="en-US" dirty="0">
                <a:solidFill>
                  <a:srgbClr val="CE9178"/>
                </a:solidFill>
                <a:latin typeface="Consolas" panose="020B0609020204030204" pitchFamily="49" charset="0"/>
              </a:rPr>
              <a:t>"Else block executed"</a:t>
            </a:r>
            <a:r>
              <a:rPr lang="en-US" dirty="0">
                <a:solidFill>
                  <a:srgbClr val="D4D4D4"/>
                </a:solidFill>
                <a:latin typeface="Consolas" panose="020B0609020204030204" pitchFamily="49" charset="0"/>
              </a:rPr>
              <a:t>)</a:t>
            </a:r>
          </a:p>
          <a:p>
            <a:r>
              <a:rPr lang="en-US" dirty="0">
                <a:solidFill>
                  <a:srgbClr val="C586C0"/>
                </a:solidFill>
                <a:latin typeface="Consolas" panose="020B0609020204030204" pitchFamily="49" charset="0"/>
              </a:rPr>
              <a:t>finally</a:t>
            </a:r>
            <a:r>
              <a:rPr lang="en-US" dirty="0">
                <a:solidFill>
                  <a:srgbClr val="D4D4D4"/>
                </a:solidFill>
                <a:latin typeface="Consolas" panose="020B0609020204030204" pitchFamily="49" charset="0"/>
              </a:rPr>
              <a:t>: </a:t>
            </a:r>
          </a:p>
          <a:p>
            <a:r>
              <a:rPr lang="en-US" dirty="0">
                <a:solidFill>
                  <a:srgbClr val="D4D4D4"/>
                </a:solidFill>
                <a:latin typeface="Consolas" panose="020B0609020204030204" pitchFamily="49" charset="0"/>
              </a:rPr>
              <a:t>    </a:t>
            </a:r>
            <a:r>
              <a:rPr lang="en-US" dirty="0">
                <a:solidFill>
                  <a:srgbClr val="DCDCAA"/>
                </a:solidFill>
                <a:latin typeface="Consolas" panose="020B0609020204030204" pitchFamily="49" charset="0"/>
              </a:rPr>
              <a:t>print</a:t>
            </a:r>
            <a:r>
              <a:rPr lang="en-US" dirty="0">
                <a:solidFill>
                  <a:srgbClr val="D4D4D4"/>
                </a:solidFill>
                <a:latin typeface="Consolas" panose="020B0609020204030204" pitchFamily="49" charset="0"/>
              </a:rPr>
              <a:t>(</a:t>
            </a:r>
            <a:r>
              <a:rPr lang="en-US" dirty="0">
                <a:solidFill>
                  <a:srgbClr val="CE9178"/>
                </a:solidFill>
                <a:latin typeface="Consolas" panose="020B0609020204030204" pitchFamily="49" charset="0"/>
              </a:rPr>
              <a:t>"finally block executed"</a:t>
            </a:r>
            <a:r>
              <a:rPr lang="en-US" dirty="0">
                <a:solidFill>
                  <a:srgbClr val="D4D4D4"/>
                </a:solidFill>
                <a:latin typeface="Consolas" panose="020B0609020204030204" pitchFamily="49" charset="0"/>
              </a:rPr>
              <a:t>)</a:t>
            </a:r>
            <a:endParaRPr lang="en-US"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28842954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1556836" cy="584775"/>
          </a:xfrm>
          <a:prstGeom prst="rect">
            <a:avLst/>
          </a:prstGeom>
          <a:noFill/>
        </p:spPr>
        <p:txBody>
          <a:bodyPr wrap="none" rtlCol="0">
            <a:spAutoFit/>
          </a:bodyPr>
          <a:lstStyle/>
          <a:p>
            <a:r>
              <a:rPr lang="en-US" sz="3200" dirty="0">
                <a:solidFill>
                  <a:schemeClr val="bg1"/>
                </a:solidFill>
              </a:rPr>
              <a:t>File I/O</a:t>
            </a:r>
          </a:p>
        </p:txBody>
      </p:sp>
      <p:pic>
        <p:nvPicPr>
          <p:cNvPr id="4" name="Picture 3" descr="https://api.codewithharry.com/media/videoSeriesFiles/courseFiles/python-tutorial-easy-for-beginners/fileiopy1.png"/>
          <p:cNvPicPr/>
          <p:nvPr/>
        </p:nvPicPr>
        <p:blipFill>
          <a:blip r:embed="rId3">
            <a:extLst>
              <a:ext uri="{28A0092B-C50C-407E-A947-70E740481C1C}">
                <a14:useLocalDpi xmlns:a14="http://schemas.microsoft.com/office/drawing/2010/main" val="0"/>
              </a:ext>
            </a:extLst>
          </a:blip>
          <a:srcRect/>
          <a:stretch>
            <a:fillRect/>
          </a:stretch>
        </p:blipFill>
        <p:spPr bwMode="auto">
          <a:xfrm>
            <a:off x="1894114" y="2563586"/>
            <a:ext cx="7861074" cy="3600449"/>
          </a:xfrm>
          <a:prstGeom prst="rect">
            <a:avLst/>
          </a:prstGeom>
          <a:noFill/>
          <a:ln>
            <a:noFill/>
          </a:ln>
        </p:spPr>
      </p:pic>
    </p:spTree>
    <p:extLst>
      <p:ext uri="{BB962C8B-B14F-4D97-AF65-F5344CB8AC3E}">
        <p14:creationId xmlns:p14="http://schemas.microsoft.com/office/powerpoint/2010/main" val="225410591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4900701" cy="584775"/>
          </a:xfrm>
          <a:prstGeom prst="rect">
            <a:avLst/>
          </a:prstGeom>
          <a:noFill/>
        </p:spPr>
        <p:txBody>
          <a:bodyPr wrap="none" rtlCol="0">
            <a:spAutoFit/>
          </a:bodyPr>
          <a:lstStyle/>
          <a:p>
            <a:r>
              <a:rPr lang="en-US" sz="3200" dirty="0">
                <a:solidFill>
                  <a:schemeClr val="bg1"/>
                </a:solidFill>
              </a:rPr>
              <a:t>Modes of opening a file</a:t>
            </a:r>
          </a:p>
        </p:txBody>
      </p:sp>
      <p:sp>
        <p:nvSpPr>
          <p:cNvPr id="3" name="Rectangle 2"/>
          <p:cNvSpPr/>
          <p:nvPr/>
        </p:nvSpPr>
        <p:spPr>
          <a:xfrm>
            <a:off x="1047750" y="2517323"/>
            <a:ext cx="6096000" cy="3652154"/>
          </a:xfrm>
          <a:prstGeom prst="rect">
            <a:avLst/>
          </a:prstGeom>
        </p:spPr>
        <p:txBody>
          <a:bodyPr>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r – open for reading</a:t>
            </a:r>
          </a:p>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w – open for writing, creates a new file if it does not exist or truncates the file if it exists.</a:t>
            </a:r>
          </a:p>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x - Opens a file for exclusive creation. If the file already exists, the operation fails.</a:t>
            </a:r>
          </a:p>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a – Opens a file for appending at the end of the file without truncating it. </a:t>
            </a:r>
          </a:p>
          <a:p>
            <a:pPr indent="457200">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Creates a new file if it does not exist.</a:t>
            </a:r>
          </a:p>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-&gt; Opens a file for updating (reading and writing)</a:t>
            </a:r>
          </a:p>
          <a:p>
            <a:r>
              <a:rPr lang="en-US" dirty="0">
                <a:latin typeface="Calibri" panose="020F0502020204030204" pitchFamily="34" charset="0"/>
                <a:ea typeface="Calibri" panose="020F0502020204030204" pitchFamily="34" charset="0"/>
                <a:cs typeface="Times New Roman" panose="02020603050405020304" pitchFamily="18" charset="0"/>
              </a:rPr>
              <a:t>‘</a:t>
            </a:r>
            <a:r>
              <a:rPr lang="en-US" dirty="0" err="1">
                <a:latin typeface="Calibri" panose="020F0502020204030204" pitchFamily="34" charset="0"/>
                <a:ea typeface="Calibri" panose="020F0502020204030204" pitchFamily="34" charset="0"/>
                <a:cs typeface="Times New Roman" panose="02020603050405020304" pitchFamily="18" charset="0"/>
              </a:rPr>
              <a:t>rb</a:t>
            </a:r>
            <a:r>
              <a:rPr lang="en-US" dirty="0">
                <a:latin typeface="Calibri" panose="020F0502020204030204" pitchFamily="34" charset="0"/>
                <a:ea typeface="Calibri" panose="020F0502020204030204" pitchFamily="34" charset="0"/>
                <a:cs typeface="Times New Roman" panose="02020603050405020304" pitchFamily="18" charset="0"/>
              </a:rPr>
              <a:t>’ will open for read in binary mode</a:t>
            </a:r>
            <a:endParaRPr lang="en-US" dirty="0"/>
          </a:p>
        </p:txBody>
      </p:sp>
    </p:spTree>
    <p:extLst>
      <p:ext uri="{BB962C8B-B14F-4D97-AF65-F5344CB8AC3E}">
        <p14:creationId xmlns:p14="http://schemas.microsoft.com/office/powerpoint/2010/main" val="171825274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3312125" cy="584775"/>
          </a:xfrm>
          <a:prstGeom prst="rect">
            <a:avLst/>
          </a:prstGeom>
          <a:noFill/>
        </p:spPr>
        <p:txBody>
          <a:bodyPr wrap="none" rtlCol="0">
            <a:spAutoFit/>
          </a:bodyPr>
          <a:lstStyle/>
          <a:p>
            <a:r>
              <a:rPr lang="en-US" sz="3200" dirty="0" smtClean="0">
                <a:solidFill>
                  <a:schemeClr val="bg1"/>
                </a:solidFill>
              </a:rPr>
              <a:t>Class VS Object</a:t>
            </a:r>
            <a:endParaRPr lang="en-US" sz="3200" dirty="0">
              <a:solidFill>
                <a:schemeClr val="bg1"/>
              </a:solidFill>
            </a:endParaRPr>
          </a:p>
        </p:txBody>
      </p:sp>
      <p:pic>
        <p:nvPicPr>
          <p:cNvPr id="4" name="Picture 3" descr="https://api.codewithharry.com/media/videoSeriesFiles/courseFiles/python-tutorial-easy-for-beginners/classpy1.png"/>
          <p:cNvPicPr/>
          <p:nvPr/>
        </p:nvPicPr>
        <p:blipFill>
          <a:blip r:embed="rId3">
            <a:extLst>
              <a:ext uri="{28A0092B-C50C-407E-A947-70E740481C1C}">
                <a14:useLocalDpi xmlns:a14="http://schemas.microsoft.com/office/drawing/2010/main" val="0"/>
              </a:ext>
            </a:extLst>
          </a:blip>
          <a:srcRect/>
          <a:stretch>
            <a:fillRect/>
          </a:stretch>
        </p:blipFill>
        <p:spPr bwMode="auto">
          <a:xfrm>
            <a:off x="1894116" y="4079952"/>
            <a:ext cx="7298872" cy="2620735"/>
          </a:xfrm>
          <a:prstGeom prst="rect">
            <a:avLst/>
          </a:prstGeom>
          <a:noFill/>
          <a:ln>
            <a:noFill/>
          </a:ln>
        </p:spPr>
      </p:pic>
      <p:sp>
        <p:nvSpPr>
          <p:cNvPr id="5" name="Rectangle 4"/>
          <p:cNvSpPr/>
          <p:nvPr/>
        </p:nvSpPr>
        <p:spPr>
          <a:xfrm>
            <a:off x="1567544" y="2290149"/>
            <a:ext cx="9904378" cy="1585562"/>
          </a:xfrm>
          <a:prstGeom prst="rect">
            <a:avLst/>
          </a:prstGeom>
        </p:spPr>
        <p:txBody>
          <a:bodyPr wrap="none">
            <a:spAutoFit/>
          </a:bodyPr>
          <a:lstStyle/>
          <a:p>
            <a:pPr>
              <a:lnSpc>
                <a:spcPct val="107000"/>
              </a:lnSpc>
              <a:spcAft>
                <a:spcPts val="800"/>
              </a:spcAft>
            </a:pPr>
            <a:r>
              <a:rPr lang="en-US" dirty="0" smtClean="0">
                <a:latin typeface="Calibri" panose="020F0502020204030204" pitchFamily="34" charset="0"/>
                <a:ea typeface="Calibri" panose="020F0502020204030204" pitchFamily="34" charset="0"/>
                <a:cs typeface="Times New Roman" panose="02020603050405020304" pitchFamily="18" charset="0"/>
              </a:rPr>
              <a:t>OOPs -  in oops Everything is considered as object</a:t>
            </a:r>
          </a:p>
          <a:p>
            <a:pPr>
              <a:lnSpc>
                <a:spcPct val="107000"/>
              </a:lnSpc>
              <a:spcAft>
                <a:spcPts val="800"/>
              </a:spcAft>
            </a:pPr>
            <a:r>
              <a:rPr lang="en-US" dirty="0" smtClean="0">
                <a:latin typeface="Calibri" panose="020F0502020204030204" pitchFamily="34" charset="0"/>
                <a:ea typeface="Calibri" panose="020F0502020204030204" pitchFamily="34" charset="0"/>
                <a:cs typeface="Times New Roman" panose="02020603050405020304" pitchFamily="18" charset="0"/>
              </a:rPr>
              <a:t>A </a:t>
            </a:r>
            <a:r>
              <a:rPr lang="en-US" dirty="0">
                <a:latin typeface="Calibri" panose="020F0502020204030204" pitchFamily="34" charset="0"/>
                <a:ea typeface="Calibri" panose="020F0502020204030204" pitchFamily="34" charset="0"/>
                <a:cs typeface="Times New Roman" panose="02020603050405020304" pitchFamily="18" charset="0"/>
              </a:rPr>
              <a:t>class is a blueprint for creating objects</a:t>
            </a:r>
            <a:r>
              <a:rPr lang="en-US" dirty="0" smtClean="0">
                <a:latin typeface="Calibri" panose="020F0502020204030204" pitchFamily="34" charset="0"/>
                <a:ea typeface="Calibri" panose="020F0502020204030204" pitchFamily="34" charset="0"/>
                <a:cs typeface="Times New Roman" panose="02020603050405020304" pitchFamily="18" charset="0"/>
              </a:rPr>
              <a:t>. Is also collection of </a:t>
            </a:r>
            <a:r>
              <a:rPr lang="en-US" dirty="0" smtClean="0">
                <a:latin typeface="Calibri" panose="020F0502020204030204" pitchFamily="34" charset="0"/>
                <a:ea typeface="Calibri" panose="020F0502020204030204" pitchFamily="34" charset="0"/>
                <a:cs typeface="Times New Roman" panose="02020603050405020304" pitchFamily="18" charset="0"/>
              </a:rPr>
              <a:t>attributes/variable </a:t>
            </a:r>
            <a:r>
              <a:rPr lang="en-US" dirty="0" smtClean="0">
                <a:latin typeface="Calibri" panose="020F0502020204030204" pitchFamily="34" charset="0"/>
                <a:ea typeface="Calibri" panose="020F0502020204030204" pitchFamily="34" charset="0"/>
                <a:cs typeface="Times New Roman" panose="02020603050405020304" pitchFamily="18" charset="0"/>
              </a:rPr>
              <a:t>and </a:t>
            </a:r>
            <a:r>
              <a:rPr lang="en-US" dirty="0" smtClean="0">
                <a:latin typeface="Calibri" panose="020F0502020204030204" pitchFamily="34" charset="0"/>
                <a:ea typeface="Calibri" panose="020F0502020204030204" pitchFamily="34" charset="0"/>
                <a:cs typeface="Times New Roman" panose="02020603050405020304" pitchFamily="18" charset="0"/>
              </a:rPr>
              <a:t>functions/methods</a:t>
            </a:r>
            <a:endParaRPr lang="en-US" dirty="0" smtClean="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An object is an instantiation of a class. </a:t>
            </a:r>
            <a:endParaRPr lang="en-US" dirty="0" smtClean="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smtClean="0">
                <a:latin typeface="Calibri" panose="020F0502020204030204" pitchFamily="34" charset="0"/>
                <a:ea typeface="Calibri" panose="020F0502020204030204" pitchFamily="34" charset="0"/>
                <a:cs typeface="Times New Roman" panose="02020603050405020304" pitchFamily="18" charset="0"/>
              </a:rPr>
              <a:t>When </a:t>
            </a:r>
            <a:r>
              <a:rPr lang="en-US" dirty="0">
                <a:latin typeface="Calibri" panose="020F0502020204030204" pitchFamily="34" charset="0"/>
                <a:ea typeface="Calibri" panose="020F0502020204030204" pitchFamily="34" charset="0"/>
                <a:cs typeface="Times New Roman" panose="02020603050405020304" pitchFamily="18" charset="0"/>
              </a:rPr>
              <a:t>class is defined, a template(info) is defined. Memory is allocated only after object instantiation.</a:t>
            </a:r>
          </a:p>
        </p:txBody>
      </p:sp>
    </p:spTree>
    <p:extLst>
      <p:ext uri="{BB962C8B-B14F-4D97-AF65-F5344CB8AC3E}">
        <p14:creationId xmlns:p14="http://schemas.microsoft.com/office/powerpoint/2010/main" val="358585634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3312125" cy="584775"/>
          </a:xfrm>
          <a:prstGeom prst="rect">
            <a:avLst/>
          </a:prstGeom>
          <a:noFill/>
        </p:spPr>
        <p:txBody>
          <a:bodyPr wrap="none" rtlCol="0">
            <a:spAutoFit/>
          </a:bodyPr>
          <a:lstStyle/>
          <a:p>
            <a:r>
              <a:rPr lang="en-US" sz="3200" dirty="0" smtClean="0">
                <a:solidFill>
                  <a:schemeClr val="bg1"/>
                </a:solidFill>
              </a:rPr>
              <a:t>Class VS Object</a:t>
            </a:r>
            <a:endParaRPr lang="en-US" sz="3200" dirty="0">
              <a:solidFill>
                <a:schemeClr val="bg1"/>
              </a:solidFill>
            </a:endParaRPr>
          </a:p>
        </p:txBody>
      </p:sp>
      <p:sp>
        <p:nvSpPr>
          <p:cNvPr id="5" name="Rectangle 4"/>
          <p:cNvSpPr/>
          <p:nvPr/>
        </p:nvSpPr>
        <p:spPr>
          <a:xfrm>
            <a:off x="965564" y="2358729"/>
            <a:ext cx="10822193" cy="2327688"/>
          </a:xfrm>
          <a:prstGeom prst="rect">
            <a:avLst/>
          </a:prstGeom>
        </p:spPr>
        <p:txBody>
          <a:bodyPr wrap="none">
            <a:spAutoFit/>
          </a:bodyPr>
          <a:lstStyle/>
          <a:p>
            <a:r>
              <a:rPr lang="en-US" dirty="0" smtClean="0"/>
              <a:t>Instance/object </a:t>
            </a:r>
            <a:r>
              <a:rPr lang="en-US" dirty="0"/>
              <a:t>attributes take preference over class attributes during assignment and retrieval.</a:t>
            </a:r>
          </a:p>
          <a:p>
            <a:endParaRPr lang="en-US" dirty="0" smtClean="0"/>
          </a:p>
          <a:p>
            <a:endParaRPr lang="en-US" dirty="0"/>
          </a:p>
          <a:p>
            <a:r>
              <a:rPr lang="en-US" dirty="0" smtClean="0"/>
              <a:t>objEmployee.attribute1</a:t>
            </a:r>
            <a:r>
              <a:rPr lang="en-US" dirty="0"/>
              <a:t> :</a:t>
            </a:r>
          </a:p>
          <a:p>
            <a:pPr marL="342900" lvl="0" indent="-342900">
              <a:buFont typeface="+mj-lt"/>
              <a:buAutoNum type="arabicPeriod"/>
            </a:pPr>
            <a:r>
              <a:rPr lang="en-US" dirty="0"/>
              <a:t>Is attribute1 present in the object?</a:t>
            </a:r>
          </a:p>
          <a:p>
            <a:pPr marL="342900" lvl="0" indent="-342900">
              <a:buFont typeface="+mj-lt"/>
              <a:buAutoNum type="arabicPeriod"/>
            </a:pPr>
            <a:r>
              <a:rPr lang="en-US" dirty="0"/>
              <a:t>Is attribute1 present in class</a:t>
            </a:r>
            <a:r>
              <a:rPr lang="en-US" dirty="0" smtClean="0"/>
              <a:t>?</a:t>
            </a:r>
          </a:p>
          <a:p>
            <a:pPr marL="342900" lvl="0" indent="-342900">
              <a:buFont typeface="+mj-lt"/>
              <a:buAutoNum type="arabicPeriod"/>
            </a:pPr>
            <a:r>
              <a:rPr lang="en-US" dirty="0" smtClean="0"/>
              <a:t>If not present in both instance and class then error</a:t>
            </a:r>
            <a:endParaRPr lang="en-US" dirty="0"/>
          </a:p>
          <a:p>
            <a:pPr>
              <a:lnSpc>
                <a:spcPct val="107000"/>
              </a:lnSpc>
              <a:spcAft>
                <a:spcPts val="800"/>
              </a:spcAft>
            </a:pP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7089613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4232249" cy="584775"/>
          </a:xfrm>
          <a:prstGeom prst="rect">
            <a:avLst/>
          </a:prstGeom>
          <a:noFill/>
        </p:spPr>
        <p:txBody>
          <a:bodyPr wrap="none" rtlCol="0">
            <a:spAutoFit/>
          </a:bodyPr>
          <a:lstStyle/>
          <a:p>
            <a:r>
              <a:rPr lang="en-US" sz="3200" dirty="0">
                <a:solidFill>
                  <a:schemeClr val="bg1"/>
                </a:solidFill>
              </a:rPr>
              <a:t>__</a:t>
            </a:r>
            <a:r>
              <a:rPr lang="en-US" sz="3200" dirty="0" err="1">
                <a:solidFill>
                  <a:schemeClr val="bg1"/>
                </a:solidFill>
              </a:rPr>
              <a:t>init</a:t>
            </a:r>
            <a:r>
              <a:rPr lang="en-US" sz="3200" dirty="0">
                <a:solidFill>
                  <a:schemeClr val="bg1"/>
                </a:solidFill>
              </a:rPr>
              <a:t>__() constructor</a:t>
            </a:r>
          </a:p>
        </p:txBody>
      </p:sp>
      <p:sp>
        <p:nvSpPr>
          <p:cNvPr id="5" name="Rectangle 4"/>
          <p:cNvSpPr/>
          <p:nvPr/>
        </p:nvSpPr>
        <p:spPr>
          <a:xfrm>
            <a:off x="889909" y="2330970"/>
            <a:ext cx="9993084" cy="4674613"/>
          </a:xfrm>
          <a:prstGeom prst="rect">
            <a:avLst/>
          </a:prstGeom>
        </p:spPr>
        <p:txBody>
          <a:bodyPr wrap="squar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__</a:t>
            </a:r>
            <a:r>
              <a:rPr lang="en-US" dirty="0" err="1">
                <a:latin typeface="Calibri" panose="020F0502020204030204" pitchFamily="34" charset="0"/>
                <a:ea typeface="Calibri" panose="020F0502020204030204" pitchFamily="34" charset="0"/>
                <a:cs typeface="Times New Roman" panose="02020603050405020304" pitchFamily="18" charset="0"/>
              </a:rPr>
              <a:t>init</a:t>
            </a:r>
            <a:r>
              <a:rPr lang="en-US" dirty="0">
                <a:latin typeface="Calibri" panose="020F0502020204030204" pitchFamily="34" charset="0"/>
                <a:ea typeface="Calibri" panose="020F0502020204030204" pitchFamily="34" charset="0"/>
                <a:cs typeface="Times New Roman" panose="02020603050405020304" pitchFamily="18" charset="0"/>
              </a:rPr>
              <a:t>__() is a special method which runs as soon as the object is created.</a:t>
            </a:r>
          </a:p>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__</a:t>
            </a:r>
            <a:r>
              <a:rPr lang="en-US" dirty="0" err="1">
                <a:latin typeface="Calibri" panose="020F0502020204030204" pitchFamily="34" charset="0"/>
                <a:ea typeface="Calibri" panose="020F0502020204030204" pitchFamily="34" charset="0"/>
                <a:cs typeface="Times New Roman" panose="02020603050405020304" pitchFamily="18" charset="0"/>
              </a:rPr>
              <a:t>init</a:t>
            </a:r>
            <a:r>
              <a:rPr lang="en-US" dirty="0">
                <a:latin typeface="Calibri" panose="020F0502020204030204" pitchFamily="34" charset="0"/>
                <a:ea typeface="Calibri" panose="020F0502020204030204" pitchFamily="34" charset="0"/>
                <a:cs typeface="Times New Roman" panose="02020603050405020304" pitchFamily="18" charset="0"/>
              </a:rPr>
              <a:t>__() method is also known as constructor.</a:t>
            </a:r>
          </a:p>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It takes self-argument and can also take further arguments</a:t>
            </a:r>
            <a:r>
              <a:rPr lang="en-US" dirty="0" smtClean="0">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endParaRPr lang="en-US"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t>The task of constructors is to initialize(assign values) to the data </a:t>
            </a:r>
            <a:r>
              <a:rPr lang="en-US" dirty="0" smtClean="0"/>
              <a:t>members(attributes) </a:t>
            </a:r>
            <a:r>
              <a:rPr lang="en-US" dirty="0"/>
              <a:t>of the class when an object of the class is created. </a:t>
            </a:r>
          </a:p>
          <a:p>
            <a:pPr>
              <a:lnSpc>
                <a:spcPct val="107000"/>
              </a:lnSpc>
              <a:spcAft>
                <a:spcPts val="800"/>
              </a:spcAft>
            </a:pPr>
            <a:endParaRPr lang="en-US"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b="1" dirty="0"/>
              <a:t>Types of constructors:</a:t>
            </a:r>
            <a:r>
              <a:rPr lang="en-US" dirty="0"/>
              <a:t> </a:t>
            </a:r>
            <a:endParaRPr lang="en-US" dirty="0" smtClean="0"/>
          </a:p>
          <a:p>
            <a:pPr marL="342900" indent="-342900">
              <a:lnSpc>
                <a:spcPct val="107000"/>
              </a:lnSpc>
              <a:spcAft>
                <a:spcPts val="800"/>
              </a:spcAft>
              <a:buFont typeface="+mj-lt"/>
              <a:buAutoNum type="arabicPeriod"/>
            </a:pPr>
            <a:r>
              <a:rPr lang="en-US" sz="1600" dirty="0"/>
              <a:t>	default </a:t>
            </a:r>
            <a:r>
              <a:rPr lang="en-US" sz="1600" dirty="0" smtClean="0"/>
              <a:t>constructor</a:t>
            </a:r>
          </a:p>
          <a:p>
            <a:pPr marL="342900" indent="-342900">
              <a:lnSpc>
                <a:spcPct val="107000"/>
              </a:lnSpc>
              <a:spcAft>
                <a:spcPts val="800"/>
              </a:spcAft>
              <a:buFont typeface="+mj-lt"/>
              <a:buAutoNum type="arabicPeriod"/>
            </a:pPr>
            <a:r>
              <a:rPr lang="en-US" sz="1600" dirty="0"/>
              <a:t>	parameterized constructor</a:t>
            </a:r>
          </a:p>
          <a:p>
            <a:pPr>
              <a:lnSpc>
                <a:spcPct val="107000"/>
              </a:lnSpc>
              <a:spcAft>
                <a:spcPts val="800"/>
              </a:spcAft>
            </a:pPr>
            <a:endParaRPr lang="en-US" dirty="0" smtClean="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3884438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4208203" cy="584775"/>
          </a:xfrm>
          <a:prstGeom prst="rect">
            <a:avLst/>
          </a:prstGeom>
          <a:noFill/>
        </p:spPr>
        <p:txBody>
          <a:bodyPr wrap="none" rtlCol="0">
            <a:spAutoFit/>
          </a:bodyPr>
          <a:lstStyle/>
          <a:p>
            <a:r>
              <a:rPr lang="en-US" sz="3200" dirty="0" smtClean="0">
                <a:solidFill>
                  <a:schemeClr val="bg1"/>
                </a:solidFill>
              </a:rPr>
              <a:t>default </a:t>
            </a:r>
            <a:r>
              <a:rPr lang="en-US" sz="3200" dirty="0">
                <a:solidFill>
                  <a:schemeClr val="bg1"/>
                </a:solidFill>
              </a:rPr>
              <a:t>constructor: </a:t>
            </a:r>
          </a:p>
        </p:txBody>
      </p:sp>
      <p:sp>
        <p:nvSpPr>
          <p:cNvPr id="5" name="Rectangle 4"/>
          <p:cNvSpPr/>
          <p:nvPr/>
        </p:nvSpPr>
        <p:spPr>
          <a:xfrm>
            <a:off x="889909" y="2330970"/>
            <a:ext cx="9993084" cy="3139321"/>
          </a:xfrm>
          <a:prstGeom prst="rect">
            <a:avLst/>
          </a:prstGeom>
        </p:spPr>
        <p:txBody>
          <a:bodyPr wrap="square">
            <a:spAutoFit/>
          </a:bodyPr>
          <a:lstStyle/>
          <a:p>
            <a:pPr marL="285750" lvl="0" indent="-285750">
              <a:buFont typeface="Arial" panose="020B0604020202020204" pitchFamily="34" charset="0"/>
              <a:buChar char="•"/>
            </a:pPr>
            <a:r>
              <a:rPr lang="en-US" dirty="0" smtClean="0"/>
              <a:t>Doesn’t </a:t>
            </a:r>
            <a:r>
              <a:rPr lang="en-US" dirty="0"/>
              <a:t>accept any arguments. </a:t>
            </a:r>
            <a:endParaRPr lang="en-US" dirty="0" smtClean="0"/>
          </a:p>
          <a:p>
            <a:pPr marL="285750" lvl="0" indent="-285750">
              <a:buFont typeface="Arial" panose="020B0604020202020204" pitchFamily="34" charset="0"/>
              <a:buChar char="•"/>
            </a:pPr>
            <a:r>
              <a:rPr lang="en-US" dirty="0" smtClean="0"/>
              <a:t>Its </a:t>
            </a:r>
            <a:r>
              <a:rPr lang="en-US" dirty="0"/>
              <a:t>definition has only one argument which is a reference to the instance being constructed</a:t>
            </a:r>
            <a:r>
              <a:rPr lang="en-US" dirty="0" smtClean="0"/>
              <a:t>.</a:t>
            </a:r>
          </a:p>
          <a:p>
            <a:pPr lvl="0"/>
            <a:endParaRPr lang="en-US" dirty="0"/>
          </a:p>
          <a:p>
            <a:r>
              <a:rPr lang="en-US" dirty="0"/>
              <a:t># default constructor</a:t>
            </a:r>
          </a:p>
          <a:p>
            <a:r>
              <a:rPr lang="en-US" dirty="0"/>
              <a:t>    </a:t>
            </a:r>
            <a:r>
              <a:rPr lang="en-US" dirty="0" err="1"/>
              <a:t>def</a:t>
            </a:r>
            <a:r>
              <a:rPr lang="en-US" dirty="0"/>
              <a:t> __</a:t>
            </a:r>
            <a:r>
              <a:rPr lang="en-US" dirty="0" err="1"/>
              <a:t>init</a:t>
            </a:r>
            <a:r>
              <a:rPr lang="en-US" dirty="0"/>
              <a:t>__(self):</a:t>
            </a:r>
          </a:p>
          <a:p>
            <a:r>
              <a:rPr lang="en-US" dirty="0"/>
              <a:t>        self.name = "Credence"</a:t>
            </a:r>
          </a:p>
          <a:p>
            <a:r>
              <a:rPr lang="en-US" dirty="0"/>
              <a:t> </a:t>
            </a:r>
          </a:p>
          <a:p>
            <a:r>
              <a:rPr lang="en-US" dirty="0"/>
              <a:t> </a:t>
            </a:r>
          </a:p>
          <a:p>
            <a:r>
              <a:rPr lang="en-US" dirty="0"/>
              <a:t># creating object of the class</a:t>
            </a:r>
          </a:p>
          <a:p>
            <a:r>
              <a:rPr lang="en-US" dirty="0" err="1"/>
              <a:t>obj</a:t>
            </a:r>
            <a:r>
              <a:rPr lang="en-US" dirty="0"/>
              <a:t> = </a:t>
            </a:r>
            <a:r>
              <a:rPr lang="en-US" dirty="0" smtClean="0"/>
              <a:t>Employee()</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2997023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5501827" cy="584775"/>
          </a:xfrm>
          <a:prstGeom prst="rect">
            <a:avLst/>
          </a:prstGeom>
          <a:noFill/>
        </p:spPr>
        <p:txBody>
          <a:bodyPr wrap="none" rtlCol="0">
            <a:spAutoFit/>
          </a:bodyPr>
          <a:lstStyle/>
          <a:p>
            <a:r>
              <a:rPr lang="en-US" sz="3200" dirty="0" smtClean="0">
                <a:solidFill>
                  <a:schemeClr val="bg1"/>
                </a:solidFill>
              </a:rPr>
              <a:t>parameterized </a:t>
            </a:r>
            <a:r>
              <a:rPr lang="en-US" sz="3200" dirty="0">
                <a:solidFill>
                  <a:schemeClr val="bg1"/>
                </a:solidFill>
              </a:rPr>
              <a:t>constructor</a:t>
            </a:r>
          </a:p>
        </p:txBody>
      </p:sp>
      <p:sp>
        <p:nvSpPr>
          <p:cNvPr id="5" name="Rectangle 4"/>
          <p:cNvSpPr/>
          <p:nvPr/>
        </p:nvSpPr>
        <p:spPr>
          <a:xfrm>
            <a:off x="889909" y="2330970"/>
            <a:ext cx="9993084" cy="3693319"/>
          </a:xfrm>
          <a:prstGeom prst="rect">
            <a:avLst/>
          </a:prstGeom>
        </p:spPr>
        <p:txBody>
          <a:bodyPr wrap="square">
            <a:spAutoFit/>
          </a:bodyPr>
          <a:lstStyle/>
          <a:p>
            <a:pPr marL="285750" lvl="0" indent="-285750">
              <a:buFont typeface="Arial" panose="020B0604020202020204" pitchFamily="34" charset="0"/>
              <a:buChar char="•"/>
            </a:pPr>
            <a:r>
              <a:rPr lang="en-US" dirty="0" smtClean="0"/>
              <a:t>Accepts arguments</a:t>
            </a:r>
          </a:p>
          <a:p>
            <a:pPr marL="285750" lvl="0" indent="-285750">
              <a:buFont typeface="Arial" panose="020B0604020202020204" pitchFamily="34" charset="0"/>
              <a:buChar char="•"/>
            </a:pPr>
            <a:r>
              <a:rPr lang="en-US" dirty="0"/>
              <a:t>takes its first argument as a reference to the instance being constructed known as self and the rest of the arguments are provided by the programmer</a:t>
            </a:r>
            <a:r>
              <a:rPr lang="en-US" dirty="0" smtClean="0"/>
              <a:t>.</a:t>
            </a:r>
          </a:p>
          <a:p>
            <a:pPr marL="285750" lvl="0" indent="-285750">
              <a:buFont typeface="Arial" panose="020B0604020202020204" pitchFamily="34" charset="0"/>
              <a:buChar char="•"/>
            </a:pPr>
            <a:endParaRPr lang="en-US" dirty="0"/>
          </a:p>
          <a:p>
            <a:pPr lvl="0"/>
            <a:r>
              <a:rPr lang="en-US" dirty="0">
                <a:latin typeface="Calibri" panose="020F0502020204030204" pitchFamily="34" charset="0"/>
                <a:ea typeface="Calibri" panose="020F0502020204030204" pitchFamily="34" charset="0"/>
                <a:cs typeface="Times New Roman" panose="02020603050405020304" pitchFamily="18" charset="0"/>
              </a:rPr>
              <a:t>class Addition:</a:t>
            </a:r>
          </a:p>
          <a:p>
            <a:pPr lvl="0"/>
            <a:r>
              <a:rPr lang="en-US" dirty="0">
                <a:latin typeface="Calibri" panose="020F0502020204030204" pitchFamily="34" charset="0"/>
                <a:ea typeface="Calibri" panose="020F0502020204030204" pitchFamily="34" charset="0"/>
                <a:cs typeface="Times New Roman" panose="02020603050405020304" pitchFamily="18" charset="0"/>
              </a:rPr>
              <a:t>    first = 0</a:t>
            </a:r>
          </a:p>
          <a:p>
            <a:pPr lvl="0"/>
            <a:r>
              <a:rPr lang="en-US" dirty="0">
                <a:latin typeface="Calibri" panose="020F0502020204030204" pitchFamily="34" charset="0"/>
                <a:ea typeface="Calibri" panose="020F0502020204030204" pitchFamily="34" charset="0"/>
                <a:cs typeface="Times New Roman" panose="02020603050405020304" pitchFamily="18" charset="0"/>
              </a:rPr>
              <a:t>    second = 0</a:t>
            </a:r>
          </a:p>
          <a:p>
            <a:pPr lvl="0"/>
            <a:r>
              <a:rPr lang="en-US" dirty="0">
                <a:latin typeface="Calibri" panose="020F0502020204030204" pitchFamily="34" charset="0"/>
                <a:ea typeface="Calibri" panose="020F0502020204030204" pitchFamily="34" charset="0"/>
                <a:cs typeface="Times New Roman" panose="02020603050405020304" pitchFamily="18" charset="0"/>
              </a:rPr>
              <a:t>    answer = 0</a:t>
            </a:r>
          </a:p>
          <a:p>
            <a:pPr lvl="0"/>
            <a:r>
              <a:rPr lang="en-US" dirty="0">
                <a:latin typeface="Calibri" panose="020F0502020204030204" pitchFamily="34" charset="0"/>
                <a:ea typeface="Calibri" panose="020F0502020204030204" pitchFamily="34" charset="0"/>
                <a:cs typeface="Times New Roman" panose="02020603050405020304" pitchFamily="18" charset="0"/>
              </a:rPr>
              <a:t>     </a:t>
            </a:r>
          </a:p>
          <a:p>
            <a:pPr lvl="0"/>
            <a:r>
              <a:rPr lang="en-US" dirty="0">
                <a:latin typeface="Calibri" panose="020F0502020204030204" pitchFamily="34" charset="0"/>
                <a:ea typeface="Calibri" panose="020F0502020204030204" pitchFamily="34" charset="0"/>
                <a:cs typeface="Times New Roman" panose="02020603050405020304" pitchFamily="18" charset="0"/>
              </a:rPr>
              <a:t>    # parameterized constructor</a:t>
            </a:r>
          </a:p>
          <a:p>
            <a:pPr lvl="0"/>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def</a:t>
            </a:r>
            <a:r>
              <a:rPr lang="en-US" dirty="0">
                <a:latin typeface="Calibri" panose="020F0502020204030204" pitchFamily="34" charset="0"/>
                <a:ea typeface="Calibri" panose="020F0502020204030204" pitchFamily="34" charset="0"/>
                <a:cs typeface="Times New Roman" panose="02020603050405020304" pitchFamily="18" charset="0"/>
              </a:rPr>
              <a:t> __</a:t>
            </a:r>
            <a:r>
              <a:rPr lang="en-US" dirty="0" err="1">
                <a:latin typeface="Calibri" panose="020F0502020204030204" pitchFamily="34" charset="0"/>
                <a:ea typeface="Calibri" panose="020F0502020204030204" pitchFamily="34" charset="0"/>
                <a:cs typeface="Times New Roman" panose="02020603050405020304" pitchFamily="18" charset="0"/>
              </a:rPr>
              <a:t>init</a:t>
            </a:r>
            <a:r>
              <a:rPr lang="en-US" dirty="0">
                <a:latin typeface="Calibri" panose="020F0502020204030204" pitchFamily="34" charset="0"/>
                <a:ea typeface="Calibri" panose="020F0502020204030204" pitchFamily="34" charset="0"/>
                <a:cs typeface="Times New Roman" panose="02020603050405020304" pitchFamily="18" charset="0"/>
              </a:rPr>
              <a:t>__(self, f, s):</a:t>
            </a:r>
          </a:p>
          <a:p>
            <a:pPr lvl="0"/>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self.first</a:t>
            </a:r>
            <a:r>
              <a:rPr lang="en-US" dirty="0">
                <a:latin typeface="Calibri" panose="020F0502020204030204" pitchFamily="34" charset="0"/>
                <a:ea typeface="Calibri" panose="020F0502020204030204" pitchFamily="34" charset="0"/>
                <a:cs typeface="Times New Roman" panose="02020603050405020304" pitchFamily="18" charset="0"/>
              </a:rPr>
              <a:t> = f</a:t>
            </a:r>
          </a:p>
          <a:p>
            <a:pPr lvl="0"/>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self.second</a:t>
            </a:r>
            <a:r>
              <a:rPr lang="en-US" dirty="0">
                <a:latin typeface="Calibri" panose="020F0502020204030204" pitchFamily="34" charset="0"/>
                <a:ea typeface="Calibri" panose="020F0502020204030204" pitchFamily="34" charset="0"/>
                <a:cs typeface="Times New Roman" panose="02020603050405020304" pitchFamily="18" charset="0"/>
              </a:rPr>
              <a:t> = </a:t>
            </a:r>
            <a:r>
              <a:rPr lang="en-US" dirty="0" smtClean="0">
                <a:latin typeface="Calibri" panose="020F0502020204030204" pitchFamily="34" charset="0"/>
                <a:ea typeface="Calibri" panose="020F0502020204030204" pitchFamily="34" charset="0"/>
                <a:cs typeface="Times New Roman" panose="02020603050405020304" pitchFamily="18" charset="0"/>
              </a:rPr>
              <a:t>s</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7064829" y="4240963"/>
            <a:ext cx="4537145" cy="923330"/>
          </a:xfrm>
          <a:prstGeom prst="rect">
            <a:avLst/>
          </a:prstGeom>
        </p:spPr>
        <p:txBody>
          <a:bodyPr wrap="square">
            <a:spAutoFit/>
          </a:bodyPr>
          <a:lstStyle/>
          <a:p>
            <a:pPr lvl="0"/>
            <a:r>
              <a:rPr lang="en-US" dirty="0">
                <a:latin typeface="Calibri" panose="020F0502020204030204" pitchFamily="34" charset="0"/>
                <a:ea typeface="Calibri" panose="020F0502020204030204" pitchFamily="34" charset="0"/>
                <a:cs typeface="Times New Roman" panose="02020603050405020304" pitchFamily="18" charset="0"/>
              </a:rPr>
              <a:t># creating object of the class</a:t>
            </a:r>
          </a:p>
          <a:p>
            <a:pPr lvl="0"/>
            <a:r>
              <a:rPr lang="en-US" dirty="0">
                <a:latin typeface="Calibri" panose="020F0502020204030204" pitchFamily="34" charset="0"/>
                <a:ea typeface="Calibri" panose="020F0502020204030204" pitchFamily="34" charset="0"/>
                <a:cs typeface="Times New Roman" panose="02020603050405020304" pitchFamily="18" charset="0"/>
              </a:rPr>
              <a:t># this will invoke parameterized constructor</a:t>
            </a:r>
          </a:p>
          <a:p>
            <a:pPr lvl="0"/>
            <a:r>
              <a:rPr lang="en-US" dirty="0" err="1">
                <a:latin typeface="Calibri" panose="020F0502020204030204" pitchFamily="34" charset="0"/>
                <a:ea typeface="Calibri" panose="020F0502020204030204" pitchFamily="34" charset="0"/>
                <a:cs typeface="Times New Roman" panose="02020603050405020304" pitchFamily="18" charset="0"/>
              </a:rPr>
              <a:t>obj</a:t>
            </a:r>
            <a:r>
              <a:rPr lang="en-US" dirty="0">
                <a:latin typeface="Calibri" panose="020F0502020204030204" pitchFamily="34" charset="0"/>
                <a:ea typeface="Calibri" panose="020F0502020204030204" pitchFamily="34" charset="0"/>
                <a:cs typeface="Times New Roman" panose="02020603050405020304" pitchFamily="18" charset="0"/>
              </a:rPr>
              <a:t> = Addition(1000, 2000)</a:t>
            </a:r>
          </a:p>
        </p:txBody>
      </p:sp>
    </p:spTree>
    <p:extLst>
      <p:ext uri="{BB962C8B-B14F-4D97-AF65-F5344CB8AC3E}">
        <p14:creationId xmlns:p14="http://schemas.microsoft.com/office/powerpoint/2010/main" val="28111547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3001143" cy="584775"/>
          </a:xfrm>
          <a:prstGeom prst="rect">
            <a:avLst/>
          </a:prstGeom>
          <a:noFill/>
        </p:spPr>
        <p:txBody>
          <a:bodyPr wrap="none" rtlCol="0">
            <a:spAutoFit/>
          </a:bodyPr>
          <a:lstStyle/>
          <a:p>
            <a:r>
              <a:rPr lang="en-US" sz="3200" dirty="0">
                <a:solidFill>
                  <a:schemeClr val="bg1"/>
                </a:solidFill>
              </a:rPr>
              <a:t>Static method</a:t>
            </a:r>
          </a:p>
        </p:txBody>
      </p:sp>
      <p:sp>
        <p:nvSpPr>
          <p:cNvPr id="5" name="Rectangle 4"/>
          <p:cNvSpPr/>
          <p:nvPr/>
        </p:nvSpPr>
        <p:spPr>
          <a:xfrm>
            <a:off x="889909" y="2330970"/>
            <a:ext cx="9993084" cy="4385816"/>
          </a:xfrm>
          <a:prstGeom prst="rect">
            <a:avLst/>
          </a:prstGeom>
        </p:spPr>
        <p:txBody>
          <a:bodyPr wrap="square">
            <a:spAutoFit/>
          </a:bodyPr>
          <a:lstStyle/>
          <a:p>
            <a:pPr marL="285750" lvl="0" indent="-285750">
              <a:lnSpc>
                <a:spcPct val="150000"/>
              </a:lnSpc>
              <a:buFont typeface="Arial" panose="020B0604020202020204" pitchFamily="34" charset="0"/>
              <a:buChar char="•"/>
            </a:pPr>
            <a:r>
              <a:rPr lang="en-US" dirty="0"/>
              <a:t>are bound to a class rather than its </a:t>
            </a:r>
            <a:r>
              <a:rPr lang="en-US" dirty="0" smtClean="0"/>
              <a:t>object</a:t>
            </a:r>
          </a:p>
          <a:p>
            <a:pPr marL="285750" lvl="0" indent="-285750">
              <a:lnSpc>
                <a:spcPct val="150000"/>
              </a:lnSpc>
              <a:buFont typeface="Arial" panose="020B0604020202020204" pitchFamily="34" charset="0"/>
              <a:buChar char="•"/>
            </a:pPr>
            <a:r>
              <a:rPr lang="en-US" dirty="0"/>
              <a:t>They do not require a class </a:t>
            </a:r>
            <a:r>
              <a:rPr lang="en-US" dirty="0" smtClean="0"/>
              <a:t>instance (object/variable) creation</a:t>
            </a:r>
          </a:p>
          <a:p>
            <a:pPr marL="285750" lvl="0" indent="-285750">
              <a:lnSpc>
                <a:spcPct val="150000"/>
              </a:lnSpc>
              <a:buFont typeface="Arial" panose="020B0604020202020204" pitchFamily="34" charset="0"/>
              <a:buChar char="•"/>
            </a:pPr>
            <a:r>
              <a:rPr lang="en-US" dirty="0"/>
              <a:t>they are not dependent on the state of the </a:t>
            </a:r>
            <a:r>
              <a:rPr lang="en-US" dirty="0" smtClean="0"/>
              <a:t>object</a:t>
            </a:r>
          </a:p>
          <a:p>
            <a:pPr marL="285750" lvl="0" indent="-285750">
              <a:lnSpc>
                <a:spcPct val="150000"/>
              </a:lnSpc>
              <a:buFont typeface="Arial" panose="020B0604020202020204" pitchFamily="34" charset="0"/>
              <a:buChar char="•"/>
            </a:pPr>
            <a:r>
              <a:rPr lang="en-US" dirty="0"/>
              <a:t>Static method knows nothing about the class and just deals with the </a:t>
            </a:r>
            <a:r>
              <a:rPr lang="en-US" dirty="0" smtClean="0"/>
              <a:t>parameters</a:t>
            </a:r>
          </a:p>
          <a:p>
            <a:pPr marL="285750" indent="-285750">
              <a:lnSpc>
                <a:spcPct val="150000"/>
              </a:lnSpc>
              <a:buFont typeface="Arial" panose="020B0604020202020204" pitchFamily="34" charset="0"/>
              <a:buChar char="•"/>
            </a:pPr>
            <a:r>
              <a:rPr lang="en-US" b="1" dirty="0"/>
              <a:t>@</a:t>
            </a:r>
            <a:r>
              <a:rPr lang="en-US" b="1" dirty="0" err="1"/>
              <a:t>staticmethod</a:t>
            </a:r>
            <a:r>
              <a:rPr lang="en-US" dirty="0"/>
              <a:t>	#decorator to mark greet as a static method</a:t>
            </a:r>
          </a:p>
          <a:p>
            <a:pPr marL="285750" lvl="0" indent="-285750">
              <a:buFont typeface="Arial" panose="020B0604020202020204" pitchFamily="34" charset="0"/>
              <a:buChar char="•"/>
            </a:pPr>
            <a:endParaRPr lang="en-US" dirty="0" smtClean="0">
              <a:latin typeface="Calibri" panose="020F0502020204030204" pitchFamily="34" charset="0"/>
              <a:ea typeface="Calibri" panose="020F0502020204030204" pitchFamily="34" charset="0"/>
              <a:cs typeface="Times New Roman" panose="02020603050405020304" pitchFamily="18" charset="0"/>
            </a:endParaRPr>
          </a:p>
          <a:p>
            <a:pPr lvl="0"/>
            <a:endParaRPr lang="en-US" dirty="0" smtClean="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endParaRPr lang="en-US" dirty="0" smtClean="0">
              <a:latin typeface="Calibri" panose="020F0502020204030204" pitchFamily="34" charset="0"/>
              <a:ea typeface="Calibri" panose="020F0502020204030204" pitchFamily="34" charset="0"/>
              <a:cs typeface="Times New Roman" panose="02020603050405020304" pitchFamily="18" charset="0"/>
            </a:endParaRPr>
          </a:p>
          <a:p>
            <a:r>
              <a:rPr lang="en-US" b="1" dirty="0"/>
              <a:t>@</a:t>
            </a:r>
            <a:r>
              <a:rPr lang="en-US" b="1" dirty="0" err="1"/>
              <a:t>staticmethod</a:t>
            </a:r>
            <a:r>
              <a:rPr lang="en-US" dirty="0"/>
              <a:t>	#decorator to mark greet as a static method</a:t>
            </a:r>
          </a:p>
          <a:p>
            <a:r>
              <a:rPr lang="en-US" b="1" dirty="0" err="1"/>
              <a:t>def</a:t>
            </a:r>
            <a:r>
              <a:rPr lang="en-US" b="1" dirty="0"/>
              <a:t> greet():</a:t>
            </a:r>
            <a:endParaRPr lang="en-US" dirty="0"/>
          </a:p>
          <a:p>
            <a:r>
              <a:rPr lang="en-US" b="1" dirty="0"/>
              <a:t>	print(“Hello user”)</a:t>
            </a:r>
            <a:endParaRPr lang="en-US" dirty="0"/>
          </a:p>
          <a:p>
            <a:pPr marL="285750" lvl="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6393626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1">
                <a:lumMod val="5000"/>
                <a:lumOff val="95000"/>
              </a:schemeClr>
            </a:gs>
            <a:gs pos="0">
              <a:schemeClr val="accent1">
                <a:lumMod val="45000"/>
                <a:lumOff val="55000"/>
              </a:schemeClr>
            </a:gs>
            <a:gs pos="6000">
              <a:schemeClr val="bg1"/>
            </a:gs>
            <a:gs pos="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777610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5787162" cy="584775"/>
          </a:xfrm>
          <a:prstGeom prst="rect">
            <a:avLst/>
          </a:prstGeom>
          <a:noFill/>
        </p:spPr>
        <p:txBody>
          <a:bodyPr wrap="none" rtlCol="0">
            <a:spAutoFit/>
          </a:bodyPr>
          <a:lstStyle/>
          <a:p>
            <a:r>
              <a:rPr lang="en-US" sz="3200" dirty="0" smtClean="0">
                <a:solidFill>
                  <a:schemeClr val="bg1"/>
                </a:solidFill>
              </a:rPr>
              <a:t>What is Automation Testing?</a:t>
            </a:r>
            <a:endParaRPr lang="en-US" sz="3200" dirty="0">
              <a:solidFill>
                <a:schemeClr val="bg1"/>
              </a:solidFill>
            </a:endParaRPr>
          </a:p>
        </p:txBody>
      </p:sp>
      <p:sp>
        <p:nvSpPr>
          <p:cNvPr id="5" name="Rectangle 4"/>
          <p:cNvSpPr/>
          <p:nvPr/>
        </p:nvSpPr>
        <p:spPr>
          <a:xfrm>
            <a:off x="889909" y="2330970"/>
            <a:ext cx="9993084" cy="4247317"/>
          </a:xfrm>
          <a:prstGeom prst="rect">
            <a:avLst/>
          </a:prstGeom>
        </p:spPr>
        <p:txBody>
          <a:bodyPr wrap="square">
            <a:spAutoFit/>
          </a:bodyPr>
          <a:lstStyle/>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Automation testing uses the specialized tools to automate the execution of manually designed test cases without any human intervention. </a:t>
            </a:r>
            <a:endParaRPr lang="en-US" dirty="0" smtClean="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r>
              <a:rPr lang="en-US" dirty="0" smtClean="0">
                <a:latin typeface="Calibri" panose="020F0502020204030204" pitchFamily="34" charset="0"/>
                <a:ea typeface="Calibri" panose="020F0502020204030204" pitchFamily="34" charset="0"/>
                <a:cs typeface="Times New Roman" panose="02020603050405020304" pitchFamily="18" charset="0"/>
              </a:rPr>
              <a:t>Automation </a:t>
            </a:r>
            <a:r>
              <a:rPr lang="en-US" dirty="0">
                <a:latin typeface="Calibri" panose="020F0502020204030204" pitchFamily="34" charset="0"/>
                <a:ea typeface="Calibri" panose="020F0502020204030204" pitchFamily="34" charset="0"/>
                <a:cs typeface="Times New Roman" panose="02020603050405020304" pitchFamily="18" charset="0"/>
              </a:rPr>
              <a:t>testing tools can access the test data, controls the execution of tests and compares the actual result against the expected result. </a:t>
            </a:r>
            <a:endParaRPr lang="en-US" dirty="0" smtClean="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r>
              <a:rPr lang="en-US" dirty="0" smtClean="0">
                <a:latin typeface="Calibri" panose="020F0502020204030204" pitchFamily="34" charset="0"/>
                <a:ea typeface="Calibri" panose="020F0502020204030204" pitchFamily="34" charset="0"/>
                <a:cs typeface="Times New Roman" panose="02020603050405020304" pitchFamily="18" charset="0"/>
              </a:rPr>
              <a:t>Consequently</a:t>
            </a:r>
            <a:r>
              <a:rPr lang="en-US" dirty="0">
                <a:latin typeface="Calibri" panose="020F0502020204030204" pitchFamily="34" charset="0"/>
                <a:ea typeface="Calibri" panose="020F0502020204030204" pitchFamily="34" charset="0"/>
                <a:cs typeface="Times New Roman" panose="02020603050405020304" pitchFamily="18" charset="0"/>
              </a:rPr>
              <a:t>, generating detailed test reports of the system under test</a:t>
            </a:r>
            <a:r>
              <a:rPr lang="en-US" dirty="0" smtClean="0">
                <a:latin typeface="Calibri" panose="020F0502020204030204" pitchFamily="34" charset="0"/>
                <a:ea typeface="Calibri" panose="020F0502020204030204" pitchFamily="34" charset="0"/>
                <a:cs typeface="Times New Roman" panose="02020603050405020304" pitchFamily="18" charset="0"/>
              </a:rPr>
              <a:t>.</a:t>
            </a: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advantages for improving long-term efficiency of any software</a:t>
            </a: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Automation testing supports frequent regression </a:t>
            </a:r>
            <a:r>
              <a:rPr lang="en-US" dirty="0" smtClean="0">
                <a:latin typeface="Calibri" panose="020F0502020204030204" pitchFamily="34" charset="0"/>
                <a:ea typeface="Calibri" panose="020F0502020204030204" pitchFamily="34" charset="0"/>
                <a:cs typeface="Times New Roman" panose="02020603050405020304" pitchFamily="18" charset="0"/>
              </a:rPr>
              <a:t>testing</a:t>
            </a: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Automated testing has long been considered beneficial for big software organizations. Although, it is often thought to be too expensive or difficult for smaller companies to implement</a:t>
            </a:r>
            <a:r>
              <a:rPr lang="en-US" dirty="0" smtClean="0">
                <a:latin typeface="Calibri" panose="020F0502020204030204" pitchFamily="34" charset="0"/>
                <a:ea typeface="Calibri" panose="020F0502020204030204" pitchFamily="34" charset="0"/>
                <a:cs typeface="Times New Roman" panose="02020603050405020304" pitchFamily="18" charset="0"/>
              </a:rPr>
              <a:t>.</a:t>
            </a: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It provides rapid feedback to developers.</a:t>
            </a: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It provides unlimited iterations of test case execution.</a:t>
            </a: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It provides disciplined documentation of test cases.</a:t>
            </a: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Automated test generates customized defect reports.</a:t>
            </a: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Less error prone as compared to manual testing.</a:t>
            </a:r>
          </a:p>
          <a:p>
            <a:pPr marL="285750" lvl="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1713902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3744936" cy="584775"/>
          </a:xfrm>
          <a:prstGeom prst="rect">
            <a:avLst/>
          </a:prstGeom>
          <a:noFill/>
        </p:spPr>
        <p:txBody>
          <a:bodyPr wrap="none" rtlCol="0">
            <a:spAutoFit/>
          </a:bodyPr>
          <a:lstStyle/>
          <a:p>
            <a:r>
              <a:rPr lang="en-US" sz="3200" dirty="0" smtClean="0">
                <a:solidFill>
                  <a:schemeClr val="bg1"/>
                </a:solidFill>
              </a:rPr>
              <a:t>What is Selenium?</a:t>
            </a:r>
            <a:endParaRPr lang="en-US" sz="3200" dirty="0">
              <a:solidFill>
                <a:schemeClr val="bg1"/>
              </a:solidFill>
            </a:endParaRPr>
          </a:p>
        </p:txBody>
      </p:sp>
      <p:sp>
        <p:nvSpPr>
          <p:cNvPr id="5" name="Rectangle 4"/>
          <p:cNvSpPr/>
          <p:nvPr/>
        </p:nvSpPr>
        <p:spPr>
          <a:xfrm>
            <a:off x="889909" y="2330970"/>
            <a:ext cx="9993084" cy="646331"/>
          </a:xfrm>
          <a:prstGeom prst="rect">
            <a:avLst/>
          </a:prstGeom>
        </p:spPr>
        <p:txBody>
          <a:bodyPr wrap="square">
            <a:spAutoFit/>
          </a:bodyPr>
          <a:lstStyle/>
          <a:p>
            <a:pPr marL="285750" lvl="0" indent="-285750">
              <a:buFont typeface="Arial" panose="020B0604020202020204" pitchFamily="34" charset="0"/>
              <a:buChar char="•"/>
            </a:pPr>
            <a:r>
              <a:rPr lang="en-US" dirty="0" smtClean="0">
                <a:latin typeface="Calibri" panose="020F0502020204030204" pitchFamily="34" charset="0"/>
                <a:ea typeface="Calibri" panose="020F0502020204030204" pitchFamily="34" charset="0"/>
                <a:cs typeface="Times New Roman" panose="02020603050405020304" pitchFamily="18" charset="0"/>
              </a:rPr>
              <a:t>Most </a:t>
            </a:r>
            <a:r>
              <a:rPr lang="en-US" dirty="0">
                <a:latin typeface="Calibri" panose="020F0502020204030204" pitchFamily="34" charset="0"/>
                <a:ea typeface="Calibri" panose="020F0502020204030204" pitchFamily="34" charset="0"/>
                <a:cs typeface="Times New Roman" panose="02020603050405020304" pitchFamily="18" charset="0"/>
              </a:rPr>
              <a:t>widely used open source Web UI (User Interface) automation testing </a:t>
            </a:r>
            <a:r>
              <a:rPr lang="en-US" dirty="0" smtClean="0">
                <a:latin typeface="Calibri" panose="020F0502020204030204" pitchFamily="34" charset="0"/>
                <a:ea typeface="Calibri" panose="020F0502020204030204" pitchFamily="34" charset="0"/>
                <a:cs typeface="Times New Roman" panose="02020603050405020304" pitchFamily="18" charset="0"/>
              </a:rPr>
              <a:t>suite</a:t>
            </a: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supports automation across different browsers, platforms and programming languages.</a:t>
            </a:r>
          </a:p>
        </p:txBody>
      </p:sp>
      <p:pic>
        <p:nvPicPr>
          <p:cNvPr id="3074" name="Picture 2" descr="Selenium Tutorial What is Selen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8629" y="3315066"/>
            <a:ext cx="5762625" cy="2981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58828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3026791" cy="584775"/>
          </a:xfrm>
          <a:prstGeom prst="rect">
            <a:avLst/>
          </a:prstGeom>
          <a:noFill/>
        </p:spPr>
        <p:txBody>
          <a:bodyPr wrap="none" rtlCol="0">
            <a:spAutoFit/>
          </a:bodyPr>
          <a:lstStyle/>
          <a:p>
            <a:r>
              <a:rPr lang="en-US" sz="3200" dirty="0" smtClean="0">
                <a:solidFill>
                  <a:schemeClr val="bg1"/>
                </a:solidFill>
              </a:rPr>
              <a:t>Selenium</a:t>
            </a:r>
            <a:r>
              <a:rPr lang="en-US" sz="3200" dirty="0">
                <a:solidFill>
                  <a:schemeClr val="bg1"/>
                </a:solidFill>
              </a:rPr>
              <a:t> </a:t>
            </a:r>
            <a:r>
              <a:rPr lang="en-US" sz="3200" dirty="0" smtClean="0">
                <a:solidFill>
                  <a:schemeClr val="bg1"/>
                </a:solidFill>
              </a:rPr>
              <a:t>Suite</a:t>
            </a:r>
            <a:endParaRPr lang="en-US" sz="3200" dirty="0">
              <a:solidFill>
                <a:schemeClr val="bg1"/>
              </a:solidFill>
            </a:endParaRPr>
          </a:p>
        </p:txBody>
      </p:sp>
      <p:sp>
        <p:nvSpPr>
          <p:cNvPr id="5" name="Rectangle 4"/>
          <p:cNvSpPr/>
          <p:nvPr/>
        </p:nvSpPr>
        <p:spPr>
          <a:xfrm>
            <a:off x="889909" y="2330970"/>
            <a:ext cx="9993084" cy="3754874"/>
          </a:xfrm>
          <a:prstGeom prst="rect">
            <a:avLst/>
          </a:prstGeom>
        </p:spPr>
        <p:txBody>
          <a:bodyPr wrap="square">
            <a:spAutoFit/>
          </a:bodyPr>
          <a:lstStyle/>
          <a:p>
            <a:pPr lvl="0"/>
            <a:r>
              <a:rPr lang="en-US" b="1" dirty="0" smtClean="0">
                <a:latin typeface="Calibri" panose="020F0502020204030204" pitchFamily="34" charset="0"/>
                <a:ea typeface="Calibri" panose="020F0502020204030204" pitchFamily="34" charset="0"/>
                <a:cs typeface="Times New Roman" panose="02020603050405020304" pitchFamily="18" charset="0"/>
              </a:rPr>
              <a:t>Four </a:t>
            </a:r>
            <a:r>
              <a:rPr lang="en-US" b="1" dirty="0">
                <a:latin typeface="Calibri" panose="020F0502020204030204" pitchFamily="34" charset="0"/>
                <a:ea typeface="Calibri" panose="020F0502020204030204" pitchFamily="34" charset="0"/>
                <a:cs typeface="Times New Roman" panose="02020603050405020304" pitchFamily="18" charset="0"/>
              </a:rPr>
              <a:t>major components which include:</a:t>
            </a:r>
          </a:p>
          <a:p>
            <a:pPr marL="285750" lvl="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r>
              <a:rPr lang="en-US" b="1" dirty="0">
                <a:latin typeface="Calibri" panose="020F0502020204030204" pitchFamily="34" charset="0"/>
                <a:ea typeface="Calibri" panose="020F0502020204030204" pitchFamily="34" charset="0"/>
                <a:cs typeface="Times New Roman" panose="02020603050405020304" pitchFamily="18" charset="0"/>
              </a:rPr>
              <a:t>Selenium Integrated Development Environment (IDE</a:t>
            </a:r>
            <a:r>
              <a:rPr lang="en-US" b="1" dirty="0" smtClean="0">
                <a:latin typeface="Calibri" panose="020F0502020204030204" pitchFamily="34" charset="0"/>
                <a:ea typeface="Calibri" panose="020F0502020204030204" pitchFamily="34" charset="0"/>
                <a:cs typeface="Times New Roman" panose="02020603050405020304" pitchFamily="18" charset="0"/>
              </a:rPr>
              <a:t>)</a:t>
            </a:r>
          </a:p>
          <a:p>
            <a:pPr lvl="1"/>
            <a:r>
              <a:rPr lang="en-US" sz="1600" dirty="0">
                <a:latin typeface="Calibri" panose="020F0502020204030204" pitchFamily="34" charset="0"/>
                <a:ea typeface="Calibri" panose="020F0502020204030204" pitchFamily="34" charset="0"/>
                <a:cs typeface="Times New Roman" panose="02020603050405020304" pitchFamily="18" charset="0"/>
              </a:rPr>
              <a:t>Firefox extension which provides </a:t>
            </a:r>
            <a:r>
              <a:rPr lang="en-US" sz="1600" b="1" dirty="0">
                <a:latin typeface="Calibri" panose="020F0502020204030204" pitchFamily="34" charset="0"/>
                <a:ea typeface="Calibri" panose="020F0502020204030204" pitchFamily="34" charset="0"/>
                <a:cs typeface="Times New Roman" panose="02020603050405020304" pitchFamily="18" charset="0"/>
              </a:rPr>
              <a:t>record and playback</a:t>
            </a:r>
            <a:r>
              <a:rPr lang="en-US" sz="1600" dirty="0">
                <a:latin typeface="Calibri" panose="020F0502020204030204" pitchFamily="34" charset="0"/>
                <a:ea typeface="Calibri" panose="020F0502020204030204" pitchFamily="34" charset="0"/>
                <a:cs typeface="Times New Roman" panose="02020603050405020304" pitchFamily="18" charset="0"/>
              </a:rPr>
              <a:t> functionality on test scripts</a:t>
            </a:r>
          </a:p>
          <a:p>
            <a:pPr marL="285750" lvl="0" indent="-285750">
              <a:buFont typeface="Arial" panose="020B0604020202020204" pitchFamily="34" charset="0"/>
              <a:buChar char="•"/>
            </a:pPr>
            <a:r>
              <a:rPr lang="en-US" b="1" dirty="0">
                <a:latin typeface="Calibri" panose="020F0502020204030204" pitchFamily="34" charset="0"/>
                <a:ea typeface="Calibri" panose="020F0502020204030204" pitchFamily="34" charset="0"/>
                <a:cs typeface="Times New Roman" panose="02020603050405020304" pitchFamily="18" charset="0"/>
              </a:rPr>
              <a:t>Selenium Remote Control (Now Deprecated</a:t>
            </a:r>
            <a:r>
              <a:rPr lang="en-US" b="1" dirty="0" smtClean="0">
                <a:latin typeface="Calibri" panose="020F0502020204030204" pitchFamily="34" charset="0"/>
                <a:ea typeface="Calibri" panose="020F0502020204030204" pitchFamily="34" charset="0"/>
                <a:cs typeface="Times New Roman" panose="02020603050405020304" pitchFamily="18" charset="0"/>
              </a:rPr>
              <a:t>)</a:t>
            </a:r>
          </a:p>
          <a:p>
            <a:pPr lvl="1"/>
            <a:r>
              <a:rPr lang="en-US" sz="1600" dirty="0">
                <a:latin typeface="Calibri" panose="020F0502020204030204" pitchFamily="34" charset="0"/>
                <a:ea typeface="Calibri" panose="020F0502020204030204" pitchFamily="34" charset="0"/>
                <a:cs typeface="Times New Roman" panose="02020603050405020304" pitchFamily="18" charset="0"/>
              </a:rPr>
              <a:t>allows testers to write automated web application UI test. It also involves an HTTP proxy server which enables the browser to believe that the web application being tested comes from the domain provided by proxy server.</a:t>
            </a:r>
            <a:r>
              <a:rPr lang="en-US" dirty="0"/>
              <a:t/>
            </a:r>
            <a:br>
              <a:rPr lang="en-US" dirty="0"/>
            </a:br>
            <a:endParaRPr lang="en-US"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r>
              <a:rPr lang="en-US" b="1" dirty="0" smtClean="0">
                <a:latin typeface="Calibri" panose="020F0502020204030204" pitchFamily="34" charset="0"/>
                <a:ea typeface="Calibri" panose="020F0502020204030204" pitchFamily="34" charset="0"/>
                <a:cs typeface="Times New Roman" panose="02020603050405020304" pitchFamily="18" charset="0"/>
              </a:rPr>
              <a:t>WebDriver</a:t>
            </a:r>
          </a:p>
          <a:p>
            <a:pPr lvl="1"/>
            <a:r>
              <a:rPr lang="en-US" sz="1600" dirty="0">
                <a:latin typeface="Calibri" panose="020F0502020204030204" pitchFamily="34" charset="0"/>
                <a:ea typeface="Calibri" panose="020F0502020204030204" pitchFamily="34" charset="0"/>
                <a:cs typeface="Times New Roman" panose="02020603050405020304" pitchFamily="18" charset="0"/>
              </a:rPr>
              <a:t>successor to Selenium RC. Test scripts are written in order to identify web elements on web pages and then desired actions are performed on those elements</a:t>
            </a:r>
          </a:p>
          <a:p>
            <a:pPr marL="285750" lvl="0" indent="-285750">
              <a:buFont typeface="Arial" panose="020B0604020202020204" pitchFamily="34" charset="0"/>
              <a:buChar char="•"/>
            </a:pPr>
            <a:r>
              <a:rPr lang="en-US" b="1" dirty="0">
                <a:latin typeface="Calibri" panose="020F0502020204030204" pitchFamily="34" charset="0"/>
                <a:ea typeface="Calibri" panose="020F0502020204030204" pitchFamily="34" charset="0"/>
                <a:cs typeface="Times New Roman" panose="02020603050405020304" pitchFamily="18" charset="0"/>
              </a:rPr>
              <a:t>Selenium </a:t>
            </a:r>
            <a:r>
              <a:rPr lang="en-US" b="1" dirty="0" smtClean="0">
                <a:latin typeface="Calibri" panose="020F0502020204030204" pitchFamily="34" charset="0"/>
                <a:ea typeface="Calibri" panose="020F0502020204030204" pitchFamily="34" charset="0"/>
                <a:cs typeface="Times New Roman" panose="02020603050405020304" pitchFamily="18" charset="0"/>
              </a:rPr>
              <a:t>Grid</a:t>
            </a:r>
          </a:p>
          <a:p>
            <a:pPr lvl="0"/>
            <a:r>
              <a:rPr lang="en-US" sz="1600" dirty="0" smtClean="0">
                <a:latin typeface="Calibri" panose="020F0502020204030204" pitchFamily="34" charset="0"/>
                <a:ea typeface="Calibri" panose="020F0502020204030204" pitchFamily="34" charset="0"/>
                <a:cs typeface="Times New Roman" panose="02020603050405020304" pitchFamily="18" charset="0"/>
              </a:rPr>
              <a:t>	allows </a:t>
            </a:r>
            <a:r>
              <a:rPr lang="en-US" sz="1600" dirty="0">
                <a:latin typeface="Calibri" panose="020F0502020204030204" pitchFamily="34" charset="0"/>
                <a:ea typeface="Calibri" panose="020F0502020204030204" pitchFamily="34" charset="0"/>
                <a:cs typeface="Times New Roman" panose="02020603050405020304" pitchFamily="18" charset="0"/>
              </a:rPr>
              <a:t>us to run our tests on different machines against different browsers in parallel</a:t>
            </a:r>
            <a:r>
              <a:rPr lang="en-US" sz="1600" dirty="0" smtClean="0">
                <a:latin typeface="Calibri" panose="020F0502020204030204" pitchFamily="34" charset="0"/>
                <a:ea typeface="Calibri" panose="020F0502020204030204" pitchFamily="34" charset="0"/>
                <a:cs typeface="Times New Roman" panose="02020603050405020304" pitchFamily="18" charset="0"/>
              </a:rPr>
              <a:t>.</a:t>
            </a:r>
          </a:p>
          <a:p>
            <a:pPr lvl="0"/>
            <a:r>
              <a:rPr lang="en-US" sz="1600" dirty="0">
                <a:latin typeface="Calibri" panose="020F0502020204030204" pitchFamily="34" charset="0"/>
                <a:ea typeface="Calibri" panose="020F0502020204030204" pitchFamily="34" charset="0"/>
                <a:cs typeface="Times New Roman" panose="02020603050405020304" pitchFamily="18" charset="0"/>
              </a:rPr>
              <a:t>	follows the Hub-Node Architecture to achieve parallel execution of test scripts</a:t>
            </a:r>
          </a:p>
        </p:txBody>
      </p:sp>
    </p:spTree>
    <p:extLst>
      <p:ext uri="{BB962C8B-B14F-4D97-AF65-F5344CB8AC3E}">
        <p14:creationId xmlns:p14="http://schemas.microsoft.com/office/powerpoint/2010/main" val="140965145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493" y="1134835"/>
            <a:ext cx="5014514" cy="584775"/>
          </a:xfrm>
          <a:prstGeom prst="rect">
            <a:avLst/>
          </a:prstGeom>
          <a:noFill/>
        </p:spPr>
        <p:txBody>
          <a:bodyPr wrap="none" rtlCol="0">
            <a:spAutoFit/>
          </a:bodyPr>
          <a:lstStyle/>
          <a:p>
            <a:r>
              <a:rPr lang="en-US" sz="3200" dirty="0" smtClean="0">
                <a:solidFill>
                  <a:schemeClr val="bg1"/>
                </a:solidFill>
              </a:rPr>
              <a:t>Selenium getting started</a:t>
            </a:r>
            <a:endParaRPr lang="en-US" sz="3200" dirty="0">
              <a:solidFill>
                <a:schemeClr val="bg1"/>
              </a:solidFill>
            </a:endParaRPr>
          </a:p>
        </p:txBody>
      </p:sp>
      <p:sp>
        <p:nvSpPr>
          <p:cNvPr id="5" name="Rectangle 4"/>
          <p:cNvSpPr/>
          <p:nvPr/>
        </p:nvSpPr>
        <p:spPr>
          <a:xfrm>
            <a:off x="889909" y="2330970"/>
            <a:ext cx="9993084" cy="4524315"/>
          </a:xfrm>
          <a:prstGeom prst="rect">
            <a:avLst/>
          </a:prstGeom>
        </p:spPr>
        <p:txBody>
          <a:bodyPr wrap="square">
            <a:spAutoFit/>
          </a:bodyPr>
          <a:lstStyle/>
          <a:p>
            <a:pPr marL="285750" lvl="0" indent="-285750">
              <a:buFont typeface="Arial" panose="020B0604020202020204" pitchFamily="34" charset="0"/>
              <a:buChar char="•"/>
            </a:pPr>
            <a:r>
              <a:rPr lang="en-US" dirty="0" smtClean="0">
                <a:latin typeface="Calibri" panose="020F0502020204030204" pitchFamily="34" charset="0"/>
                <a:ea typeface="Calibri" panose="020F0502020204030204" pitchFamily="34" charset="0"/>
                <a:cs typeface="Times New Roman" panose="02020603050405020304" pitchFamily="18" charset="0"/>
              </a:rPr>
              <a:t>pip install –U selenium		# put on </a:t>
            </a:r>
            <a:r>
              <a:rPr lang="en-US" dirty="0" err="1" smtClean="0">
                <a:latin typeface="Calibri" panose="020F0502020204030204" pitchFamily="34" charset="0"/>
                <a:ea typeface="Calibri" panose="020F0502020204030204" pitchFamily="34" charset="0"/>
                <a:cs typeface="Times New Roman" panose="02020603050405020304" pitchFamily="18" charset="0"/>
              </a:rPr>
              <a:t>cmd</a:t>
            </a:r>
            <a:endParaRPr lang="en-US" dirty="0" smtClean="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Times New Roman" panose="02020603050405020304" pitchFamily="18" charset="0"/>
            </a:endParaRPr>
          </a:p>
          <a:p>
            <a:pPr lvl="0"/>
            <a:r>
              <a:rPr lang="en-US" b="1" dirty="0" smtClean="0">
                <a:latin typeface="Calibri" panose="020F0502020204030204" pitchFamily="34" charset="0"/>
                <a:ea typeface="Calibri" panose="020F0502020204030204" pitchFamily="34" charset="0"/>
                <a:cs typeface="Times New Roman" panose="02020603050405020304" pitchFamily="18" charset="0"/>
              </a:rPr>
              <a:t>Get </a:t>
            </a:r>
            <a:r>
              <a:rPr lang="en-US" b="1" dirty="0" err="1" smtClean="0">
                <a:latin typeface="Calibri" panose="020F0502020204030204" pitchFamily="34" charset="0"/>
                <a:ea typeface="Calibri" panose="020F0502020204030204" pitchFamily="34" charset="0"/>
                <a:cs typeface="Times New Roman" panose="02020603050405020304" pitchFamily="18" charset="0"/>
              </a:rPr>
              <a:t>WebDrivers</a:t>
            </a:r>
            <a:r>
              <a:rPr lang="en-US" b="1" dirty="0" smtClean="0">
                <a:latin typeface="Calibri" panose="020F0502020204030204" pitchFamily="34" charset="0"/>
                <a:ea typeface="Calibri" panose="020F0502020204030204" pitchFamily="34" charset="0"/>
                <a:cs typeface="Times New Roman" panose="02020603050405020304" pitchFamily="18" charset="0"/>
              </a:rPr>
              <a:t> and put under python installed directory</a:t>
            </a:r>
          </a:p>
          <a:p>
            <a:pPr lvl="0"/>
            <a:endParaRPr lang="en-US" dirty="0" smtClean="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Chrome:	</a:t>
            </a:r>
            <a:r>
              <a:rPr lang="en-US" dirty="0">
                <a:latin typeface="Calibri" panose="020F0502020204030204" pitchFamily="34" charset="0"/>
                <a:ea typeface="Calibri" panose="020F0502020204030204" pitchFamily="34" charset="0"/>
                <a:cs typeface="Times New Roman" panose="02020603050405020304" pitchFamily="18" charset="0"/>
                <a:hlinkClick r:id="rId3"/>
              </a:rPr>
              <a:t>https://</a:t>
            </a:r>
            <a:r>
              <a:rPr lang="en-US" dirty="0" smtClean="0">
                <a:latin typeface="Calibri" panose="020F0502020204030204" pitchFamily="34" charset="0"/>
                <a:ea typeface="Calibri" panose="020F0502020204030204" pitchFamily="34" charset="0"/>
                <a:cs typeface="Times New Roman" panose="02020603050405020304" pitchFamily="18" charset="0"/>
                <a:hlinkClick r:id="rId3"/>
              </a:rPr>
              <a:t>sites.google.com/a/chromium.org/chromedriver/downloads</a:t>
            </a:r>
            <a:endParaRPr lang="en-US" dirty="0" smtClean="0">
              <a:latin typeface="Calibri" panose="020F0502020204030204" pitchFamily="34" charset="0"/>
              <a:ea typeface="Calibri" panose="020F0502020204030204" pitchFamily="34" charset="0"/>
              <a:cs typeface="Times New Roman" panose="02020603050405020304" pitchFamily="18" charset="0"/>
            </a:endParaRPr>
          </a:p>
          <a:p>
            <a:pPr marL="1657350" lvl="3"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hlinkClick r:id="rId4"/>
              </a:rPr>
              <a:t>https://sites.google.com/chromium.org/driver</a:t>
            </a:r>
            <a:r>
              <a:rPr lang="en-US" dirty="0" smtClean="0">
                <a:latin typeface="Calibri" panose="020F0502020204030204" pitchFamily="34" charset="0"/>
                <a:ea typeface="Calibri" panose="020F0502020204030204" pitchFamily="34" charset="0"/>
                <a:cs typeface="Times New Roman" panose="02020603050405020304" pitchFamily="18" charset="0"/>
                <a:hlinkClick r:id="rId4"/>
              </a:rPr>
              <a:t>/</a:t>
            </a:r>
            <a:endParaRPr lang="en-US" dirty="0" smtClean="0">
              <a:latin typeface="Calibri" panose="020F0502020204030204" pitchFamily="34" charset="0"/>
              <a:ea typeface="Calibri" panose="020F0502020204030204" pitchFamily="34" charset="0"/>
              <a:cs typeface="Times New Roman" panose="02020603050405020304" pitchFamily="18" charset="0"/>
            </a:endParaRPr>
          </a:p>
          <a:p>
            <a:pPr lvl="3"/>
            <a:endParaRPr lang="en-US"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Edge:	</a:t>
            </a:r>
            <a:r>
              <a:rPr lang="en-US" dirty="0">
                <a:latin typeface="Calibri" panose="020F0502020204030204" pitchFamily="34" charset="0"/>
                <a:ea typeface="Calibri" panose="020F0502020204030204" pitchFamily="34" charset="0"/>
                <a:cs typeface="Times New Roman" panose="02020603050405020304" pitchFamily="18" charset="0"/>
                <a:hlinkClick r:id="rId5"/>
              </a:rPr>
              <a:t>https://developer.microsoft.com/en-us/microsoft-edge/tools/webdriver</a:t>
            </a:r>
            <a:r>
              <a:rPr lang="en-US" dirty="0" smtClean="0">
                <a:latin typeface="Calibri" panose="020F0502020204030204" pitchFamily="34" charset="0"/>
                <a:ea typeface="Calibri" panose="020F0502020204030204" pitchFamily="34" charset="0"/>
                <a:cs typeface="Times New Roman" panose="02020603050405020304" pitchFamily="18" charset="0"/>
                <a:hlinkClick r:id="rId5"/>
              </a:rPr>
              <a:t>/</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Firefox:	</a:t>
            </a:r>
            <a:r>
              <a:rPr lang="en-US" dirty="0">
                <a:latin typeface="Calibri" panose="020F0502020204030204" pitchFamily="34" charset="0"/>
                <a:ea typeface="Calibri" panose="020F0502020204030204" pitchFamily="34" charset="0"/>
                <a:cs typeface="Times New Roman" panose="02020603050405020304" pitchFamily="18" charset="0"/>
                <a:hlinkClick r:id="rId6"/>
              </a:rPr>
              <a:t>https://</a:t>
            </a:r>
            <a:r>
              <a:rPr lang="en-US" dirty="0" smtClean="0">
                <a:latin typeface="Calibri" panose="020F0502020204030204" pitchFamily="34" charset="0"/>
                <a:ea typeface="Calibri" panose="020F0502020204030204" pitchFamily="34" charset="0"/>
                <a:cs typeface="Times New Roman" panose="02020603050405020304" pitchFamily="18" charset="0"/>
                <a:hlinkClick r:id="rId6"/>
              </a:rPr>
              <a:t>github.com/mozilla/geckodriver/releases</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Safari:	</a:t>
            </a:r>
            <a:r>
              <a:rPr lang="en-US" dirty="0">
                <a:latin typeface="Calibri" panose="020F0502020204030204" pitchFamily="34" charset="0"/>
                <a:ea typeface="Calibri" panose="020F0502020204030204" pitchFamily="34" charset="0"/>
                <a:cs typeface="Times New Roman" panose="02020603050405020304" pitchFamily="18" charset="0"/>
                <a:hlinkClick r:id="rId7"/>
              </a:rPr>
              <a:t>https://webkit.org/blog/6900/webdriver-support-in-safari-10</a:t>
            </a:r>
            <a:r>
              <a:rPr lang="en-US" dirty="0" smtClean="0">
                <a:latin typeface="Calibri" panose="020F0502020204030204" pitchFamily="34" charset="0"/>
                <a:ea typeface="Calibri" panose="020F0502020204030204" pitchFamily="34" charset="0"/>
                <a:cs typeface="Times New Roman" panose="02020603050405020304" pitchFamily="18" charset="0"/>
                <a:hlinkClick r:id="rId7"/>
              </a:rPr>
              <a:t>/</a:t>
            </a:r>
            <a:endParaRPr lang="en-US" dirty="0">
              <a:latin typeface="Calibri" panose="020F0502020204030204" pitchFamily="34" charset="0"/>
              <a:ea typeface="Calibri" panose="020F0502020204030204" pitchFamily="34" charset="0"/>
              <a:cs typeface="Times New Roman" panose="02020603050405020304" pitchFamily="18" charset="0"/>
            </a:endParaRPr>
          </a:p>
          <a:p>
            <a:pPr lvl="0"/>
            <a:endParaRPr lang="en-US"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endParaRPr lang="en-US" dirty="0" smtClean="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2219378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16712" y="2382606"/>
            <a:ext cx="9993084" cy="2585323"/>
          </a:xfrm>
          <a:prstGeom prst="rect">
            <a:avLst/>
          </a:prstGeom>
        </p:spPr>
        <p:txBody>
          <a:bodyPr wrap="square">
            <a:spAutoFit/>
          </a:bodyPr>
          <a:lstStyle/>
          <a:p>
            <a:pPr marL="285750" lvl="0" indent="-285750">
              <a:buFont typeface="Arial" panose="020B0604020202020204" pitchFamily="34" charset="0"/>
              <a:buChar char="•"/>
            </a:pPr>
            <a:r>
              <a:rPr lang="en-US" dirty="0" smtClean="0">
                <a:latin typeface="Calibri" panose="020F0502020204030204" pitchFamily="34" charset="0"/>
                <a:ea typeface="Calibri" panose="020F0502020204030204" pitchFamily="34" charset="0"/>
                <a:cs typeface="Times New Roman" panose="02020603050405020304" pitchFamily="18" charset="0"/>
              </a:rPr>
              <a:t>Import </a:t>
            </a:r>
            <a:r>
              <a:rPr lang="en-US" dirty="0" err="1" smtClean="0">
                <a:latin typeface="Calibri" panose="020F0502020204030204" pitchFamily="34" charset="0"/>
                <a:ea typeface="Calibri" panose="020F0502020204030204" pitchFamily="34" charset="0"/>
                <a:cs typeface="Times New Roman" panose="02020603050405020304" pitchFamily="18" charset="0"/>
              </a:rPr>
              <a:t>webdriver</a:t>
            </a:r>
            <a:endParaRPr lang="en-US" dirty="0" smtClean="0">
              <a:latin typeface="Calibri" panose="020F0502020204030204" pitchFamily="34" charset="0"/>
              <a:ea typeface="Calibri" panose="020F0502020204030204" pitchFamily="34" charset="0"/>
              <a:cs typeface="Times New Roman" panose="02020603050405020304" pitchFamily="18" charset="0"/>
            </a:endParaRPr>
          </a:p>
          <a:p>
            <a:pPr lvl="1"/>
            <a:r>
              <a:rPr lang="en-US" b="1" dirty="0">
                <a:latin typeface="Calibri" panose="020F0502020204030204" pitchFamily="34" charset="0"/>
                <a:ea typeface="Calibri" panose="020F0502020204030204" pitchFamily="34" charset="0"/>
                <a:cs typeface="Times New Roman" panose="02020603050405020304" pitchFamily="18" charset="0"/>
              </a:rPr>
              <a:t>from selenium import </a:t>
            </a:r>
            <a:r>
              <a:rPr lang="en-US" b="1" dirty="0" err="1" smtClean="0">
                <a:latin typeface="Calibri" panose="020F0502020204030204" pitchFamily="34" charset="0"/>
                <a:ea typeface="Calibri" panose="020F0502020204030204" pitchFamily="34" charset="0"/>
                <a:cs typeface="Times New Roman" panose="02020603050405020304" pitchFamily="18" charset="0"/>
              </a:rPr>
              <a:t>webdriver</a:t>
            </a:r>
            <a:endParaRPr lang="en-US" b="1" dirty="0">
              <a:latin typeface="Calibri" panose="020F0502020204030204" pitchFamily="34" charset="0"/>
              <a:ea typeface="Calibri" panose="020F0502020204030204" pitchFamily="34" charset="0"/>
              <a:cs typeface="Times New Roman" panose="02020603050405020304" pitchFamily="18" charset="0"/>
            </a:endParaRPr>
          </a:p>
          <a:p>
            <a:pPr lvl="1"/>
            <a:endParaRPr lang="en-US" dirty="0" smtClean="0">
              <a:latin typeface="Calibri" panose="020F0502020204030204"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Initialize driver or get browser </a:t>
            </a:r>
            <a:r>
              <a:rPr lang="en-US" dirty="0" smtClean="0">
                <a:latin typeface="Calibri" panose="020F0502020204030204" pitchFamily="34" charset="0"/>
                <a:ea typeface="Calibri" panose="020F0502020204030204" pitchFamily="34" charset="0"/>
                <a:cs typeface="Times New Roman" panose="02020603050405020304" pitchFamily="18" charset="0"/>
              </a:rPr>
              <a:t>driver</a:t>
            </a:r>
          </a:p>
          <a:p>
            <a:r>
              <a:rPr lang="en-US" dirty="0">
                <a:latin typeface="Calibri" panose="020F0502020204030204" pitchFamily="34" charset="0"/>
                <a:ea typeface="Calibri" panose="020F0502020204030204" pitchFamily="34" charset="0"/>
                <a:cs typeface="Times New Roman" panose="02020603050405020304" pitchFamily="18" charset="0"/>
              </a:rPr>
              <a:t>	</a:t>
            </a:r>
            <a:r>
              <a:rPr lang="en-US" b="1" dirty="0">
                <a:latin typeface="Calibri" panose="020F0502020204030204" pitchFamily="34" charset="0"/>
                <a:ea typeface="Calibri" panose="020F0502020204030204" pitchFamily="34" charset="0"/>
                <a:cs typeface="Times New Roman" panose="02020603050405020304" pitchFamily="18" charset="0"/>
              </a:rPr>
              <a:t>driver = </a:t>
            </a:r>
            <a:r>
              <a:rPr lang="en-US" b="1" dirty="0" err="1">
                <a:latin typeface="Calibri" panose="020F0502020204030204" pitchFamily="34" charset="0"/>
                <a:ea typeface="Calibri" panose="020F0502020204030204" pitchFamily="34" charset="0"/>
                <a:cs typeface="Times New Roman" panose="02020603050405020304" pitchFamily="18" charset="0"/>
              </a:rPr>
              <a:t>webdriver.Chrome</a:t>
            </a:r>
            <a:r>
              <a:rPr lang="en-US" b="1" dirty="0" smtClean="0">
                <a:latin typeface="Calibri" panose="020F0502020204030204" pitchFamily="34" charset="0"/>
                <a:ea typeface="Calibri" panose="020F0502020204030204" pitchFamily="34" charset="0"/>
                <a:cs typeface="Times New Roman" panose="02020603050405020304" pitchFamily="18" charset="0"/>
              </a:rPr>
              <a:t>()			# for chrome</a:t>
            </a:r>
          </a:p>
          <a:p>
            <a:r>
              <a:rPr lang="en-US" b="1" dirty="0" smtClean="0">
                <a:latin typeface="Calibri" panose="020F0502020204030204" pitchFamily="34" charset="0"/>
                <a:ea typeface="Calibri" panose="020F0502020204030204" pitchFamily="34" charset="0"/>
                <a:cs typeface="Times New Roman" panose="02020603050405020304" pitchFamily="18" charset="0"/>
              </a:rPr>
              <a:t>	driver </a:t>
            </a:r>
            <a:r>
              <a:rPr lang="en-US" b="1" dirty="0">
                <a:latin typeface="Calibri" panose="020F0502020204030204" pitchFamily="34" charset="0"/>
                <a:ea typeface="Calibri" panose="020F0502020204030204" pitchFamily="34" charset="0"/>
                <a:cs typeface="Times New Roman" panose="02020603050405020304" pitchFamily="18" charset="0"/>
              </a:rPr>
              <a:t>= </a:t>
            </a:r>
            <a:r>
              <a:rPr lang="en-US" b="1" dirty="0" err="1" smtClean="0">
                <a:latin typeface="Calibri" panose="020F0502020204030204" pitchFamily="34" charset="0"/>
                <a:ea typeface="Calibri" panose="020F0502020204030204" pitchFamily="34" charset="0"/>
                <a:cs typeface="Times New Roman" panose="02020603050405020304" pitchFamily="18" charset="0"/>
              </a:rPr>
              <a:t>webdriver.Ie</a:t>
            </a:r>
            <a:r>
              <a:rPr lang="en-US" b="1" dirty="0" smtClean="0">
                <a:latin typeface="Calibri" panose="020F0502020204030204" pitchFamily="34" charset="0"/>
                <a:ea typeface="Calibri" panose="020F0502020204030204" pitchFamily="34" charset="0"/>
                <a:cs typeface="Times New Roman" panose="02020603050405020304" pitchFamily="18" charset="0"/>
              </a:rPr>
              <a:t>()</a:t>
            </a:r>
            <a:r>
              <a:rPr lang="en-US" b="1" dirty="0">
                <a:latin typeface="Calibri" panose="020F0502020204030204" pitchFamily="34" charset="0"/>
                <a:ea typeface="Calibri" panose="020F0502020204030204" pitchFamily="34" charset="0"/>
                <a:cs typeface="Times New Roman" panose="02020603050405020304" pitchFamily="18" charset="0"/>
              </a:rPr>
              <a:t>			# for </a:t>
            </a:r>
            <a:r>
              <a:rPr lang="en-US" b="1" dirty="0" smtClean="0">
                <a:latin typeface="Calibri" panose="020F0502020204030204" pitchFamily="34" charset="0"/>
                <a:ea typeface="Calibri" panose="020F0502020204030204" pitchFamily="34" charset="0"/>
                <a:cs typeface="Times New Roman" panose="02020603050405020304" pitchFamily="18" charset="0"/>
              </a:rPr>
              <a:t>IE browser</a:t>
            </a:r>
          </a:p>
          <a:p>
            <a:pPr lvl="0"/>
            <a:endParaRPr lang="en-US" dirty="0" smtClean="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4995321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16712" y="2382606"/>
            <a:ext cx="9993084" cy="2862322"/>
          </a:xfrm>
          <a:prstGeom prst="rect">
            <a:avLst/>
          </a:prstGeom>
        </p:spPr>
        <p:txBody>
          <a:bodyPr wrap="square">
            <a:spAutoFit/>
          </a:bodyPr>
          <a:lstStyle/>
          <a:p>
            <a:pPr lvl="0"/>
            <a:r>
              <a:rPr lang="en-US" dirty="0" smtClean="0">
                <a:latin typeface="Calibri" panose="020F0502020204030204" pitchFamily="34" charset="0"/>
                <a:ea typeface="Calibri" panose="020F0502020204030204" pitchFamily="34" charset="0"/>
                <a:cs typeface="Times New Roman" panose="02020603050405020304" pitchFamily="18" charset="0"/>
                <a:hlinkClick r:id="rId3"/>
              </a:rPr>
              <a:t>https://seleniumbase.io/demo_page</a:t>
            </a:r>
            <a:endParaRPr lang="en-US" dirty="0" smtClean="0">
              <a:latin typeface="Calibri" panose="020F0502020204030204" pitchFamily="34" charset="0"/>
              <a:ea typeface="Calibri" panose="020F0502020204030204" pitchFamily="34" charset="0"/>
              <a:cs typeface="Times New Roman" panose="02020603050405020304" pitchFamily="18" charset="0"/>
            </a:endParaRPr>
          </a:p>
          <a:p>
            <a:pPr lvl="0"/>
            <a:endParaRPr lang="en-US" dirty="0">
              <a:latin typeface="Calibri" panose="020F0502020204030204" pitchFamily="34" charset="0"/>
              <a:ea typeface="Calibri" panose="020F0502020204030204" pitchFamily="34" charset="0"/>
              <a:cs typeface="Times New Roman" panose="02020603050405020304" pitchFamily="18" charset="0"/>
            </a:endParaRPr>
          </a:p>
          <a:p>
            <a:pPr lvl="0"/>
            <a:r>
              <a:rPr lang="en-US" dirty="0">
                <a:latin typeface="Calibri" panose="020F0502020204030204" pitchFamily="34" charset="0"/>
                <a:ea typeface="Calibri" panose="020F0502020204030204" pitchFamily="34" charset="0"/>
                <a:cs typeface="Times New Roman" panose="02020603050405020304" pitchFamily="18" charset="0"/>
                <a:hlinkClick r:id="rId4"/>
              </a:rPr>
              <a:t>https://the-internet.herokuapp.com</a:t>
            </a:r>
            <a:r>
              <a:rPr lang="en-US" dirty="0" smtClean="0">
                <a:latin typeface="Calibri" panose="020F0502020204030204" pitchFamily="34" charset="0"/>
                <a:ea typeface="Calibri" panose="020F0502020204030204" pitchFamily="34" charset="0"/>
                <a:cs typeface="Times New Roman" panose="02020603050405020304" pitchFamily="18" charset="0"/>
                <a:hlinkClick r:id="rId4"/>
              </a:rPr>
              <a:t>/</a:t>
            </a:r>
            <a:endParaRPr lang="en-US" dirty="0" smtClean="0">
              <a:latin typeface="Calibri" panose="020F0502020204030204" pitchFamily="34" charset="0"/>
              <a:ea typeface="Calibri" panose="020F0502020204030204" pitchFamily="34" charset="0"/>
              <a:cs typeface="Times New Roman" panose="02020603050405020304" pitchFamily="18" charset="0"/>
            </a:endParaRPr>
          </a:p>
          <a:p>
            <a:pPr lvl="0"/>
            <a:endParaRPr lang="en-US" dirty="0">
              <a:latin typeface="Calibri" panose="020F0502020204030204" pitchFamily="34" charset="0"/>
              <a:ea typeface="Calibri" panose="020F0502020204030204" pitchFamily="34" charset="0"/>
              <a:cs typeface="Times New Roman" panose="02020603050405020304" pitchFamily="18" charset="0"/>
            </a:endParaRPr>
          </a:p>
          <a:p>
            <a:pPr lvl="0"/>
            <a:r>
              <a:rPr lang="en-US" dirty="0">
                <a:latin typeface="Calibri" panose="020F0502020204030204" pitchFamily="34" charset="0"/>
                <a:ea typeface="Calibri" panose="020F0502020204030204" pitchFamily="34" charset="0"/>
                <a:cs typeface="Times New Roman" panose="02020603050405020304" pitchFamily="18" charset="0"/>
                <a:hlinkClick r:id="rId5"/>
              </a:rPr>
              <a:t>http://</a:t>
            </a:r>
            <a:r>
              <a:rPr lang="en-US" dirty="0" smtClean="0">
                <a:latin typeface="Calibri" panose="020F0502020204030204" pitchFamily="34" charset="0"/>
                <a:ea typeface="Calibri" panose="020F0502020204030204" pitchFamily="34" charset="0"/>
                <a:cs typeface="Times New Roman" panose="02020603050405020304" pitchFamily="18" charset="0"/>
                <a:hlinkClick r:id="rId5"/>
              </a:rPr>
              <a:t>www.dhtmlgoodies.com/scripts/drag-drop-custom/demo-drag-drop-3.html</a:t>
            </a:r>
            <a:endParaRPr lang="en-US" dirty="0" smtClean="0">
              <a:latin typeface="Calibri" panose="020F0502020204030204" pitchFamily="34" charset="0"/>
              <a:ea typeface="Calibri" panose="020F0502020204030204" pitchFamily="34" charset="0"/>
              <a:cs typeface="Times New Roman" panose="02020603050405020304" pitchFamily="18" charset="0"/>
            </a:endParaRPr>
          </a:p>
          <a:p>
            <a:pPr lvl="0"/>
            <a:endParaRPr lang="en-US" dirty="0" smtClean="0">
              <a:latin typeface="Calibri" panose="020F0502020204030204" pitchFamily="34" charset="0"/>
              <a:ea typeface="Calibri" panose="020F0502020204030204" pitchFamily="34" charset="0"/>
              <a:cs typeface="Times New Roman" panose="02020603050405020304" pitchFamily="18" charset="0"/>
            </a:endParaRPr>
          </a:p>
          <a:p>
            <a:pPr lvl="0"/>
            <a:endParaRPr lang="en-US" dirty="0" smtClean="0">
              <a:latin typeface="Calibri" panose="020F0502020204030204" pitchFamily="34" charset="0"/>
              <a:ea typeface="Calibri" panose="020F0502020204030204" pitchFamily="34" charset="0"/>
              <a:cs typeface="Times New Roman" panose="02020603050405020304" pitchFamily="18" charset="0"/>
            </a:endParaRPr>
          </a:p>
          <a:p>
            <a:pPr lvl="0"/>
            <a:endParaRPr lang="en-US" dirty="0" smtClean="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p:cNvSpPr txBox="1"/>
          <p:nvPr/>
        </p:nvSpPr>
        <p:spPr>
          <a:xfrm>
            <a:off x="1116712" y="1005840"/>
            <a:ext cx="3764172" cy="584775"/>
          </a:xfrm>
          <a:prstGeom prst="rect">
            <a:avLst/>
          </a:prstGeom>
          <a:noFill/>
        </p:spPr>
        <p:txBody>
          <a:bodyPr wrap="none" rtlCol="0">
            <a:spAutoFit/>
          </a:bodyPr>
          <a:lstStyle/>
          <a:p>
            <a:r>
              <a:rPr lang="en-US" sz="3200" dirty="0">
                <a:solidFill>
                  <a:schemeClr val="bg1"/>
                </a:solidFill>
              </a:rPr>
              <a:t>Testing demo sites</a:t>
            </a:r>
          </a:p>
        </p:txBody>
      </p:sp>
    </p:spTree>
    <p:extLst>
      <p:ext uri="{BB962C8B-B14F-4D97-AF65-F5344CB8AC3E}">
        <p14:creationId xmlns:p14="http://schemas.microsoft.com/office/powerpoint/2010/main" val="68732830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16712" y="2382606"/>
            <a:ext cx="9993084" cy="4524315"/>
          </a:xfrm>
          <a:prstGeom prst="rect">
            <a:avLst/>
          </a:prstGeom>
        </p:spPr>
        <p:txBody>
          <a:bodyPr wrap="square">
            <a:spAutoFit/>
          </a:bodyPr>
          <a:lstStyle/>
          <a:p>
            <a:pPr marL="285750" lvl="0" indent="-285750">
              <a:buFont typeface="Arial" panose="020B0604020202020204" pitchFamily="34" charset="0"/>
              <a:buChar char="•"/>
            </a:pPr>
            <a:r>
              <a:rPr lang="en-US" dirty="0" smtClean="0">
                <a:latin typeface="Calibri" panose="020F0502020204030204" pitchFamily="34" charset="0"/>
                <a:ea typeface="Calibri" panose="020F0502020204030204" pitchFamily="34" charset="0"/>
                <a:cs typeface="Times New Roman" panose="02020603050405020304" pitchFamily="18" charset="0"/>
              </a:rPr>
              <a:t>Open website or visit URL</a:t>
            </a:r>
            <a:endParaRPr lang="en-US" dirty="0">
              <a:latin typeface="Calibri" panose="020F0502020204030204" pitchFamily="34" charset="0"/>
              <a:ea typeface="Calibri" panose="020F0502020204030204" pitchFamily="34" charset="0"/>
              <a:cs typeface="Times New Roman" panose="02020603050405020304" pitchFamily="18" charset="0"/>
            </a:endParaRPr>
          </a:p>
          <a:p>
            <a:pPr lvl="1"/>
            <a:r>
              <a:rPr lang="en-US" b="1" dirty="0" err="1">
                <a:latin typeface="Calibri" panose="020F0502020204030204" pitchFamily="34" charset="0"/>
                <a:ea typeface="Calibri" panose="020F0502020204030204" pitchFamily="34" charset="0"/>
                <a:cs typeface="Times New Roman" panose="02020603050405020304" pitchFamily="18" charset="0"/>
              </a:rPr>
              <a:t>driver.get</a:t>
            </a:r>
            <a:r>
              <a:rPr lang="en-US" b="1" dirty="0">
                <a:latin typeface="Calibri" panose="020F0502020204030204" pitchFamily="34" charset="0"/>
                <a:ea typeface="Calibri" panose="020F0502020204030204" pitchFamily="34" charset="0"/>
                <a:cs typeface="Times New Roman" panose="02020603050405020304" pitchFamily="18" charset="0"/>
              </a:rPr>
              <a:t>("https://facebook.com/")     # open </a:t>
            </a:r>
            <a:r>
              <a:rPr lang="en-US" b="1" dirty="0" err="1">
                <a:latin typeface="Calibri" panose="020F0502020204030204" pitchFamily="34" charset="0"/>
                <a:ea typeface="Calibri" panose="020F0502020204030204" pitchFamily="34" charset="0"/>
                <a:cs typeface="Times New Roman" panose="02020603050405020304" pitchFamily="18" charset="0"/>
              </a:rPr>
              <a:t>url</a:t>
            </a:r>
            <a:r>
              <a:rPr lang="en-US" b="1" dirty="0">
                <a:latin typeface="Calibri" panose="020F0502020204030204" pitchFamily="34" charset="0"/>
                <a:ea typeface="Calibri" panose="020F0502020204030204" pitchFamily="34" charset="0"/>
                <a:cs typeface="Times New Roman" panose="02020603050405020304" pitchFamily="18" charset="0"/>
              </a:rPr>
              <a:t> or visit </a:t>
            </a:r>
            <a:r>
              <a:rPr lang="en-US" b="1" dirty="0" err="1">
                <a:latin typeface="Calibri" panose="020F0502020204030204" pitchFamily="34" charset="0"/>
                <a:ea typeface="Calibri" panose="020F0502020204030204" pitchFamily="34" charset="0"/>
                <a:cs typeface="Times New Roman" panose="02020603050405020304" pitchFamily="18" charset="0"/>
              </a:rPr>
              <a:t>url</a:t>
            </a:r>
            <a:endParaRPr lang="en-US" b="1"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Capturing title of page </a:t>
            </a:r>
          </a:p>
          <a:p>
            <a:pPr lvl="1"/>
            <a:r>
              <a:rPr lang="en-US" dirty="0">
                <a:latin typeface="Calibri" panose="020F0502020204030204" pitchFamily="34" charset="0"/>
                <a:ea typeface="Calibri" panose="020F0502020204030204" pitchFamily="34" charset="0"/>
                <a:cs typeface="Times New Roman" panose="02020603050405020304" pitchFamily="18" charset="0"/>
              </a:rPr>
              <a:t>	</a:t>
            </a:r>
            <a:r>
              <a:rPr lang="en-US" b="1" dirty="0" err="1" smtClean="0">
                <a:latin typeface="Calibri" panose="020F0502020204030204" pitchFamily="34" charset="0"/>
                <a:ea typeface="Calibri" panose="020F0502020204030204" pitchFamily="34" charset="0"/>
                <a:cs typeface="Times New Roman" panose="02020603050405020304" pitchFamily="18" charset="0"/>
              </a:rPr>
              <a:t>driver.title</a:t>
            </a:r>
            <a:endParaRPr lang="en-US" b="1" dirty="0">
              <a:latin typeface="Calibri" panose="020F0502020204030204" pitchFamily="34" charset="0"/>
              <a:ea typeface="Calibri" panose="020F0502020204030204" pitchFamily="34" charset="0"/>
              <a:cs typeface="Times New Roman" panose="02020603050405020304" pitchFamily="18" charset="0"/>
            </a:endParaRPr>
          </a:p>
          <a:p>
            <a:pPr lvl="1"/>
            <a:endParaRPr lang="en-US" b="1"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Capture </a:t>
            </a:r>
            <a:r>
              <a:rPr lang="en-US" dirty="0" err="1">
                <a:latin typeface="Calibri" panose="020F0502020204030204" pitchFamily="34" charset="0"/>
                <a:ea typeface="Calibri" panose="020F0502020204030204" pitchFamily="34" charset="0"/>
                <a:cs typeface="Times New Roman" panose="02020603050405020304" pitchFamily="18" charset="0"/>
              </a:rPr>
              <a:t>Url</a:t>
            </a:r>
            <a:r>
              <a:rPr lang="en-US" dirty="0">
                <a:latin typeface="Calibri" panose="020F0502020204030204" pitchFamily="34" charset="0"/>
                <a:ea typeface="Calibri" panose="020F0502020204030204" pitchFamily="34" charset="0"/>
                <a:cs typeface="Times New Roman" panose="02020603050405020304" pitchFamily="18" charset="0"/>
              </a:rPr>
              <a:t> of </a:t>
            </a:r>
            <a:r>
              <a:rPr lang="en-US" dirty="0" smtClean="0">
                <a:latin typeface="Calibri" panose="020F0502020204030204" pitchFamily="34" charset="0"/>
                <a:ea typeface="Calibri" panose="020F0502020204030204" pitchFamily="34" charset="0"/>
                <a:cs typeface="Times New Roman" panose="02020603050405020304" pitchFamily="18" charset="0"/>
              </a:rPr>
              <a:t>page</a:t>
            </a:r>
          </a:p>
          <a:p>
            <a:pPr lvl="1"/>
            <a:r>
              <a:rPr lang="en-US" b="1" dirty="0" err="1" smtClean="0">
                <a:latin typeface="Calibri" panose="020F0502020204030204" pitchFamily="34" charset="0"/>
                <a:ea typeface="Calibri" panose="020F0502020204030204" pitchFamily="34" charset="0"/>
                <a:cs typeface="Times New Roman" panose="02020603050405020304" pitchFamily="18" charset="0"/>
              </a:rPr>
              <a:t>driver.current_url</a:t>
            </a:r>
            <a:endParaRPr lang="en-US" b="1" dirty="0">
              <a:latin typeface="Calibri" panose="020F0502020204030204" pitchFamily="34" charset="0"/>
              <a:ea typeface="Calibri" panose="020F0502020204030204" pitchFamily="34" charset="0"/>
              <a:cs typeface="Times New Roman" panose="02020603050405020304" pitchFamily="18" charset="0"/>
            </a:endParaRPr>
          </a:p>
          <a:p>
            <a:pPr lvl="1"/>
            <a:endParaRPr lang="en-US"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Closing and quitting browsers </a:t>
            </a:r>
            <a:endParaRPr lang="en-US" dirty="0" smtClean="0">
              <a:latin typeface="Calibri" panose="020F0502020204030204" pitchFamily="34" charset="0"/>
              <a:ea typeface="Calibri" panose="020F0502020204030204" pitchFamily="34" charset="0"/>
              <a:cs typeface="Times New Roman" panose="02020603050405020304" pitchFamily="18" charset="0"/>
            </a:endParaRPr>
          </a:p>
          <a:p>
            <a:pPr lvl="0"/>
            <a:endParaRPr lang="en-US" dirty="0" smtClean="0">
              <a:latin typeface="Calibri" panose="020F0502020204030204" pitchFamily="34" charset="0"/>
              <a:ea typeface="Calibri" panose="020F0502020204030204" pitchFamily="34" charset="0"/>
              <a:cs typeface="Times New Roman" panose="02020603050405020304" pitchFamily="18" charset="0"/>
            </a:endParaRPr>
          </a:p>
          <a:p>
            <a:r>
              <a:rPr lang="en-US" dirty="0" smtClean="0">
                <a:latin typeface="Calibri" panose="020F0502020204030204" pitchFamily="34" charset="0"/>
                <a:ea typeface="Calibri" panose="020F0502020204030204" pitchFamily="34" charset="0"/>
                <a:cs typeface="Times New Roman" panose="02020603050405020304" pitchFamily="18" charset="0"/>
              </a:rPr>
              <a:t>	</a:t>
            </a:r>
            <a:r>
              <a:rPr lang="en-US" b="1" dirty="0" err="1" smtClean="0">
                <a:latin typeface="Calibri" panose="020F0502020204030204" pitchFamily="34" charset="0"/>
                <a:ea typeface="Calibri" panose="020F0502020204030204" pitchFamily="34" charset="0"/>
                <a:cs typeface="Times New Roman" panose="02020603050405020304" pitchFamily="18" charset="0"/>
              </a:rPr>
              <a:t>driver.close</a:t>
            </a:r>
            <a:r>
              <a:rPr lang="en-US" b="1" dirty="0" smtClean="0">
                <a:latin typeface="Calibri" panose="020F0502020204030204" pitchFamily="34" charset="0"/>
                <a:ea typeface="Calibri" panose="020F0502020204030204" pitchFamily="34" charset="0"/>
                <a:cs typeface="Times New Roman" panose="02020603050405020304" pitchFamily="18" charset="0"/>
              </a:rPr>
              <a:t>()   # close currently focused browser</a:t>
            </a:r>
          </a:p>
          <a:p>
            <a:r>
              <a:rPr lang="en-US" b="1" dirty="0">
                <a:latin typeface="Calibri" panose="020F0502020204030204" pitchFamily="34" charset="0"/>
                <a:ea typeface="Calibri" panose="020F0502020204030204" pitchFamily="34" charset="0"/>
                <a:cs typeface="Times New Roman" panose="02020603050405020304" pitchFamily="18" charset="0"/>
              </a:rPr>
              <a:t>	</a:t>
            </a:r>
            <a:r>
              <a:rPr lang="en-US" b="1" dirty="0" err="1" smtClean="0">
                <a:latin typeface="Calibri" panose="020F0502020204030204" pitchFamily="34" charset="0"/>
                <a:ea typeface="Calibri" panose="020F0502020204030204" pitchFamily="34" charset="0"/>
                <a:cs typeface="Times New Roman" panose="02020603050405020304" pitchFamily="18" charset="0"/>
              </a:rPr>
              <a:t>driver.quit</a:t>
            </a:r>
            <a:r>
              <a:rPr lang="en-US" b="1" dirty="0" smtClean="0">
                <a:latin typeface="Calibri" panose="020F0502020204030204" pitchFamily="34" charset="0"/>
                <a:ea typeface="Calibri" panose="020F0502020204030204" pitchFamily="34" charset="0"/>
                <a:cs typeface="Times New Roman" panose="02020603050405020304" pitchFamily="18" charset="0"/>
              </a:rPr>
              <a:t>()   #close all </a:t>
            </a:r>
            <a:r>
              <a:rPr lang="en-US" b="1" dirty="0" err="1" smtClean="0">
                <a:latin typeface="Calibri" panose="020F0502020204030204" pitchFamily="34" charset="0"/>
                <a:ea typeface="Calibri" panose="020F0502020204030204" pitchFamily="34" charset="0"/>
                <a:cs typeface="Times New Roman" panose="02020603050405020304" pitchFamily="18" charset="0"/>
              </a:rPr>
              <a:t>browers</a:t>
            </a:r>
            <a:r>
              <a:rPr lang="en-US" dirty="0" smtClean="0">
                <a:latin typeface="Calibri" panose="020F0502020204030204" pitchFamily="34" charset="0"/>
                <a:ea typeface="Calibri" panose="020F0502020204030204" pitchFamily="34" charset="0"/>
                <a:cs typeface="Times New Roman" panose="02020603050405020304" pitchFamily="18" charset="0"/>
              </a:rPr>
              <a:t> opened by script	</a:t>
            </a:r>
            <a:endParaRPr lang="en-US" dirty="0">
              <a:latin typeface="Calibri" panose="020F0502020204030204" pitchFamily="34" charset="0"/>
              <a:ea typeface="Calibri" panose="020F0502020204030204" pitchFamily="34" charset="0"/>
              <a:cs typeface="Times New Roman" panose="02020603050405020304" pitchFamily="18" charset="0"/>
            </a:endParaRPr>
          </a:p>
          <a:p>
            <a:pPr lvl="0"/>
            <a:endParaRPr lang="en-US" dirty="0" smtClean="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p:cNvSpPr txBox="1"/>
          <p:nvPr/>
        </p:nvSpPr>
        <p:spPr>
          <a:xfrm>
            <a:off x="1762125" y="904875"/>
            <a:ext cx="3663182" cy="584775"/>
          </a:xfrm>
          <a:prstGeom prst="rect">
            <a:avLst/>
          </a:prstGeom>
          <a:noFill/>
        </p:spPr>
        <p:txBody>
          <a:bodyPr wrap="none" rtlCol="0">
            <a:spAutoFit/>
          </a:bodyPr>
          <a:lstStyle/>
          <a:p>
            <a:r>
              <a:rPr lang="en-US" sz="3200" dirty="0">
                <a:solidFill>
                  <a:schemeClr val="bg1"/>
                </a:solidFill>
              </a:rPr>
              <a:t>Basic Commands</a:t>
            </a:r>
          </a:p>
        </p:txBody>
      </p:sp>
    </p:spTree>
    <p:extLst>
      <p:ext uri="{BB962C8B-B14F-4D97-AF65-F5344CB8AC3E}">
        <p14:creationId xmlns:p14="http://schemas.microsoft.com/office/powerpoint/2010/main" val="125480623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16712" y="2382606"/>
            <a:ext cx="9993084" cy="2585323"/>
          </a:xfrm>
          <a:prstGeom prst="rect">
            <a:avLst/>
          </a:prstGeom>
        </p:spPr>
        <p:txBody>
          <a:bodyPr wrap="square">
            <a:spAutoFit/>
          </a:bodyPr>
          <a:lstStyle/>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visit previous </a:t>
            </a:r>
            <a:r>
              <a:rPr lang="en-US" dirty="0" err="1">
                <a:latin typeface="Calibri" panose="020F0502020204030204" pitchFamily="34" charset="0"/>
                <a:ea typeface="Calibri" panose="020F0502020204030204" pitchFamily="34" charset="0"/>
                <a:cs typeface="Times New Roman" panose="02020603050405020304" pitchFamily="18" charset="0"/>
              </a:rPr>
              <a:t>url</a:t>
            </a:r>
            <a:r>
              <a:rPr lang="en-US" dirty="0">
                <a:latin typeface="Calibri" panose="020F0502020204030204" pitchFamily="34" charset="0"/>
                <a:ea typeface="Calibri" panose="020F0502020204030204" pitchFamily="34" charset="0"/>
                <a:cs typeface="Times New Roman" panose="02020603050405020304" pitchFamily="18" charset="0"/>
              </a:rPr>
              <a:t> OR Back button on browser</a:t>
            </a:r>
          </a:p>
          <a:p>
            <a:pPr lvl="0"/>
            <a:r>
              <a:rPr lang="en-US" b="1" dirty="0" smtClean="0">
                <a:latin typeface="Calibri" panose="020F0502020204030204" pitchFamily="34" charset="0"/>
                <a:ea typeface="Calibri" panose="020F0502020204030204" pitchFamily="34" charset="0"/>
                <a:cs typeface="Times New Roman" panose="02020603050405020304" pitchFamily="18" charset="0"/>
              </a:rPr>
              <a:t>		</a:t>
            </a:r>
            <a:r>
              <a:rPr lang="en-US" b="1" dirty="0" err="1" smtClean="0">
                <a:latin typeface="Calibri" panose="020F0502020204030204" pitchFamily="34" charset="0"/>
                <a:ea typeface="Calibri" panose="020F0502020204030204" pitchFamily="34" charset="0"/>
                <a:cs typeface="Times New Roman" panose="02020603050405020304" pitchFamily="18" charset="0"/>
              </a:rPr>
              <a:t>driver.back</a:t>
            </a:r>
            <a:r>
              <a:rPr lang="en-US" b="1" dirty="0" smtClean="0">
                <a:latin typeface="Calibri" panose="020F0502020204030204" pitchFamily="34" charset="0"/>
                <a:ea typeface="Calibri" panose="020F0502020204030204" pitchFamily="34" charset="0"/>
                <a:cs typeface="Times New Roman" panose="02020603050405020304" pitchFamily="18" charset="0"/>
              </a:rPr>
              <a:t>()    # visit previous </a:t>
            </a:r>
            <a:r>
              <a:rPr lang="en-US" b="1" dirty="0" err="1" smtClean="0">
                <a:latin typeface="Calibri" panose="020F0502020204030204" pitchFamily="34" charset="0"/>
                <a:ea typeface="Calibri" panose="020F0502020204030204" pitchFamily="34" charset="0"/>
                <a:cs typeface="Times New Roman" panose="02020603050405020304" pitchFamily="18" charset="0"/>
              </a:rPr>
              <a:t>url</a:t>
            </a:r>
            <a:endParaRPr lang="en-US" b="1"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r>
              <a:rPr lang="en-US" dirty="0" smtClean="0">
                <a:latin typeface="Calibri" panose="020F0502020204030204" pitchFamily="34" charset="0"/>
                <a:ea typeface="Calibri" panose="020F0502020204030204" pitchFamily="34" charset="0"/>
                <a:cs typeface="Times New Roman" panose="02020603050405020304" pitchFamily="18" charset="0"/>
              </a:rPr>
              <a:t>Forward button on browser</a:t>
            </a:r>
            <a:endParaRPr lang="en-US" dirty="0">
              <a:latin typeface="Calibri" panose="020F0502020204030204" pitchFamily="34" charset="0"/>
              <a:ea typeface="Calibri" panose="020F0502020204030204" pitchFamily="34" charset="0"/>
              <a:cs typeface="Times New Roman" panose="02020603050405020304" pitchFamily="18" charset="0"/>
            </a:endParaRPr>
          </a:p>
          <a:p>
            <a:pPr lvl="1"/>
            <a:r>
              <a:rPr lang="en-US" dirty="0">
                <a:latin typeface="Calibri" panose="020F0502020204030204" pitchFamily="34" charset="0"/>
                <a:ea typeface="Calibri" panose="020F0502020204030204" pitchFamily="34" charset="0"/>
                <a:cs typeface="Times New Roman" panose="02020603050405020304" pitchFamily="18" charset="0"/>
              </a:rPr>
              <a:t>	</a:t>
            </a:r>
            <a:r>
              <a:rPr lang="en-US" b="1" dirty="0" err="1" smtClean="0">
                <a:latin typeface="Calibri" panose="020F0502020204030204" pitchFamily="34" charset="0"/>
                <a:ea typeface="Calibri" panose="020F0502020204030204" pitchFamily="34" charset="0"/>
                <a:cs typeface="Times New Roman" panose="02020603050405020304" pitchFamily="18" charset="0"/>
              </a:rPr>
              <a:t>driver.forward</a:t>
            </a:r>
            <a:r>
              <a:rPr lang="en-US" b="1" dirty="0" smtClean="0">
                <a:latin typeface="Calibri" panose="020F0502020204030204" pitchFamily="34" charset="0"/>
                <a:ea typeface="Calibri" panose="020F0502020204030204" pitchFamily="34" charset="0"/>
                <a:cs typeface="Times New Roman" panose="02020603050405020304" pitchFamily="18" charset="0"/>
              </a:rPr>
              <a:t>()</a:t>
            </a:r>
            <a:endParaRPr lang="en-US" b="1" dirty="0">
              <a:latin typeface="Calibri" panose="020F0502020204030204" pitchFamily="34" charset="0"/>
              <a:ea typeface="Calibri" panose="020F0502020204030204" pitchFamily="34" charset="0"/>
              <a:cs typeface="Times New Roman" panose="02020603050405020304" pitchFamily="18" charset="0"/>
            </a:endParaRPr>
          </a:p>
          <a:p>
            <a:pPr lvl="1"/>
            <a:endParaRPr lang="en-US" b="1" dirty="0">
              <a:latin typeface="Calibri" panose="020F0502020204030204" pitchFamily="34" charset="0"/>
              <a:ea typeface="Calibri" panose="020F0502020204030204" pitchFamily="34" charset="0"/>
              <a:cs typeface="Times New Roman" panose="02020603050405020304" pitchFamily="18" charset="0"/>
            </a:endParaRPr>
          </a:p>
          <a:p>
            <a:pPr lvl="0"/>
            <a:endParaRPr lang="en-US" dirty="0" smtClean="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p:cNvSpPr txBox="1"/>
          <p:nvPr/>
        </p:nvSpPr>
        <p:spPr>
          <a:xfrm>
            <a:off x="1762125" y="904875"/>
            <a:ext cx="4830168" cy="584775"/>
          </a:xfrm>
          <a:prstGeom prst="rect">
            <a:avLst/>
          </a:prstGeom>
          <a:noFill/>
        </p:spPr>
        <p:txBody>
          <a:bodyPr wrap="none" rtlCol="0">
            <a:spAutoFit/>
          </a:bodyPr>
          <a:lstStyle/>
          <a:p>
            <a:r>
              <a:rPr lang="en-US" sz="3200" dirty="0" smtClean="0">
                <a:solidFill>
                  <a:schemeClr val="bg1"/>
                </a:solidFill>
              </a:rPr>
              <a:t>Navigation </a:t>
            </a:r>
            <a:r>
              <a:rPr lang="en-US" sz="3200" dirty="0">
                <a:solidFill>
                  <a:schemeClr val="bg1"/>
                </a:solidFill>
              </a:rPr>
              <a:t>Commands</a:t>
            </a:r>
          </a:p>
        </p:txBody>
      </p:sp>
    </p:spTree>
    <p:extLst>
      <p:ext uri="{BB962C8B-B14F-4D97-AF65-F5344CB8AC3E}">
        <p14:creationId xmlns:p14="http://schemas.microsoft.com/office/powerpoint/2010/main" val="188633878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gradFill flip="none" rotWithShape="1">
          <a:gsLst>
            <a:gs pos="16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5" name="Rectangle 4"/>
          <p:cNvSpPr/>
          <p:nvPr/>
        </p:nvSpPr>
        <p:spPr>
          <a:xfrm>
            <a:off x="1116712" y="2382606"/>
            <a:ext cx="9993084" cy="4524315"/>
          </a:xfrm>
          <a:prstGeom prst="rect">
            <a:avLst/>
          </a:prstGeom>
        </p:spPr>
        <p:txBody>
          <a:bodyPr wrap="square">
            <a:spAutoFit/>
          </a:bodyPr>
          <a:lstStyle/>
          <a:p>
            <a:pPr marL="285750" lvl="0" indent="-285750">
              <a:buFont typeface="Arial" panose="020B0604020202020204" pitchFamily="34" charset="0"/>
              <a:buChar char="•"/>
            </a:pPr>
            <a:r>
              <a:rPr lang="en-US" dirty="0" smtClean="0">
                <a:latin typeface="Calibri" panose="020F0502020204030204" pitchFamily="34" charset="0"/>
                <a:ea typeface="Calibri" panose="020F0502020204030204" pitchFamily="34" charset="0"/>
                <a:cs typeface="Times New Roman" panose="02020603050405020304" pitchFamily="18" charset="0"/>
              </a:rPr>
              <a:t>Get/locate element by id </a:t>
            </a:r>
          </a:p>
          <a:p>
            <a:pPr lvl="1"/>
            <a:r>
              <a:rPr lang="en-US" b="1" dirty="0" err="1">
                <a:latin typeface="Calibri" panose="020F0502020204030204" pitchFamily="34" charset="0"/>
                <a:ea typeface="Calibri" panose="020F0502020204030204" pitchFamily="34" charset="0"/>
                <a:cs typeface="Times New Roman" panose="02020603050405020304" pitchFamily="18" charset="0"/>
              </a:rPr>
              <a:t>driver.find_element_by_id</a:t>
            </a:r>
            <a:r>
              <a:rPr lang="en-US" b="1" dirty="0">
                <a:latin typeface="Calibri" panose="020F0502020204030204" pitchFamily="34" charset="0"/>
                <a:ea typeface="Calibri" panose="020F0502020204030204" pitchFamily="34" charset="0"/>
                <a:cs typeface="Times New Roman" panose="02020603050405020304" pitchFamily="18" charset="0"/>
              </a:rPr>
              <a:t>("</a:t>
            </a:r>
            <a:r>
              <a:rPr lang="en-US" b="1" dirty="0" err="1">
                <a:latin typeface="Calibri" panose="020F0502020204030204" pitchFamily="34" charset="0"/>
                <a:ea typeface="Calibri" panose="020F0502020204030204" pitchFamily="34" charset="0"/>
                <a:cs typeface="Times New Roman" panose="02020603050405020304" pitchFamily="18" charset="0"/>
              </a:rPr>
              <a:t>txtUsername</a:t>
            </a:r>
            <a:r>
              <a:rPr lang="en-US" b="1" dirty="0" smtClean="0">
                <a:latin typeface="Calibri" panose="020F0502020204030204" pitchFamily="34" charset="0"/>
                <a:ea typeface="Calibri" panose="020F0502020204030204" pitchFamily="34" charset="0"/>
                <a:cs typeface="Times New Roman" panose="02020603050405020304" pitchFamily="18" charset="0"/>
              </a:rPr>
              <a:t>")</a:t>
            </a:r>
          </a:p>
          <a:p>
            <a:pPr lvl="1"/>
            <a:r>
              <a:rPr lang="en-US" dirty="0" smtClean="0">
                <a:latin typeface="Calibri" panose="020F0502020204030204" pitchFamily="34" charset="0"/>
                <a:ea typeface="Calibri" panose="020F0502020204030204" pitchFamily="34" charset="0"/>
                <a:cs typeface="Times New Roman" panose="02020603050405020304" pitchFamily="18" charset="0"/>
              </a:rPr>
              <a:t>OR</a:t>
            </a:r>
          </a:p>
          <a:p>
            <a:pPr lvl="1"/>
            <a:r>
              <a:rPr lang="en-US" b="1" dirty="0" err="1" smtClean="0">
                <a:latin typeface="Calibri" panose="020F0502020204030204" pitchFamily="34" charset="0"/>
                <a:ea typeface="Calibri" panose="020F0502020204030204" pitchFamily="34" charset="0"/>
                <a:cs typeface="Times New Roman" panose="02020603050405020304" pitchFamily="18" charset="0"/>
              </a:rPr>
              <a:t>driver.find_element</a:t>
            </a:r>
            <a:r>
              <a:rPr lang="en-US" b="1" dirty="0" smtClean="0">
                <a:latin typeface="Calibri" panose="020F0502020204030204" pitchFamily="34" charset="0"/>
                <a:ea typeface="Calibri" panose="020F0502020204030204" pitchFamily="34" charset="0"/>
                <a:cs typeface="Times New Roman" panose="02020603050405020304" pitchFamily="18" charset="0"/>
              </a:rPr>
              <a:t>(By.ID, “</a:t>
            </a:r>
            <a:r>
              <a:rPr lang="en-US" b="1" dirty="0" err="1" smtClean="0">
                <a:latin typeface="Calibri" panose="020F0502020204030204" pitchFamily="34" charset="0"/>
                <a:ea typeface="Calibri" panose="020F0502020204030204" pitchFamily="34" charset="0"/>
                <a:cs typeface="Times New Roman" panose="02020603050405020304" pitchFamily="18" charset="0"/>
              </a:rPr>
              <a:t>txtUsername</a:t>
            </a:r>
            <a:r>
              <a:rPr lang="en-US" b="1" dirty="0" smtClean="0">
                <a:latin typeface="Calibri" panose="020F0502020204030204" pitchFamily="34" charset="0"/>
                <a:ea typeface="Calibri" panose="020F0502020204030204" pitchFamily="34" charset="0"/>
                <a:cs typeface="Times New Roman" panose="02020603050405020304" pitchFamily="18" charset="0"/>
              </a:rPr>
              <a:t>")</a:t>
            </a:r>
            <a:endParaRPr lang="en-US" b="1" dirty="0">
              <a:latin typeface="Calibri" panose="020F0502020204030204" pitchFamily="34" charset="0"/>
              <a:ea typeface="Calibri" panose="020F0502020204030204" pitchFamily="34" charset="0"/>
              <a:cs typeface="Times New Roman" panose="02020603050405020304" pitchFamily="18" charset="0"/>
            </a:endParaRPr>
          </a:p>
          <a:p>
            <a:pPr lvl="1"/>
            <a:endParaRPr lang="en-US" b="1"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Get/locate element by </a:t>
            </a:r>
            <a:r>
              <a:rPr lang="en-US" dirty="0" smtClean="0">
                <a:latin typeface="Calibri" panose="020F0502020204030204" pitchFamily="34" charset="0"/>
                <a:ea typeface="Calibri" panose="020F0502020204030204" pitchFamily="34" charset="0"/>
                <a:cs typeface="Times New Roman" panose="02020603050405020304" pitchFamily="18" charset="0"/>
              </a:rPr>
              <a:t>name </a:t>
            </a:r>
            <a:endParaRPr lang="en-US" dirty="0">
              <a:latin typeface="Calibri" panose="020F0502020204030204" pitchFamily="34" charset="0"/>
              <a:ea typeface="Calibri" panose="020F0502020204030204" pitchFamily="34" charset="0"/>
              <a:cs typeface="Times New Roman" panose="02020603050405020304" pitchFamily="18" charset="0"/>
            </a:endParaRPr>
          </a:p>
          <a:p>
            <a:pPr lvl="1"/>
            <a:r>
              <a:rPr lang="en-US" b="1" dirty="0" err="1" smtClean="0">
                <a:latin typeface="Calibri" panose="020F0502020204030204" pitchFamily="34" charset="0"/>
                <a:ea typeface="Calibri" panose="020F0502020204030204" pitchFamily="34" charset="0"/>
                <a:cs typeface="Times New Roman" panose="02020603050405020304" pitchFamily="18" charset="0"/>
              </a:rPr>
              <a:t>driver.find_element_by_name</a:t>
            </a:r>
            <a:r>
              <a:rPr lang="en-US" b="1" dirty="0" smtClean="0">
                <a:latin typeface="Calibri" panose="020F0502020204030204" pitchFamily="34" charset="0"/>
                <a:ea typeface="Calibri" panose="020F0502020204030204" pitchFamily="34" charset="0"/>
                <a:cs typeface="Times New Roman" panose="02020603050405020304" pitchFamily="18" charset="0"/>
              </a:rPr>
              <a:t>("</a:t>
            </a:r>
            <a:r>
              <a:rPr lang="en-US" b="1" dirty="0" err="1">
                <a:latin typeface="Calibri" panose="020F0502020204030204" pitchFamily="34" charset="0"/>
                <a:ea typeface="Calibri" panose="020F0502020204030204" pitchFamily="34" charset="0"/>
                <a:cs typeface="Times New Roman" panose="02020603050405020304" pitchFamily="18" charset="0"/>
              </a:rPr>
              <a:t>txtUsername</a:t>
            </a:r>
            <a:r>
              <a:rPr lang="en-US" b="1" dirty="0">
                <a:latin typeface="Calibri" panose="020F0502020204030204" pitchFamily="34" charset="0"/>
                <a:ea typeface="Calibri" panose="020F0502020204030204" pitchFamily="34" charset="0"/>
                <a:cs typeface="Times New Roman" panose="02020603050405020304" pitchFamily="18" charset="0"/>
              </a:rPr>
              <a:t>")</a:t>
            </a:r>
          </a:p>
          <a:p>
            <a:pPr lvl="1"/>
            <a:r>
              <a:rPr lang="en-US" dirty="0">
                <a:latin typeface="Calibri" panose="020F0502020204030204" pitchFamily="34" charset="0"/>
                <a:ea typeface="Calibri" panose="020F0502020204030204" pitchFamily="34" charset="0"/>
                <a:cs typeface="Times New Roman" panose="02020603050405020304" pitchFamily="18" charset="0"/>
              </a:rPr>
              <a:t>OR</a:t>
            </a:r>
          </a:p>
          <a:p>
            <a:pPr lvl="1"/>
            <a:r>
              <a:rPr lang="en-US" b="1" dirty="0" err="1" smtClean="0">
                <a:latin typeface="Calibri" panose="020F0502020204030204" pitchFamily="34" charset="0"/>
                <a:ea typeface="Calibri" panose="020F0502020204030204" pitchFamily="34" charset="0"/>
                <a:cs typeface="Times New Roman" panose="02020603050405020304" pitchFamily="18" charset="0"/>
              </a:rPr>
              <a:t>driver.find_element</a:t>
            </a:r>
            <a:r>
              <a:rPr lang="en-US" b="1" dirty="0" smtClean="0">
                <a:latin typeface="Calibri" panose="020F0502020204030204" pitchFamily="34" charset="0"/>
                <a:ea typeface="Calibri" panose="020F0502020204030204" pitchFamily="34" charset="0"/>
                <a:cs typeface="Times New Roman" panose="02020603050405020304" pitchFamily="18" charset="0"/>
              </a:rPr>
              <a:t>(By.NAME, </a:t>
            </a:r>
            <a:r>
              <a:rPr lang="en-US" b="1" dirty="0">
                <a:latin typeface="Calibri" panose="020F0502020204030204" pitchFamily="34" charset="0"/>
                <a:ea typeface="Calibri" panose="020F0502020204030204" pitchFamily="34" charset="0"/>
                <a:cs typeface="Times New Roman" panose="02020603050405020304" pitchFamily="18" charset="0"/>
              </a:rPr>
              <a:t>“</a:t>
            </a:r>
            <a:r>
              <a:rPr lang="en-US" b="1" dirty="0" err="1">
                <a:latin typeface="Calibri" panose="020F0502020204030204" pitchFamily="34" charset="0"/>
                <a:ea typeface="Calibri" panose="020F0502020204030204" pitchFamily="34" charset="0"/>
                <a:cs typeface="Times New Roman" panose="02020603050405020304" pitchFamily="18" charset="0"/>
              </a:rPr>
              <a:t>txtUsername</a:t>
            </a:r>
            <a:r>
              <a:rPr lang="en-US" b="1" dirty="0">
                <a:latin typeface="Calibri" panose="020F0502020204030204" pitchFamily="34" charset="0"/>
                <a:ea typeface="Calibri" panose="020F0502020204030204" pitchFamily="34" charset="0"/>
                <a:cs typeface="Times New Roman" panose="02020603050405020304" pitchFamily="18" charset="0"/>
              </a:rPr>
              <a:t>")</a:t>
            </a:r>
          </a:p>
          <a:p>
            <a:pPr lvl="0"/>
            <a:endParaRPr lang="en-US" dirty="0" smtClean="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Get/locate element by </a:t>
            </a:r>
            <a:r>
              <a:rPr lang="en-US" dirty="0" smtClean="0">
                <a:latin typeface="Calibri" panose="020F0502020204030204" pitchFamily="34" charset="0"/>
                <a:ea typeface="Calibri" panose="020F0502020204030204" pitchFamily="34" charset="0"/>
                <a:cs typeface="Times New Roman" panose="02020603050405020304" pitchFamily="18" charset="0"/>
              </a:rPr>
              <a:t>class name </a:t>
            </a:r>
            <a:endParaRPr lang="en-US" dirty="0">
              <a:latin typeface="Calibri" panose="020F0502020204030204" pitchFamily="34" charset="0"/>
              <a:ea typeface="Calibri" panose="020F0502020204030204" pitchFamily="34" charset="0"/>
              <a:cs typeface="Times New Roman" panose="02020603050405020304" pitchFamily="18" charset="0"/>
            </a:endParaRPr>
          </a:p>
          <a:p>
            <a:pPr lvl="1"/>
            <a:r>
              <a:rPr lang="en-US" b="1" dirty="0" err="1" smtClean="0">
                <a:latin typeface="Calibri" panose="020F0502020204030204" pitchFamily="34" charset="0"/>
                <a:ea typeface="Calibri" panose="020F0502020204030204" pitchFamily="34" charset="0"/>
                <a:cs typeface="Times New Roman" panose="02020603050405020304" pitchFamily="18" charset="0"/>
              </a:rPr>
              <a:t>driver.find_element_by_className</a:t>
            </a:r>
            <a:r>
              <a:rPr lang="en-US" b="1" dirty="0" smtClean="0">
                <a:latin typeface="Calibri" panose="020F0502020204030204" pitchFamily="34" charset="0"/>
                <a:ea typeface="Calibri" panose="020F0502020204030204" pitchFamily="34" charset="0"/>
                <a:cs typeface="Times New Roman" panose="02020603050405020304" pitchFamily="18" charset="0"/>
              </a:rPr>
              <a:t>("</a:t>
            </a:r>
            <a:r>
              <a:rPr lang="en-US" b="1" dirty="0" err="1">
                <a:latin typeface="Calibri" panose="020F0502020204030204" pitchFamily="34" charset="0"/>
                <a:ea typeface="Calibri" panose="020F0502020204030204" pitchFamily="34" charset="0"/>
                <a:cs typeface="Times New Roman" panose="02020603050405020304" pitchFamily="18" charset="0"/>
              </a:rPr>
              <a:t>txtUsername</a:t>
            </a:r>
            <a:r>
              <a:rPr lang="en-US" b="1" dirty="0">
                <a:latin typeface="Calibri" panose="020F0502020204030204" pitchFamily="34" charset="0"/>
                <a:ea typeface="Calibri" panose="020F0502020204030204" pitchFamily="34" charset="0"/>
                <a:cs typeface="Times New Roman" panose="02020603050405020304" pitchFamily="18" charset="0"/>
              </a:rPr>
              <a:t>")</a:t>
            </a:r>
          </a:p>
          <a:p>
            <a:pPr lvl="1"/>
            <a:r>
              <a:rPr lang="en-US" dirty="0">
                <a:latin typeface="Calibri" panose="020F0502020204030204" pitchFamily="34" charset="0"/>
                <a:ea typeface="Calibri" panose="020F0502020204030204" pitchFamily="34" charset="0"/>
                <a:cs typeface="Times New Roman" panose="02020603050405020304" pitchFamily="18" charset="0"/>
              </a:rPr>
              <a:t>OR</a:t>
            </a:r>
          </a:p>
          <a:p>
            <a:pPr lvl="1"/>
            <a:r>
              <a:rPr lang="en-US" b="1" dirty="0" err="1">
                <a:latin typeface="Calibri" panose="020F0502020204030204" pitchFamily="34" charset="0"/>
                <a:ea typeface="Calibri" panose="020F0502020204030204" pitchFamily="34" charset="0"/>
                <a:cs typeface="Times New Roman" panose="02020603050405020304" pitchFamily="18" charset="0"/>
              </a:rPr>
              <a:t>driver.find_element</a:t>
            </a:r>
            <a:r>
              <a:rPr lang="en-US" b="1" dirty="0">
                <a:latin typeface="Calibri" panose="020F0502020204030204" pitchFamily="34" charset="0"/>
                <a:ea typeface="Calibri" panose="020F0502020204030204" pitchFamily="34" charset="0"/>
                <a:cs typeface="Times New Roman" panose="02020603050405020304" pitchFamily="18" charset="0"/>
              </a:rPr>
              <a:t>(By.ID, “</a:t>
            </a:r>
            <a:r>
              <a:rPr lang="en-US" b="1" dirty="0" err="1">
                <a:latin typeface="Calibri" panose="020F0502020204030204" pitchFamily="34" charset="0"/>
                <a:ea typeface="Calibri" panose="020F0502020204030204" pitchFamily="34" charset="0"/>
                <a:cs typeface="Times New Roman" panose="02020603050405020304" pitchFamily="18" charset="0"/>
              </a:rPr>
              <a:t>txtUsername</a:t>
            </a:r>
            <a:r>
              <a:rPr lang="en-US" b="1" dirty="0">
                <a:latin typeface="Calibri" panose="020F0502020204030204" pitchFamily="34" charset="0"/>
                <a:ea typeface="Calibri" panose="020F0502020204030204" pitchFamily="34" charset="0"/>
                <a:cs typeface="Times New Roman" panose="02020603050405020304" pitchFamily="18" charset="0"/>
              </a:rPr>
              <a:t>")</a:t>
            </a:r>
          </a:p>
          <a:p>
            <a:pPr marL="285750" lvl="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p:cNvSpPr txBox="1"/>
          <p:nvPr/>
        </p:nvSpPr>
        <p:spPr>
          <a:xfrm>
            <a:off x="1116712" y="933450"/>
            <a:ext cx="3554178" cy="584775"/>
          </a:xfrm>
          <a:prstGeom prst="rect">
            <a:avLst/>
          </a:prstGeom>
          <a:noFill/>
        </p:spPr>
        <p:txBody>
          <a:bodyPr wrap="none" rtlCol="0">
            <a:spAutoFit/>
          </a:bodyPr>
          <a:lstStyle/>
          <a:p>
            <a:r>
              <a:rPr lang="en-US" sz="3200" dirty="0" smtClean="0">
                <a:solidFill>
                  <a:schemeClr val="bg1"/>
                </a:solidFill>
              </a:rPr>
              <a:t>Element Locater</a:t>
            </a:r>
            <a:endParaRPr lang="en-US" sz="3200" dirty="0">
              <a:solidFill>
                <a:schemeClr val="bg1"/>
              </a:solidFill>
            </a:endParaRPr>
          </a:p>
        </p:txBody>
      </p:sp>
    </p:spTree>
    <p:extLst>
      <p:ext uri="{BB962C8B-B14F-4D97-AF65-F5344CB8AC3E}">
        <p14:creationId xmlns:p14="http://schemas.microsoft.com/office/powerpoint/2010/main" val="219144746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gradFill flip="none" rotWithShape="1">
          <a:gsLst>
            <a:gs pos="16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5" name="Rectangle 4"/>
          <p:cNvSpPr/>
          <p:nvPr/>
        </p:nvSpPr>
        <p:spPr>
          <a:xfrm>
            <a:off x="1116712" y="2382606"/>
            <a:ext cx="9993084" cy="2585323"/>
          </a:xfrm>
          <a:prstGeom prst="rect">
            <a:avLst/>
          </a:prstGeom>
        </p:spPr>
        <p:txBody>
          <a:bodyPr wrap="square">
            <a:spAutoFit/>
          </a:bodyPr>
          <a:lstStyle/>
          <a:p>
            <a:pPr marL="285750" lvl="0" indent="-285750">
              <a:buFont typeface="Arial" panose="020B0604020202020204" pitchFamily="34" charset="0"/>
              <a:buChar char="•"/>
            </a:pPr>
            <a:r>
              <a:rPr lang="en-US" dirty="0" smtClean="0">
                <a:latin typeface="Calibri" panose="020F0502020204030204" pitchFamily="34" charset="0"/>
                <a:ea typeface="Calibri" panose="020F0502020204030204" pitchFamily="34" charset="0"/>
                <a:cs typeface="Times New Roman" panose="02020603050405020304" pitchFamily="18" charset="0"/>
              </a:rPr>
              <a:t>Get/locate element by XPATH </a:t>
            </a:r>
          </a:p>
          <a:p>
            <a:pPr lvl="1"/>
            <a:r>
              <a:rPr lang="en-US" b="1" dirty="0" err="1" smtClean="0">
                <a:latin typeface="Calibri" panose="020F0502020204030204" pitchFamily="34" charset="0"/>
                <a:ea typeface="Calibri" panose="020F0502020204030204" pitchFamily="34" charset="0"/>
                <a:cs typeface="Times New Roman" panose="02020603050405020304" pitchFamily="18" charset="0"/>
              </a:rPr>
              <a:t>driver.find_element_by_xpath</a:t>
            </a:r>
            <a:r>
              <a:rPr lang="en-US" b="1" dirty="0">
                <a:latin typeface="Calibri" panose="020F0502020204030204" pitchFamily="34" charset="0"/>
                <a:ea typeface="Calibri" panose="020F0502020204030204" pitchFamily="34" charset="0"/>
                <a:cs typeface="Times New Roman" panose="02020603050405020304" pitchFamily="18" charset="0"/>
              </a:rPr>
              <a:t>("//*[@id='origin']/span/input")</a:t>
            </a:r>
            <a:endParaRPr lang="en-US" b="1" dirty="0" smtClean="0">
              <a:latin typeface="Calibri" panose="020F0502020204030204" pitchFamily="34" charset="0"/>
              <a:ea typeface="Calibri" panose="020F0502020204030204" pitchFamily="34" charset="0"/>
              <a:cs typeface="Times New Roman" panose="02020603050405020304" pitchFamily="18" charset="0"/>
            </a:endParaRPr>
          </a:p>
          <a:p>
            <a:pPr lvl="1"/>
            <a:r>
              <a:rPr lang="en-US" dirty="0" smtClean="0">
                <a:latin typeface="Calibri" panose="020F0502020204030204" pitchFamily="34" charset="0"/>
                <a:ea typeface="Calibri" panose="020F0502020204030204" pitchFamily="34" charset="0"/>
                <a:cs typeface="Times New Roman" panose="02020603050405020304" pitchFamily="18" charset="0"/>
              </a:rPr>
              <a:t>OR</a:t>
            </a:r>
          </a:p>
          <a:p>
            <a:pPr lvl="1"/>
            <a:r>
              <a:rPr lang="en-US" b="1" dirty="0" err="1" smtClean="0">
                <a:latin typeface="Calibri" panose="020F0502020204030204" pitchFamily="34" charset="0"/>
                <a:ea typeface="Calibri" panose="020F0502020204030204" pitchFamily="34" charset="0"/>
                <a:cs typeface="Times New Roman" panose="02020603050405020304" pitchFamily="18" charset="0"/>
              </a:rPr>
              <a:t>driver.find_element</a:t>
            </a:r>
            <a:r>
              <a:rPr lang="en-US" b="1" dirty="0" smtClean="0">
                <a:latin typeface="Calibri" panose="020F0502020204030204" pitchFamily="34" charset="0"/>
                <a:ea typeface="Calibri" panose="020F0502020204030204" pitchFamily="34" charset="0"/>
                <a:cs typeface="Times New Roman" panose="02020603050405020304" pitchFamily="18" charset="0"/>
              </a:rPr>
              <a:t>(</a:t>
            </a:r>
            <a:r>
              <a:rPr lang="en-US" b="1" dirty="0" err="1" smtClean="0">
                <a:latin typeface="Calibri" panose="020F0502020204030204" pitchFamily="34" charset="0"/>
                <a:ea typeface="Calibri" panose="020F0502020204030204" pitchFamily="34" charset="0"/>
                <a:cs typeface="Times New Roman" panose="02020603050405020304" pitchFamily="18" charset="0"/>
              </a:rPr>
              <a:t>By.XPATH</a:t>
            </a:r>
            <a:r>
              <a:rPr lang="en-US" b="1" dirty="0" smtClean="0">
                <a:latin typeface="Calibri" panose="020F0502020204030204" pitchFamily="34" charset="0"/>
                <a:ea typeface="Calibri" panose="020F0502020204030204" pitchFamily="34" charset="0"/>
                <a:cs typeface="Times New Roman" panose="02020603050405020304" pitchFamily="18" charset="0"/>
              </a:rPr>
              <a:t>, “</a:t>
            </a:r>
            <a:r>
              <a:rPr lang="en-US" b="1" dirty="0" err="1" smtClean="0">
                <a:latin typeface="Calibri" panose="020F0502020204030204" pitchFamily="34" charset="0"/>
                <a:ea typeface="Calibri" panose="020F0502020204030204" pitchFamily="34" charset="0"/>
                <a:cs typeface="Times New Roman" panose="02020603050405020304" pitchFamily="18" charset="0"/>
              </a:rPr>
              <a:t>txtUsername</a:t>
            </a:r>
            <a:r>
              <a:rPr lang="en-US" b="1" dirty="0" smtClean="0">
                <a:latin typeface="Calibri" panose="020F0502020204030204" pitchFamily="34" charset="0"/>
                <a:ea typeface="Calibri" panose="020F0502020204030204" pitchFamily="34" charset="0"/>
                <a:cs typeface="Times New Roman" panose="02020603050405020304" pitchFamily="18" charset="0"/>
              </a:rPr>
              <a:t>")</a:t>
            </a:r>
            <a:endParaRPr lang="en-US" b="1" dirty="0">
              <a:latin typeface="Calibri" panose="020F0502020204030204" pitchFamily="34" charset="0"/>
              <a:ea typeface="Calibri" panose="020F0502020204030204" pitchFamily="34" charset="0"/>
              <a:cs typeface="Times New Roman" panose="02020603050405020304" pitchFamily="18" charset="0"/>
            </a:endParaRPr>
          </a:p>
          <a:p>
            <a:pPr lvl="1"/>
            <a:endParaRPr lang="en-US" b="1"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r>
              <a:rPr lang="en-US" dirty="0" smtClean="0">
                <a:latin typeface="Calibri" panose="020F0502020204030204" pitchFamily="34" charset="0"/>
                <a:ea typeface="Calibri" panose="020F0502020204030204" pitchFamily="34" charset="0"/>
                <a:cs typeface="Times New Roman" panose="02020603050405020304" pitchFamily="18" charset="0"/>
              </a:rPr>
              <a:t>What is XPATH – </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XPath is the language used for locating nodes in an XML document</a:t>
            </a:r>
            <a:r>
              <a:rPr lang="en-US" dirty="0" smtClean="0">
                <a:latin typeface="Calibri" panose="020F0502020204030204" pitchFamily="34" charset="0"/>
                <a:ea typeface="Calibri" panose="020F0502020204030204" pitchFamily="34" charset="0"/>
                <a:cs typeface="Times New Roman" panose="02020603050405020304" pitchFamily="18" charset="0"/>
              </a:rPr>
              <a:t>.</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main reasons for using XPath is when you don’t have a suitable id or name attribute for the element you wish to locate.</a:t>
            </a:r>
          </a:p>
        </p:txBody>
      </p:sp>
      <p:sp>
        <p:nvSpPr>
          <p:cNvPr id="2" name="TextBox 1"/>
          <p:cNvSpPr txBox="1"/>
          <p:nvPr/>
        </p:nvSpPr>
        <p:spPr>
          <a:xfrm>
            <a:off x="1116712" y="933450"/>
            <a:ext cx="3554178" cy="584775"/>
          </a:xfrm>
          <a:prstGeom prst="rect">
            <a:avLst/>
          </a:prstGeom>
          <a:noFill/>
        </p:spPr>
        <p:txBody>
          <a:bodyPr wrap="none" rtlCol="0">
            <a:spAutoFit/>
          </a:bodyPr>
          <a:lstStyle/>
          <a:p>
            <a:r>
              <a:rPr lang="en-US" sz="3200" dirty="0" smtClean="0">
                <a:solidFill>
                  <a:schemeClr val="bg1"/>
                </a:solidFill>
              </a:rPr>
              <a:t>Element Locater</a:t>
            </a:r>
            <a:endParaRPr lang="en-US" sz="3200" dirty="0">
              <a:solidFill>
                <a:schemeClr val="bg1"/>
              </a:solidFill>
            </a:endParaRPr>
          </a:p>
        </p:txBody>
      </p:sp>
    </p:spTree>
    <p:extLst>
      <p:ext uri="{BB962C8B-B14F-4D97-AF65-F5344CB8AC3E}">
        <p14:creationId xmlns:p14="http://schemas.microsoft.com/office/powerpoint/2010/main" val="136371240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97662" y="2315931"/>
            <a:ext cx="9993084" cy="1477328"/>
          </a:xfrm>
          <a:prstGeom prst="rect">
            <a:avLst/>
          </a:prstGeom>
        </p:spPr>
        <p:txBody>
          <a:bodyPr wrap="square">
            <a:spAutoFit/>
          </a:bodyPr>
          <a:lstStyle/>
          <a:p>
            <a:pPr marL="285750" lvl="0" indent="-285750">
              <a:buFont typeface="Arial" panose="020B0604020202020204" pitchFamily="34" charset="0"/>
              <a:buChar char="•"/>
            </a:pPr>
            <a:r>
              <a:rPr lang="en-US" dirty="0" smtClean="0">
                <a:latin typeface="Calibri" panose="020F0502020204030204" pitchFamily="34" charset="0"/>
                <a:ea typeface="Calibri" panose="020F0502020204030204" pitchFamily="34" charset="0"/>
                <a:cs typeface="Times New Roman" panose="02020603050405020304" pitchFamily="18" charset="0"/>
              </a:rPr>
              <a:t>Read value </a:t>
            </a:r>
          </a:p>
          <a:p>
            <a:pPr lvl="0"/>
            <a:r>
              <a:rPr lang="en-US" dirty="0" smtClean="0">
                <a:latin typeface="Calibri" panose="020F0502020204030204" pitchFamily="34" charset="0"/>
                <a:ea typeface="Calibri" panose="020F0502020204030204" pitchFamily="34" charset="0"/>
                <a:cs typeface="Times New Roman" panose="02020603050405020304" pitchFamily="18" charset="0"/>
              </a:rPr>
              <a:t>			row </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driver.find_element_by_id</a:t>
            </a:r>
            <a:r>
              <a:rPr lang="en-US" dirty="0">
                <a:latin typeface="Calibri" panose="020F0502020204030204" pitchFamily="34" charset="0"/>
                <a:ea typeface="Calibri" panose="020F0502020204030204" pitchFamily="34" charset="0"/>
                <a:cs typeface="Times New Roman" panose="02020603050405020304" pitchFamily="18" charset="0"/>
              </a:rPr>
              <a:t>("myTextInput2").</a:t>
            </a:r>
            <a:r>
              <a:rPr lang="en-US" dirty="0" err="1">
                <a:latin typeface="Calibri" panose="020F0502020204030204" pitchFamily="34" charset="0"/>
                <a:ea typeface="Calibri" panose="020F0502020204030204" pitchFamily="34" charset="0"/>
                <a:cs typeface="Times New Roman" panose="02020603050405020304" pitchFamily="18" charset="0"/>
              </a:rPr>
              <a:t>get_attribute</a:t>
            </a:r>
            <a:r>
              <a:rPr lang="en-US" dirty="0">
                <a:latin typeface="Calibri" panose="020F0502020204030204" pitchFamily="34" charset="0"/>
                <a:ea typeface="Calibri" panose="020F0502020204030204" pitchFamily="34" charset="0"/>
                <a:cs typeface="Times New Roman" panose="02020603050405020304" pitchFamily="18" charset="0"/>
              </a:rPr>
              <a:t>("value</a:t>
            </a:r>
            <a:r>
              <a:rPr lang="en-US" dirty="0" smtClean="0">
                <a:latin typeface="Calibri" panose="020F0502020204030204" pitchFamily="34" charset="0"/>
                <a:ea typeface="Calibri" panose="020F0502020204030204" pitchFamily="34" charset="0"/>
                <a:cs typeface="Times New Roman" panose="02020603050405020304" pitchFamily="18" charset="0"/>
              </a:rPr>
              <a:t>")</a:t>
            </a:r>
          </a:p>
          <a:p>
            <a:pPr marL="285750" lvl="0" indent="-285750">
              <a:buFont typeface="Arial" panose="020B0604020202020204" pitchFamily="34" charset="0"/>
              <a:buChar char="•"/>
            </a:pPr>
            <a:r>
              <a:rPr lang="en-US" dirty="0" smtClean="0">
                <a:latin typeface="Calibri" panose="020F0502020204030204" pitchFamily="34" charset="0"/>
                <a:ea typeface="Calibri" panose="020F0502020204030204" pitchFamily="34" charset="0"/>
                <a:cs typeface="Times New Roman" panose="02020603050405020304" pitchFamily="18" charset="0"/>
              </a:rPr>
              <a:t>Clear value </a:t>
            </a:r>
          </a:p>
          <a:p>
            <a:pPr lvl="1"/>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smtClean="0">
                <a:latin typeface="Calibri" panose="020F0502020204030204" pitchFamily="34" charset="0"/>
                <a:ea typeface="Calibri" panose="020F0502020204030204" pitchFamily="34" charset="0"/>
                <a:cs typeface="Times New Roman" panose="02020603050405020304" pitchFamily="18" charset="0"/>
              </a:rPr>
              <a:t>	</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err="1">
                <a:latin typeface="Calibri" panose="020F0502020204030204" pitchFamily="34" charset="0"/>
                <a:ea typeface="Calibri" panose="020F0502020204030204" pitchFamily="34" charset="0"/>
                <a:cs typeface="Times New Roman" panose="02020603050405020304" pitchFamily="18" charset="0"/>
              </a:rPr>
              <a:t>driver.find_element_by_id</a:t>
            </a:r>
            <a:r>
              <a:rPr lang="en-US" dirty="0">
                <a:latin typeface="Calibri" panose="020F0502020204030204" pitchFamily="34" charset="0"/>
                <a:ea typeface="Calibri" panose="020F0502020204030204" pitchFamily="34" charset="0"/>
                <a:cs typeface="Times New Roman" panose="02020603050405020304" pitchFamily="18" charset="0"/>
              </a:rPr>
              <a:t>("myTextInput2</a:t>
            </a:r>
            <a:r>
              <a:rPr lang="en-US" dirty="0" smtClean="0">
                <a:latin typeface="Calibri" panose="020F0502020204030204" pitchFamily="34" charset="0"/>
                <a:ea typeface="Calibri" panose="020F0502020204030204" pitchFamily="34" charset="0"/>
                <a:cs typeface="Times New Roman" panose="02020603050405020304" pitchFamily="18" charset="0"/>
              </a:rPr>
              <a:t>").clear()</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p:cNvSpPr txBox="1"/>
          <p:nvPr/>
        </p:nvSpPr>
        <p:spPr>
          <a:xfrm>
            <a:off x="1762125" y="904875"/>
            <a:ext cx="5567550" cy="584775"/>
          </a:xfrm>
          <a:prstGeom prst="rect">
            <a:avLst/>
          </a:prstGeom>
          <a:noFill/>
        </p:spPr>
        <p:txBody>
          <a:bodyPr wrap="none" rtlCol="0">
            <a:spAutoFit/>
          </a:bodyPr>
          <a:lstStyle/>
          <a:p>
            <a:r>
              <a:rPr lang="en-US" sz="3200" dirty="0" smtClean="0">
                <a:solidFill>
                  <a:schemeClr val="bg1"/>
                </a:solidFill>
              </a:rPr>
              <a:t>Read value from input field</a:t>
            </a:r>
            <a:endParaRPr lang="en-US" sz="3200" dirty="0">
              <a:solidFill>
                <a:schemeClr val="bg1"/>
              </a:solidFill>
            </a:endParaRPr>
          </a:p>
        </p:txBody>
      </p:sp>
    </p:spTree>
    <p:extLst>
      <p:ext uri="{BB962C8B-B14F-4D97-AF65-F5344CB8AC3E}">
        <p14:creationId xmlns:p14="http://schemas.microsoft.com/office/powerpoint/2010/main" val="254583008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97662" y="2315931"/>
            <a:ext cx="9993084" cy="3693319"/>
          </a:xfrm>
          <a:prstGeom prst="rect">
            <a:avLst/>
          </a:prstGeom>
        </p:spPr>
        <p:txBody>
          <a:bodyPr wrap="square">
            <a:spAutoFit/>
          </a:bodyPr>
          <a:lstStyle/>
          <a:p>
            <a:pPr marL="285750" lvl="0" indent="-285750">
              <a:buFont typeface="Arial" panose="020B0604020202020204" pitchFamily="34" charset="0"/>
              <a:buChar char="•"/>
            </a:pPr>
            <a:r>
              <a:rPr lang="en-US" dirty="0" smtClean="0">
                <a:latin typeface="Calibri" panose="020F0502020204030204" pitchFamily="34" charset="0"/>
                <a:ea typeface="Calibri" panose="020F0502020204030204" pitchFamily="34" charset="0"/>
                <a:cs typeface="Times New Roman" panose="02020603050405020304" pitchFamily="18" charset="0"/>
              </a:rPr>
              <a:t>Check element is displayed or not</a:t>
            </a:r>
          </a:p>
          <a:p>
            <a:pPr lvl="1"/>
            <a:r>
              <a:rPr lang="en-US" b="1" dirty="0">
                <a:latin typeface="Calibri" panose="020F0502020204030204" pitchFamily="34" charset="0"/>
                <a:ea typeface="Calibri" panose="020F0502020204030204" pitchFamily="34" charset="0"/>
                <a:cs typeface="Times New Roman" panose="02020603050405020304" pitchFamily="18" charset="0"/>
              </a:rPr>
              <a:t>	</a:t>
            </a:r>
            <a:r>
              <a:rPr lang="en-US" b="1" dirty="0" err="1" smtClean="0">
                <a:latin typeface="Calibri" panose="020F0502020204030204" pitchFamily="34" charset="0"/>
                <a:ea typeface="Calibri" panose="020F0502020204030204" pitchFamily="34" charset="0"/>
                <a:cs typeface="Times New Roman" panose="02020603050405020304" pitchFamily="18" charset="0"/>
              </a:rPr>
              <a:t>user_ele</a:t>
            </a:r>
            <a:r>
              <a:rPr lang="en-US" b="1" dirty="0" smtClean="0">
                <a:latin typeface="Calibri" panose="020F0502020204030204" pitchFamily="34" charset="0"/>
                <a:ea typeface="Calibri" panose="020F0502020204030204" pitchFamily="34" charset="0"/>
                <a:cs typeface="Times New Roman" panose="02020603050405020304" pitchFamily="18" charset="0"/>
              </a:rPr>
              <a:t> = </a:t>
            </a:r>
            <a:r>
              <a:rPr lang="en-US" b="1" dirty="0" err="1" smtClean="0">
                <a:latin typeface="Calibri" panose="020F0502020204030204" pitchFamily="34" charset="0"/>
                <a:ea typeface="Calibri" panose="020F0502020204030204" pitchFamily="34" charset="0"/>
                <a:cs typeface="Times New Roman" panose="02020603050405020304" pitchFamily="18" charset="0"/>
              </a:rPr>
              <a:t>driver.find_element_by_name</a:t>
            </a:r>
            <a:r>
              <a:rPr lang="en-US" b="1" dirty="0" smtClean="0">
                <a:latin typeface="Calibri" panose="020F0502020204030204" pitchFamily="34" charset="0"/>
                <a:ea typeface="Calibri" panose="020F0502020204030204" pitchFamily="34" charset="0"/>
                <a:cs typeface="Times New Roman" panose="02020603050405020304" pitchFamily="18" charset="0"/>
              </a:rPr>
              <a:t>(“</a:t>
            </a:r>
            <a:r>
              <a:rPr lang="en-US" b="1" dirty="0" err="1" smtClean="0">
                <a:latin typeface="Calibri" panose="020F0502020204030204" pitchFamily="34" charset="0"/>
                <a:ea typeface="Calibri" panose="020F0502020204030204" pitchFamily="34" charset="0"/>
                <a:cs typeface="Times New Roman" panose="02020603050405020304" pitchFamily="18" charset="0"/>
              </a:rPr>
              <a:t>userName</a:t>
            </a:r>
            <a:r>
              <a:rPr lang="en-US" b="1" dirty="0" smtClean="0">
                <a:latin typeface="Calibri" panose="020F0502020204030204" pitchFamily="34" charset="0"/>
                <a:ea typeface="Calibri" panose="020F0502020204030204" pitchFamily="34" charset="0"/>
                <a:cs typeface="Times New Roman" panose="02020603050405020304" pitchFamily="18" charset="0"/>
              </a:rPr>
              <a:t>”)</a:t>
            </a:r>
          </a:p>
          <a:p>
            <a:pPr lvl="1"/>
            <a:r>
              <a:rPr lang="en-US" b="1" dirty="0">
                <a:latin typeface="Calibri" panose="020F0502020204030204" pitchFamily="34" charset="0"/>
                <a:ea typeface="Calibri" panose="020F0502020204030204" pitchFamily="34" charset="0"/>
                <a:cs typeface="Times New Roman" panose="02020603050405020304" pitchFamily="18" charset="0"/>
              </a:rPr>
              <a:t>	</a:t>
            </a:r>
            <a:r>
              <a:rPr lang="en-US" b="1" dirty="0" err="1" smtClean="0">
                <a:latin typeface="Calibri" panose="020F0502020204030204" pitchFamily="34" charset="0"/>
                <a:ea typeface="Calibri" panose="020F0502020204030204" pitchFamily="34" charset="0"/>
                <a:cs typeface="Times New Roman" panose="02020603050405020304" pitchFamily="18" charset="0"/>
              </a:rPr>
              <a:t>user_ele</a:t>
            </a:r>
            <a:r>
              <a:rPr lang="en-US" b="1" dirty="0" smtClean="0">
                <a:latin typeface="Calibri" panose="020F0502020204030204" pitchFamily="34" charset="0"/>
                <a:ea typeface="Calibri" panose="020F0502020204030204" pitchFamily="34" charset="0"/>
                <a:cs typeface="Times New Roman" panose="02020603050405020304" pitchFamily="18" charset="0"/>
              </a:rPr>
              <a:t> .</a:t>
            </a:r>
            <a:r>
              <a:rPr lang="en-US" b="1" dirty="0" err="1" smtClean="0">
                <a:latin typeface="Calibri" panose="020F0502020204030204" pitchFamily="34" charset="0"/>
                <a:ea typeface="Calibri" panose="020F0502020204030204" pitchFamily="34" charset="0"/>
                <a:cs typeface="Times New Roman" panose="02020603050405020304" pitchFamily="18" charset="0"/>
              </a:rPr>
              <a:t>is_displayed</a:t>
            </a:r>
            <a:r>
              <a:rPr lang="en-US" b="1" dirty="0" smtClean="0">
                <a:latin typeface="Calibri" panose="020F0502020204030204" pitchFamily="34" charset="0"/>
                <a:ea typeface="Calibri" panose="020F0502020204030204" pitchFamily="34" charset="0"/>
                <a:cs typeface="Times New Roman" panose="02020603050405020304" pitchFamily="18" charset="0"/>
              </a:rPr>
              <a:t>()		# returns true false</a:t>
            </a:r>
            <a:endParaRPr lang="en-US" b="1" dirty="0">
              <a:latin typeface="Calibri" panose="020F0502020204030204" pitchFamily="34" charset="0"/>
              <a:ea typeface="Calibri" panose="020F0502020204030204" pitchFamily="34" charset="0"/>
              <a:cs typeface="Times New Roman" panose="02020603050405020304" pitchFamily="18" charset="0"/>
            </a:endParaRPr>
          </a:p>
          <a:p>
            <a:pPr lvl="0"/>
            <a:endParaRPr lang="en-US" dirty="0" smtClean="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Check element is enabled or not</a:t>
            </a:r>
          </a:p>
          <a:p>
            <a:pPr lvl="1"/>
            <a:r>
              <a:rPr lang="en-US" b="1" dirty="0">
                <a:latin typeface="Calibri" panose="020F0502020204030204" pitchFamily="34" charset="0"/>
                <a:ea typeface="Calibri" panose="020F0502020204030204" pitchFamily="34" charset="0"/>
                <a:cs typeface="Times New Roman" panose="02020603050405020304" pitchFamily="18" charset="0"/>
              </a:rPr>
              <a:t>	</a:t>
            </a:r>
            <a:r>
              <a:rPr lang="en-US" b="1" dirty="0" err="1">
                <a:latin typeface="Calibri" panose="020F0502020204030204" pitchFamily="34" charset="0"/>
                <a:ea typeface="Calibri" panose="020F0502020204030204" pitchFamily="34" charset="0"/>
                <a:cs typeface="Times New Roman" panose="02020603050405020304" pitchFamily="18" charset="0"/>
              </a:rPr>
              <a:t>user_ele</a:t>
            </a:r>
            <a:r>
              <a:rPr lang="en-US" b="1" dirty="0">
                <a:latin typeface="Calibri" panose="020F0502020204030204" pitchFamily="34" charset="0"/>
                <a:ea typeface="Calibri" panose="020F0502020204030204" pitchFamily="34" charset="0"/>
                <a:cs typeface="Times New Roman" panose="02020603050405020304" pitchFamily="18" charset="0"/>
              </a:rPr>
              <a:t> = </a:t>
            </a:r>
            <a:r>
              <a:rPr lang="en-US" b="1" dirty="0" err="1">
                <a:latin typeface="Calibri" panose="020F0502020204030204" pitchFamily="34" charset="0"/>
                <a:ea typeface="Calibri" panose="020F0502020204030204" pitchFamily="34" charset="0"/>
                <a:cs typeface="Times New Roman" panose="02020603050405020304" pitchFamily="18" charset="0"/>
              </a:rPr>
              <a:t>driver.find_element_by_name</a:t>
            </a:r>
            <a:r>
              <a:rPr lang="en-US" b="1" dirty="0">
                <a:latin typeface="Calibri" panose="020F0502020204030204" pitchFamily="34" charset="0"/>
                <a:ea typeface="Calibri" panose="020F0502020204030204" pitchFamily="34" charset="0"/>
                <a:cs typeface="Times New Roman" panose="02020603050405020304" pitchFamily="18" charset="0"/>
              </a:rPr>
              <a:t>(“</a:t>
            </a:r>
            <a:r>
              <a:rPr lang="en-US" b="1" dirty="0" err="1">
                <a:latin typeface="Calibri" panose="020F0502020204030204" pitchFamily="34" charset="0"/>
                <a:ea typeface="Calibri" panose="020F0502020204030204" pitchFamily="34" charset="0"/>
                <a:cs typeface="Times New Roman" panose="02020603050405020304" pitchFamily="18" charset="0"/>
              </a:rPr>
              <a:t>userName</a:t>
            </a:r>
            <a:r>
              <a:rPr lang="en-US" b="1" dirty="0">
                <a:latin typeface="Calibri" panose="020F0502020204030204" pitchFamily="34" charset="0"/>
                <a:ea typeface="Calibri" panose="020F0502020204030204" pitchFamily="34" charset="0"/>
                <a:cs typeface="Times New Roman" panose="02020603050405020304" pitchFamily="18" charset="0"/>
              </a:rPr>
              <a:t>”)</a:t>
            </a:r>
          </a:p>
          <a:p>
            <a:pPr lvl="1"/>
            <a:r>
              <a:rPr lang="en-US" b="1" dirty="0">
                <a:latin typeface="Calibri" panose="020F0502020204030204" pitchFamily="34" charset="0"/>
                <a:ea typeface="Calibri" panose="020F0502020204030204" pitchFamily="34" charset="0"/>
                <a:cs typeface="Times New Roman" panose="02020603050405020304" pitchFamily="18" charset="0"/>
              </a:rPr>
              <a:t>	</a:t>
            </a:r>
            <a:r>
              <a:rPr lang="en-US" b="1" dirty="0" err="1">
                <a:latin typeface="Calibri" panose="020F0502020204030204" pitchFamily="34" charset="0"/>
                <a:ea typeface="Calibri" panose="020F0502020204030204" pitchFamily="34" charset="0"/>
                <a:cs typeface="Times New Roman" panose="02020603050405020304" pitchFamily="18" charset="0"/>
              </a:rPr>
              <a:t>user_ele</a:t>
            </a:r>
            <a:r>
              <a:rPr lang="en-US" b="1" dirty="0">
                <a:latin typeface="Calibri" panose="020F0502020204030204" pitchFamily="34" charset="0"/>
                <a:ea typeface="Calibri" panose="020F0502020204030204" pitchFamily="34" charset="0"/>
                <a:cs typeface="Times New Roman" panose="02020603050405020304" pitchFamily="18" charset="0"/>
              </a:rPr>
              <a:t> .</a:t>
            </a:r>
            <a:r>
              <a:rPr lang="en-US" b="1" dirty="0" err="1" smtClean="0">
                <a:latin typeface="Calibri" panose="020F0502020204030204" pitchFamily="34" charset="0"/>
                <a:ea typeface="Calibri" panose="020F0502020204030204" pitchFamily="34" charset="0"/>
                <a:cs typeface="Times New Roman" panose="02020603050405020304" pitchFamily="18" charset="0"/>
              </a:rPr>
              <a:t>is_enabled</a:t>
            </a:r>
            <a:r>
              <a:rPr lang="en-US" b="1" dirty="0" smtClean="0">
                <a:latin typeface="Calibri" panose="020F0502020204030204" pitchFamily="34" charset="0"/>
                <a:ea typeface="Calibri" panose="020F0502020204030204" pitchFamily="34" charset="0"/>
                <a:cs typeface="Times New Roman" panose="02020603050405020304" pitchFamily="18" charset="0"/>
              </a:rPr>
              <a:t>()</a:t>
            </a:r>
            <a:r>
              <a:rPr lang="en-US" b="1" dirty="0">
                <a:latin typeface="Calibri" panose="020F0502020204030204" pitchFamily="34" charset="0"/>
                <a:ea typeface="Calibri" panose="020F0502020204030204" pitchFamily="34" charset="0"/>
                <a:cs typeface="Times New Roman" panose="02020603050405020304" pitchFamily="18" charset="0"/>
              </a:rPr>
              <a:t>		# returns true false</a:t>
            </a:r>
          </a:p>
          <a:p>
            <a:pPr marL="285750" lvl="0" indent="-285750">
              <a:buFont typeface="Arial" panose="020B0604020202020204" pitchFamily="34" charset="0"/>
              <a:buChar char="•"/>
            </a:pPr>
            <a:endParaRPr lang="en-US" dirty="0" smtClean="0">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Check element is selected or not</a:t>
            </a:r>
          </a:p>
          <a:p>
            <a:pPr lvl="1"/>
            <a:r>
              <a:rPr lang="en-US" b="1" dirty="0">
                <a:latin typeface="Calibri" panose="020F0502020204030204" pitchFamily="34" charset="0"/>
                <a:ea typeface="Calibri" panose="020F0502020204030204" pitchFamily="34" charset="0"/>
                <a:cs typeface="Times New Roman" panose="02020603050405020304" pitchFamily="18" charset="0"/>
              </a:rPr>
              <a:t>	</a:t>
            </a:r>
            <a:r>
              <a:rPr lang="en-US" b="1" dirty="0" err="1">
                <a:latin typeface="Calibri" panose="020F0502020204030204" pitchFamily="34" charset="0"/>
                <a:ea typeface="Calibri" panose="020F0502020204030204" pitchFamily="34" charset="0"/>
                <a:cs typeface="Times New Roman" panose="02020603050405020304" pitchFamily="18" charset="0"/>
              </a:rPr>
              <a:t>user_ele</a:t>
            </a:r>
            <a:r>
              <a:rPr lang="en-US" b="1" dirty="0">
                <a:latin typeface="Calibri" panose="020F0502020204030204" pitchFamily="34" charset="0"/>
                <a:ea typeface="Calibri" panose="020F0502020204030204" pitchFamily="34" charset="0"/>
                <a:cs typeface="Times New Roman" panose="02020603050405020304" pitchFamily="18" charset="0"/>
              </a:rPr>
              <a:t> = </a:t>
            </a:r>
            <a:r>
              <a:rPr lang="en-US" b="1" dirty="0" err="1">
                <a:latin typeface="Calibri" panose="020F0502020204030204" pitchFamily="34" charset="0"/>
                <a:ea typeface="Calibri" panose="020F0502020204030204" pitchFamily="34" charset="0"/>
                <a:cs typeface="Times New Roman" panose="02020603050405020304" pitchFamily="18" charset="0"/>
              </a:rPr>
              <a:t>driver.find_element_by_name</a:t>
            </a:r>
            <a:r>
              <a:rPr lang="en-US" b="1" dirty="0">
                <a:latin typeface="Calibri" panose="020F0502020204030204" pitchFamily="34" charset="0"/>
                <a:ea typeface="Calibri" panose="020F0502020204030204" pitchFamily="34" charset="0"/>
                <a:cs typeface="Times New Roman" panose="02020603050405020304" pitchFamily="18" charset="0"/>
              </a:rPr>
              <a:t>(“</a:t>
            </a:r>
            <a:r>
              <a:rPr lang="en-US" b="1" dirty="0" err="1">
                <a:latin typeface="Calibri" panose="020F0502020204030204" pitchFamily="34" charset="0"/>
                <a:ea typeface="Calibri" panose="020F0502020204030204" pitchFamily="34" charset="0"/>
                <a:cs typeface="Times New Roman" panose="02020603050405020304" pitchFamily="18" charset="0"/>
              </a:rPr>
              <a:t>userName</a:t>
            </a:r>
            <a:r>
              <a:rPr lang="en-US" b="1" dirty="0">
                <a:latin typeface="Calibri" panose="020F0502020204030204" pitchFamily="34" charset="0"/>
                <a:ea typeface="Calibri" panose="020F0502020204030204" pitchFamily="34" charset="0"/>
                <a:cs typeface="Times New Roman" panose="02020603050405020304" pitchFamily="18" charset="0"/>
              </a:rPr>
              <a:t>”)</a:t>
            </a:r>
          </a:p>
          <a:p>
            <a:pPr lvl="1"/>
            <a:r>
              <a:rPr lang="en-US" b="1" dirty="0">
                <a:latin typeface="Calibri" panose="020F0502020204030204" pitchFamily="34" charset="0"/>
                <a:ea typeface="Calibri" panose="020F0502020204030204" pitchFamily="34" charset="0"/>
                <a:cs typeface="Times New Roman" panose="02020603050405020304" pitchFamily="18" charset="0"/>
              </a:rPr>
              <a:t>	</a:t>
            </a:r>
            <a:r>
              <a:rPr lang="en-US" b="1" dirty="0" err="1">
                <a:latin typeface="Calibri" panose="020F0502020204030204" pitchFamily="34" charset="0"/>
                <a:ea typeface="Calibri" panose="020F0502020204030204" pitchFamily="34" charset="0"/>
                <a:cs typeface="Times New Roman" panose="02020603050405020304" pitchFamily="18" charset="0"/>
              </a:rPr>
              <a:t>user_ele</a:t>
            </a:r>
            <a:r>
              <a:rPr lang="en-US" b="1" dirty="0">
                <a:latin typeface="Calibri" panose="020F0502020204030204" pitchFamily="34" charset="0"/>
                <a:ea typeface="Calibri" panose="020F0502020204030204" pitchFamily="34" charset="0"/>
                <a:cs typeface="Times New Roman" panose="02020603050405020304" pitchFamily="18" charset="0"/>
              </a:rPr>
              <a:t> .</a:t>
            </a:r>
            <a:r>
              <a:rPr lang="en-US" b="1" dirty="0" err="1" smtClean="0">
                <a:latin typeface="Calibri" panose="020F0502020204030204" pitchFamily="34" charset="0"/>
                <a:ea typeface="Calibri" panose="020F0502020204030204" pitchFamily="34" charset="0"/>
                <a:cs typeface="Times New Roman" panose="02020603050405020304" pitchFamily="18" charset="0"/>
              </a:rPr>
              <a:t>is_selected</a:t>
            </a:r>
            <a:r>
              <a:rPr lang="en-US" b="1" dirty="0" smtClean="0">
                <a:latin typeface="Calibri" panose="020F0502020204030204" pitchFamily="34" charset="0"/>
                <a:ea typeface="Calibri" panose="020F0502020204030204" pitchFamily="34" charset="0"/>
                <a:cs typeface="Times New Roman" panose="02020603050405020304" pitchFamily="18" charset="0"/>
              </a:rPr>
              <a:t>()</a:t>
            </a:r>
            <a:r>
              <a:rPr lang="en-US" b="1" dirty="0">
                <a:latin typeface="Calibri" panose="020F0502020204030204" pitchFamily="34" charset="0"/>
                <a:ea typeface="Calibri" panose="020F0502020204030204" pitchFamily="34" charset="0"/>
                <a:cs typeface="Times New Roman" panose="02020603050405020304" pitchFamily="18" charset="0"/>
              </a:rPr>
              <a:t>		# returns true false</a:t>
            </a:r>
          </a:p>
          <a:p>
            <a:pPr marL="285750" lvl="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p:cNvSpPr txBox="1"/>
          <p:nvPr/>
        </p:nvSpPr>
        <p:spPr>
          <a:xfrm>
            <a:off x="1762125" y="904875"/>
            <a:ext cx="4958409" cy="584775"/>
          </a:xfrm>
          <a:prstGeom prst="rect">
            <a:avLst/>
          </a:prstGeom>
          <a:noFill/>
        </p:spPr>
        <p:txBody>
          <a:bodyPr wrap="none" rtlCol="0">
            <a:spAutoFit/>
          </a:bodyPr>
          <a:lstStyle/>
          <a:p>
            <a:r>
              <a:rPr lang="en-US" sz="3200" dirty="0" smtClean="0">
                <a:solidFill>
                  <a:schemeClr val="bg1"/>
                </a:solidFill>
              </a:rPr>
              <a:t>Conditional </a:t>
            </a:r>
            <a:r>
              <a:rPr lang="en-US" sz="3200" dirty="0">
                <a:solidFill>
                  <a:schemeClr val="bg1"/>
                </a:solidFill>
              </a:rPr>
              <a:t>Commands</a:t>
            </a:r>
          </a:p>
        </p:txBody>
      </p:sp>
    </p:spTree>
    <p:extLst>
      <p:ext uri="{BB962C8B-B14F-4D97-AF65-F5344CB8AC3E}">
        <p14:creationId xmlns:p14="http://schemas.microsoft.com/office/powerpoint/2010/main" val="160708952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62125" y="904875"/>
            <a:ext cx="5896166" cy="584775"/>
          </a:xfrm>
          <a:prstGeom prst="rect">
            <a:avLst/>
          </a:prstGeom>
          <a:noFill/>
        </p:spPr>
        <p:txBody>
          <a:bodyPr wrap="none" rtlCol="0">
            <a:spAutoFit/>
          </a:bodyPr>
          <a:lstStyle/>
          <a:p>
            <a:r>
              <a:rPr lang="en-US" sz="3200" dirty="0" smtClean="0">
                <a:solidFill>
                  <a:schemeClr val="bg1"/>
                </a:solidFill>
              </a:rPr>
              <a:t>Radio button and Checkbox</a:t>
            </a:r>
            <a:endParaRPr lang="en-US" sz="3200" dirty="0">
              <a:solidFill>
                <a:schemeClr val="bg1"/>
              </a:solidFill>
            </a:endParaRPr>
          </a:p>
        </p:txBody>
      </p:sp>
      <p:pic>
        <p:nvPicPr>
          <p:cNvPr id="4" name="Picture 3"/>
          <p:cNvPicPr/>
          <p:nvPr/>
        </p:nvPicPr>
        <p:blipFill>
          <a:blip r:embed="rId3"/>
          <a:stretch>
            <a:fillRect/>
          </a:stretch>
        </p:blipFill>
        <p:spPr>
          <a:xfrm>
            <a:off x="898236" y="2446453"/>
            <a:ext cx="9474200" cy="3806565"/>
          </a:xfrm>
          <a:prstGeom prst="rect">
            <a:avLst/>
          </a:prstGeom>
        </p:spPr>
      </p:pic>
    </p:spTree>
    <p:extLst>
      <p:ext uri="{BB962C8B-B14F-4D97-AF65-F5344CB8AC3E}">
        <p14:creationId xmlns:p14="http://schemas.microsoft.com/office/powerpoint/2010/main" val="135157563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62125" y="904875"/>
            <a:ext cx="3818674" cy="584775"/>
          </a:xfrm>
          <a:prstGeom prst="rect">
            <a:avLst/>
          </a:prstGeom>
          <a:noFill/>
        </p:spPr>
        <p:txBody>
          <a:bodyPr wrap="none" rtlCol="0">
            <a:spAutoFit/>
          </a:bodyPr>
          <a:lstStyle/>
          <a:p>
            <a:r>
              <a:rPr lang="en-US" sz="3200" dirty="0" smtClean="0">
                <a:solidFill>
                  <a:schemeClr val="bg1"/>
                </a:solidFill>
              </a:rPr>
              <a:t>Dropdown control</a:t>
            </a:r>
            <a:endParaRPr lang="en-US" sz="3200" dirty="0">
              <a:solidFill>
                <a:schemeClr val="bg1"/>
              </a:solidFill>
            </a:endParaRPr>
          </a:p>
        </p:txBody>
      </p:sp>
      <p:pic>
        <p:nvPicPr>
          <p:cNvPr id="3" name="Picture 2"/>
          <p:cNvPicPr>
            <a:picLocks noChangeAspect="1"/>
          </p:cNvPicPr>
          <p:nvPr/>
        </p:nvPicPr>
        <p:blipFill>
          <a:blip r:embed="rId3"/>
          <a:stretch>
            <a:fillRect/>
          </a:stretch>
        </p:blipFill>
        <p:spPr>
          <a:xfrm>
            <a:off x="1261813" y="2225963"/>
            <a:ext cx="5351423" cy="2354627"/>
          </a:xfrm>
          <a:prstGeom prst="rect">
            <a:avLst/>
          </a:prstGeom>
        </p:spPr>
      </p:pic>
      <p:pic>
        <p:nvPicPr>
          <p:cNvPr id="4" name="Picture 3"/>
          <p:cNvPicPr>
            <a:picLocks noChangeAspect="1"/>
          </p:cNvPicPr>
          <p:nvPr/>
        </p:nvPicPr>
        <p:blipFill>
          <a:blip r:embed="rId4"/>
          <a:stretch>
            <a:fillRect/>
          </a:stretch>
        </p:blipFill>
        <p:spPr>
          <a:xfrm>
            <a:off x="1261812" y="4531166"/>
            <a:ext cx="5037387" cy="1971761"/>
          </a:xfrm>
          <a:prstGeom prst="rect">
            <a:avLst/>
          </a:prstGeom>
        </p:spPr>
      </p:pic>
    </p:spTree>
    <p:extLst>
      <p:ext uri="{BB962C8B-B14F-4D97-AF65-F5344CB8AC3E}">
        <p14:creationId xmlns:p14="http://schemas.microsoft.com/office/powerpoint/2010/main" val="178113608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62125" y="904875"/>
            <a:ext cx="2425664" cy="584775"/>
          </a:xfrm>
          <a:prstGeom prst="rect">
            <a:avLst/>
          </a:prstGeom>
          <a:noFill/>
        </p:spPr>
        <p:txBody>
          <a:bodyPr wrap="none" rtlCol="0">
            <a:spAutoFit/>
          </a:bodyPr>
          <a:lstStyle/>
          <a:p>
            <a:r>
              <a:rPr lang="en-US" sz="3200" dirty="0" smtClean="0">
                <a:solidFill>
                  <a:schemeClr val="bg1"/>
                </a:solidFill>
              </a:rPr>
              <a:t>Link control</a:t>
            </a:r>
            <a:endParaRPr lang="en-US" sz="3200" dirty="0">
              <a:solidFill>
                <a:schemeClr val="bg1"/>
              </a:solidFill>
            </a:endParaRPr>
          </a:p>
        </p:txBody>
      </p:sp>
      <p:pic>
        <p:nvPicPr>
          <p:cNvPr id="5" name="Picture 4"/>
          <p:cNvPicPr>
            <a:picLocks noChangeAspect="1"/>
          </p:cNvPicPr>
          <p:nvPr/>
        </p:nvPicPr>
        <p:blipFill>
          <a:blip r:embed="rId3"/>
          <a:stretch>
            <a:fillRect/>
          </a:stretch>
        </p:blipFill>
        <p:spPr>
          <a:xfrm>
            <a:off x="1762125" y="2587226"/>
            <a:ext cx="8450610" cy="3296337"/>
          </a:xfrm>
          <a:prstGeom prst="rect">
            <a:avLst/>
          </a:prstGeom>
        </p:spPr>
      </p:pic>
    </p:spTree>
    <p:extLst>
      <p:ext uri="{BB962C8B-B14F-4D97-AF65-F5344CB8AC3E}">
        <p14:creationId xmlns:p14="http://schemas.microsoft.com/office/powerpoint/2010/main" val="42415620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62125" y="904875"/>
            <a:ext cx="2611612" cy="584775"/>
          </a:xfrm>
          <a:prstGeom prst="rect">
            <a:avLst/>
          </a:prstGeom>
          <a:noFill/>
        </p:spPr>
        <p:txBody>
          <a:bodyPr wrap="none" rtlCol="0">
            <a:spAutoFit/>
          </a:bodyPr>
          <a:lstStyle/>
          <a:p>
            <a:r>
              <a:rPr lang="en-US" sz="3200" dirty="0" smtClean="0">
                <a:solidFill>
                  <a:schemeClr val="bg1"/>
                </a:solidFill>
              </a:rPr>
              <a:t>Alert control</a:t>
            </a:r>
            <a:endParaRPr lang="en-US" sz="3200" dirty="0">
              <a:solidFill>
                <a:schemeClr val="bg1"/>
              </a:solidFill>
            </a:endParaRPr>
          </a:p>
        </p:txBody>
      </p:sp>
      <p:sp>
        <p:nvSpPr>
          <p:cNvPr id="4" name="TextBox 3"/>
          <p:cNvSpPr txBox="1"/>
          <p:nvPr/>
        </p:nvSpPr>
        <p:spPr>
          <a:xfrm>
            <a:off x="1668780" y="2598420"/>
            <a:ext cx="5287025" cy="2585323"/>
          </a:xfrm>
          <a:prstGeom prst="rect">
            <a:avLst/>
          </a:prstGeom>
          <a:noFill/>
        </p:spPr>
        <p:txBody>
          <a:bodyPr wrap="none" rtlCol="0">
            <a:spAutoFit/>
          </a:bodyPr>
          <a:lstStyle/>
          <a:p>
            <a:r>
              <a:rPr lang="en-US" b="1" dirty="0" smtClean="0"/>
              <a:t>Operation or handle popup alert </a:t>
            </a:r>
          </a:p>
          <a:p>
            <a:endParaRPr lang="en-US" dirty="0"/>
          </a:p>
          <a:p>
            <a:r>
              <a:rPr lang="en-US" dirty="0" err="1" smtClean="0"/>
              <a:t>driver.switch_to.alert</a:t>
            </a:r>
            <a:r>
              <a:rPr lang="en-US" dirty="0" smtClean="0"/>
              <a:t>().accept() </a:t>
            </a:r>
          </a:p>
          <a:p>
            <a:r>
              <a:rPr lang="en-US" dirty="0"/>
              <a:t>	</a:t>
            </a:r>
            <a:r>
              <a:rPr lang="en-US" dirty="0" smtClean="0"/>
              <a:t>	- closes alert window using OK button</a:t>
            </a:r>
          </a:p>
          <a:p>
            <a:endParaRPr lang="en-US" dirty="0"/>
          </a:p>
          <a:p>
            <a:r>
              <a:rPr lang="en-US" dirty="0" err="1" smtClean="0"/>
              <a:t>driver.switch_to.alert</a:t>
            </a:r>
            <a:r>
              <a:rPr lang="en-US" dirty="0" smtClean="0"/>
              <a:t>().dismiss()</a:t>
            </a:r>
          </a:p>
          <a:p>
            <a:r>
              <a:rPr lang="en-US" dirty="0"/>
              <a:t>	</a:t>
            </a:r>
            <a:r>
              <a:rPr lang="en-US" dirty="0" smtClean="0"/>
              <a:t>	-closes alert by using cancel button</a:t>
            </a:r>
          </a:p>
          <a:p>
            <a:endParaRPr lang="en-US" dirty="0"/>
          </a:p>
          <a:p>
            <a:endParaRPr lang="en-US" dirty="0"/>
          </a:p>
        </p:txBody>
      </p:sp>
    </p:spTree>
    <p:extLst>
      <p:ext uri="{BB962C8B-B14F-4D97-AF65-F5344CB8AC3E}">
        <p14:creationId xmlns:p14="http://schemas.microsoft.com/office/powerpoint/2010/main" val="234680022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91138" y="1047262"/>
            <a:ext cx="1266093" cy="369332"/>
          </a:xfrm>
          <a:prstGeom prst="rect">
            <a:avLst/>
          </a:prstGeom>
          <a:noFill/>
        </p:spPr>
        <p:txBody>
          <a:bodyPr wrap="square" rtlCol="0">
            <a:spAutoFit/>
          </a:bodyPr>
          <a:lstStyle/>
          <a:p>
            <a:r>
              <a:rPr lang="en-US" dirty="0" smtClean="0">
                <a:solidFill>
                  <a:schemeClr val="bg1"/>
                </a:solidFill>
              </a:rPr>
              <a:t>Frame </a:t>
            </a:r>
            <a:endParaRPr lang="en-US" dirty="0">
              <a:solidFill>
                <a:schemeClr val="bg1"/>
              </a:solidFill>
            </a:endParaRPr>
          </a:p>
        </p:txBody>
      </p:sp>
    </p:spTree>
    <p:extLst>
      <p:ext uri="{BB962C8B-B14F-4D97-AF65-F5344CB8AC3E}">
        <p14:creationId xmlns:p14="http://schemas.microsoft.com/office/powerpoint/2010/main" val="57784303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62125" y="904875"/>
            <a:ext cx="3225563" cy="584775"/>
          </a:xfrm>
          <a:prstGeom prst="rect">
            <a:avLst/>
          </a:prstGeom>
          <a:noFill/>
        </p:spPr>
        <p:txBody>
          <a:bodyPr wrap="none" rtlCol="0">
            <a:spAutoFit/>
          </a:bodyPr>
          <a:lstStyle/>
          <a:p>
            <a:r>
              <a:rPr lang="en-US" sz="3200" dirty="0" smtClean="0">
                <a:solidFill>
                  <a:schemeClr val="bg1"/>
                </a:solidFill>
              </a:rPr>
              <a:t>Browser handle</a:t>
            </a:r>
            <a:endParaRPr lang="en-US" sz="3200" dirty="0">
              <a:solidFill>
                <a:schemeClr val="bg1"/>
              </a:solidFill>
            </a:endParaRPr>
          </a:p>
        </p:txBody>
      </p:sp>
      <p:sp>
        <p:nvSpPr>
          <p:cNvPr id="4" name="TextBox 3"/>
          <p:cNvSpPr txBox="1"/>
          <p:nvPr/>
        </p:nvSpPr>
        <p:spPr>
          <a:xfrm>
            <a:off x="1696490" y="2333685"/>
            <a:ext cx="7534435" cy="4524315"/>
          </a:xfrm>
          <a:prstGeom prst="rect">
            <a:avLst/>
          </a:prstGeom>
          <a:noFill/>
        </p:spPr>
        <p:txBody>
          <a:bodyPr wrap="none" rtlCol="0">
            <a:spAutoFit/>
          </a:bodyPr>
          <a:lstStyle/>
          <a:p>
            <a:r>
              <a:rPr lang="en-US" b="1" dirty="0" smtClean="0"/>
              <a:t>Handle -  Unique ID for browser window</a:t>
            </a:r>
          </a:p>
          <a:p>
            <a:endParaRPr lang="en-US" b="1" dirty="0"/>
          </a:p>
          <a:p>
            <a:r>
              <a:rPr lang="en-US" b="1" dirty="0" err="1" smtClean="0"/>
              <a:t>driver.current_window_handle</a:t>
            </a:r>
            <a:endParaRPr lang="en-US" b="1" dirty="0" smtClean="0"/>
          </a:p>
          <a:p>
            <a:r>
              <a:rPr lang="en-US" dirty="0"/>
              <a:t>	</a:t>
            </a:r>
            <a:r>
              <a:rPr lang="en-US" dirty="0" smtClean="0"/>
              <a:t>	gives unique id for current or parent browser window</a:t>
            </a:r>
          </a:p>
          <a:p>
            <a:endParaRPr lang="en-US" dirty="0"/>
          </a:p>
          <a:p>
            <a:endParaRPr lang="en-US" dirty="0" smtClean="0"/>
          </a:p>
          <a:p>
            <a:r>
              <a:rPr lang="en-US" b="1" dirty="0" err="1" smtClean="0"/>
              <a:t>driver.window_handles</a:t>
            </a:r>
            <a:endParaRPr lang="en-US" b="1" dirty="0" smtClean="0"/>
          </a:p>
          <a:p>
            <a:r>
              <a:rPr lang="en-US" dirty="0"/>
              <a:t>		</a:t>
            </a:r>
            <a:r>
              <a:rPr lang="en-US" dirty="0" smtClean="0"/>
              <a:t> returns all the handle values of opened browser windows</a:t>
            </a:r>
          </a:p>
          <a:p>
            <a:r>
              <a:rPr lang="en-US" dirty="0"/>
              <a:t>	</a:t>
            </a:r>
            <a:r>
              <a:rPr lang="en-US" dirty="0" smtClean="0"/>
              <a:t>	we can iterate list using loop for get particular window</a:t>
            </a:r>
          </a:p>
          <a:p>
            <a:endParaRPr lang="en-US" dirty="0"/>
          </a:p>
          <a:p>
            <a:r>
              <a:rPr lang="en-US" b="1" dirty="0" err="1" smtClean="0"/>
              <a:t>driver.switch_to.window</a:t>
            </a:r>
            <a:r>
              <a:rPr lang="en-US" b="1" dirty="0" smtClean="0"/>
              <a:t>(handle) </a:t>
            </a:r>
          </a:p>
          <a:p>
            <a:r>
              <a:rPr lang="en-US" b="1" dirty="0"/>
              <a:t>	</a:t>
            </a:r>
            <a:r>
              <a:rPr lang="en-US" b="1" dirty="0" smtClean="0"/>
              <a:t>	</a:t>
            </a:r>
            <a:r>
              <a:rPr lang="en-US" dirty="0" smtClean="0"/>
              <a:t>to switch between multiple browser window</a:t>
            </a:r>
            <a:endParaRPr lang="en-US" b="1" dirty="0" smtClean="0"/>
          </a:p>
          <a:p>
            <a:endParaRPr lang="en-US" dirty="0"/>
          </a:p>
          <a:p>
            <a:endParaRPr lang="en-US" dirty="0" smtClean="0"/>
          </a:p>
          <a:p>
            <a:endParaRPr lang="en-US" dirty="0"/>
          </a:p>
          <a:p>
            <a:endParaRPr lang="en-US" dirty="0"/>
          </a:p>
        </p:txBody>
      </p:sp>
    </p:spTree>
    <p:extLst>
      <p:ext uri="{BB962C8B-B14F-4D97-AF65-F5344CB8AC3E}">
        <p14:creationId xmlns:p14="http://schemas.microsoft.com/office/powerpoint/2010/main" val="361671240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97662" y="2315931"/>
            <a:ext cx="9993084" cy="4247317"/>
          </a:xfrm>
          <a:prstGeom prst="rect">
            <a:avLst/>
          </a:prstGeom>
        </p:spPr>
        <p:txBody>
          <a:bodyPr wrap="square">
            <a:spAutoFit/>
          </a:bodyPr>
          <a:lstStyle/>
          <a:p>
            <a:pPr marL="285750" indent="-285750">
              <a:buFont typeface="Arial" panose="020B0604020202020204" pitchFamily="34" charset="0"/>
              <a:buChar char="•"/>
            </a:pPr>
            <a:r>
              <a:rPr lang="en-US" dirty="0"/>
              <a:t>An implicit wait tells WebDriver to poll the DOM for a certain amount of time when trying to find any element (or elements) not immediately available. </a:t>
            </a:r>
            <a:endParaRPr lang="en-US" dirty="0" smtClean="0"/>
          </a:p>
          <a:p>
            <a:endParaRPr lang="en-US" dirty="0" smtClean="0"/>
          </a:p>
          <a:p>
            <a:pPr marL="285750" indent="-285750">
              <a:buFont typeface="Arial" panose="020B0604020202020204" pitchFamily="34" charset="0"/>
              <a:buChar char="•"/>
            </a:pPr>
            <a:r>
              <a:rPr lang="en-US" dirty="0" smtClean="0"/>
              <a:t>The </a:t>
            </a:r>
            <a:r>
              <a:rPr lang="en-US" dirty="0"/>
              <a:t>default setting is 0 (zero). Once set, the implicit wait is set for the life of the WebDriver object</a:t>
            </a:r>
            <a:r>
              <a:rPr lang="en-US" dirty="0" smtClean="0"/>
              <a:t>.</a:t>
            </a:r>
          </a:p>
          <a:p>
            <a:endParaRPr lang="en-US" dirty="0"/>
          </a:p>
          <a:p>
            <a:endParaRPr lang="en-US" dirty="0" smtClean="0"/>
          </a:p>
          <a:p>
            <a:endParaRPr lang="en-US" dirty="0"/>
          </a:p>
          <a:p>
            <a:r>
              <a:rPr lang="en-US" b="1" dirty="0"/>
              <a:t>from</a:t>
            </a:r>
            <a:r>
              <a:rPr lang="en-US" dirty="0"/>
              <a:t> </a:t>
            </a:r>
            <a:r>
              <a:rPr lang="en-US" b="1" dirty="0"/>
              <a:t>selenium</a:t>
            </a:r>
            <a:r>
              <a:rPr lang="en-US" dirty="0"/>
              <a:t> </a:t>
            </a:r>
            <a:r>
              <a:rPr lang="en-US" b="1" dirty="0"/>
              <a:t>import</a:t>
            </a:r>
            <a:r>
              <a:rPr lang="en-US" dirty="0"/>
              <a:t> </a:t>
            </a:r>
            <a:r>
              <a:rPr lang="en-US" dirty="0" err="1"/>
              <a:t>webdriver</a:t>
            </a:r>
            <a:endParaRPr lang="en-US" dirty="0"/>
          </a:p>
          <a:p>
            <a:r>
              <a:rPr lang="en-US" dirty="0"/>
              <a:t> </a:t>
            </a:r>
          </a:p>
          <a:p>
            <a:r>
              <a:rPr lang="en-US" dirty="0"/>
              <a:t>driver = </a:t>
            </a:r>
            <a:r>
              <a:rPr lang="en-US" dirty="0" err="1"/>
              <a:t>webdriver.Firefox</a:t>
            </a:r>
            <a:r>
              <a:rPr lang="en-US" dirty="0"/>
              <a:t>()</a:t>
            </a:r>
          </a:p>
          <a:p>
            <a:r>
              <a:rPr lang="en-US" dirty="0" err="1"/>
              <a:t>driver.implicitly_wait</a:t>
            </a:r>
            <a:r>
              <a:rPr lang="en-US" dirty="0"/>
              <a:t>(10) </a:t>
            </a:r>
            <a:r>
              <a:rPr lang="en-US" i="1" dirty="0"/>
              <a:t># seconds</a:t>
            </a:r>
            <a:endParaRPr lang="en-US" dirty="0"/>
          </a:p>
          <a:p>
            <a:r>
              <a:rPr lang="en-US" dirty="0" err="1"/>
              <a:t>driver.get</a:t>
            </a:r>
            <a:r>
              <a:rPr lang="en-US" dirty="0"/>
              <a:t>("http://somedomain/url_that_delays_loading")</a:t>
            </a:r>
          </a:p>
          <a:p>
            <a:r>
              <a:rPr lang="en-US" dirty="0" err="1"/>
              <a:t>myDynamicElement</a:t>
            </a:r>
            <a:r>
              <a:rPr lang="en-US" dirty="0"/>
              <a:t> = </a:t>
            </a:r>
            <a:r>
              <a:rPr lang="en-US" dirty="0" err="1"/>
              <a:t>driver.find_element_by_id</a:t>
            </a:r>
            <a:r>
              <a:rPr lang="en-US" dirty="0"/>
              <a:t>("</a:t>
            </a:r>
            <a:r>
              <a:rPr lang="en-US" dirty="0" err="1"/>
              <a:t>myDynamicElement</a:t>
            </a:r>
            <a:r>
              <a:rPr lang="en-US" dirty="0"/>
              <a:t>")</a:t>
            </a:r>
          </a:p>
          <a:p>
            <a:pPr marL="285750" lvl="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p:cNvSpPr txBox="1"/>
          <p:nvPr/>
        </p:nvSpPr>
        <p:spPr>
          <a:xfrm>
            <a:off x="1097662" y="904875"/>
            <a:ext cx="2550698" cy="584775"/>
          </a:xfrm>
          <a:prstGeom prst="rect">
            <a:avLst/>
          </a:prstGeom>
          <a:noFill/>
        </p:spPr>
        <p:txBody>
          <a:bodyPr wrap="none" rtlCol="0">
            <a:spAutoFit/>
          </a:bodyPr>
          <a:lstStyle/>
          <a:p>
            <a:r>
              <a:rPr lang="en-US" sz="3200" dirty="0" smtClean="0">
                <a:solidFill>
                  <a:schemeClr val="bg1"/>
                </a:solidFill>
              </a:rPr>
              <a:t>Implicit wait</a:t>
            </a:r>
            <a:endParaRPr lang="en-US" sz="3200" dirty="0">
              <a:solidFill>
                <a:schemeClr val="bg1"/>
              </a:solidFill>
            </a:endParaRPr>
          </a:p>
        </p:txBody>
      </p:sp>
    </p:spTree>
    <p:extLst>
      <p:ext uri="{BB962C8B-B14F-4D97-AF65-F5344CB8AC3E}">
        <p14:creationId xmlns:p14="http://schemas.microsoft.com/office/powerpoint/2010/main" val="69421837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97662" y="2315931"/>
            <a:ext cx="9993084" cy="1200329"/>
          </a:xfrm>
          <a:prstGeom prst="rect">
            <a:avLst/>
          </a:prstGeom>
        </p:spPr>
        <p:txBody>
          <a:bodyPr wrap="square">
            <a:spAutoFit/>
          </a:bodyPr>
          <a:lstStyle/>
          <a:p>
            <a:pPr marL="285750" lvl="0" indent="-285750">
              <a:buFont typeface="Arial" panose="020B0604020202020204" pitchFamily="34" charset="0"/>
              <a:buChar char="•"/>
            </a:pPr>
            <a:r>
              <a:rPr lang="en-US" dirty="0"/>
              <a:t>An explicit wait is a code you define to wait for a certain condition to occur before proceeding further in the </a:t>
            </a:r>
            <a:r>
              <a:rPr lang="en-US" dirty="0" smtClean="0"/>
              <a:t>code</a:t>
            </a:r>
          </a:p>
          <a:p>
            <a:pPr marL="285750" lvl="0" indent="-285750">
              <a:buFont typeface="Arial" panose="020B0604020202020204" pitchFamily="34" charset="0"/>
              <a:buChar char="•"/>
            </a:pPr>
            <a:r>
              <a:rPr lang="en-US" dirty="0"/>
              <a:t>There are some convenience methods provided that help you write code that will wait only as long as required.</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p:cNvSpPr txBox="1"/>
          <p:nvPr/>
        </p:nvSpPr>
        <p:spPr>
          <a:xfrm>
            <a:off x="1097662" y="800100"/>
            <a:ext cx="2489784" cy="584775"/>
          </a:xfrm>
          <a:prstGeom prst="rect">
            <a:avLst/>
          </a:prstGeom>
          <a:noFill/>
        </p:spPr>
        <p:txBody>
          <a:bodyPr wrap="none" rtlCol="0">
            <a:spAutoFit/>
          </a:bodyPr>
          <a:lstStyle/>
          <a:p>
            <a:r>
              <a:rPr lang="en-US" sz="3200" dirty="0" smtClean="0">
                <a:solidFill>
                  <a:schemeClr val="bg1"/>
                </a:solidFill>
              </a:rPr>
              <a:t>Explicit wait</a:t>
            </a:r>
            <a:endParaRPr lang="en-US" sz="3200" dirty="0">
              <a:solidFill>
                <a:schemeClr val="bg1"/>
              </a:solidFill>
            </a:endParaRPr>
          </a:p>
        </p:txBody>
      </p:sp>
      <p:sp>
        <p:nvSpPr>
          <p:cNvPr id="6" name="Rectangle 5"/>
          <p:cNvSpPr/>
          <p:nvPr/>
        </p:nvSpPr>
        <p:spPr>
          <a:xfrm>
            <a:off x="1279037" y="4145729"/>
            <a:ext cx="8820150" cy="923330"/>
          </a:xfrm>
          <a:prstGeom prst="rect">
            <a:avLst/>
          </a:prstGeom>
        </p:spPr>
        <p:txBody>
          <a:bodyPr wrap="square">
            <a:spAutoFit/>
          </a:bodyPr>
          <a:lstStyle/>
          <a:p>
            <a:r>
              <a:rPr lang="en-US" dirty="0"/>
              <a:t>element = </a:t>
            </a:r>
            <a:r>
              <a:rPr lang="en-US" dirty="0" err="1"/>
              <a:t>WebDriverWait</a:t>
            </a:r>
            <a:r>
              <a:rPr lang="en-US" dirty="0"/>
              <a:t>(driver, 10).until(</a:t>
            </a:r>
          </a:p>
          <a:p>
            <a:r>
              <a:rPr lang="en-US" dirty="0"/>
              <a:t>        </a:t>
            </a:r>
            <a:r>
              <a:rPr lang="en-US" dirty="0" err="1"/>
              <a:t>EC.presence_of_element_located</a:t>
            </a:r>
            <a:r>
              <a:rPr lang="en-US" dirty="0"/>
              <a:t>((By.ID, "</a:t>
            </a:r>
            <a:r>
              <a:rPr lang="en-US" dirty="0" err="1"/>
              <a:t>myDynamicElement</a:t>
            </a:r>
            <a:r>
              <a:rPr lang="en-US" dirty="0"/>
              <a:t>"))</a:t>
            </a:r>
          </a:p>
          <a:p>
            <a:r>
              <a:rPr lang="en-US" dirty="0"/>
              <a:t>    )</a:t>
            </a:r>
          </a:p>
        </p:txBody>
      </p:sp>
    </p:spTree>
    <p:extLst>
      <p:ext uri="{BB962C8B-B14F-4D97-AF65-F5344CB8AC3E}">
        <p14:creationId xmlns:p14="http://schemas.microsoft.com/office/powerpoint/2010/main" val="227621092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1">
                <a:lumMod val="5000"/>
                <a:lumOff val="95000"/>
              </a:schemeClr>
            </a:gs>
            <a:gs pos="0">
              <a:schemeClr val="accent1">
                <a:lumMod val="45000"/>
                <a:lumOff val="55000"/>
              </a:schemeClr>
            </a:gs>
            <a:gs pos="6000">
              <a:schemeClr val="bg1"/>
            </a:gs>
            <a:gs pos="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Rectangle 1"/>
          <p:cNvSpPr/>
          <p:nvPr/>
        </p:nvSpPr>
        <p:spPr>
          <a:xfrm>
            <a:off x="1724024" y="1180743"/>
            <a:ext cx="9858376" cy="3693319"/>
          </a:xfrm>
          <a:prstGeom prst="rect">
            <a:avLst/>
          </a:prstGeom>
        </p:spPr>
        <p:txBody>
          <a:bodyPr wrap="square">
            <a:spAutoFit/>
          </a:bodyPr>
          <a:lstStyle/>
          <a:p>
            <a:r>
              <a:rPr lang="en-US" dirty="0"/>
              <a:t>from selenium import </a:t>
            </a:r>
            <a:r>
              <a:rPr lang="en-US" dirty="0" err="1"/>
              <a:t>webdriver</a:t>
            </a:r>
            <a:endParaRPr lang="en-US" dirty="0"/>
          </a:p>
          <a:p>
            <a:r>
              <a:rPr lang="en-US" dirty="0"/>
              <a:t>from selenium.webdriver.common.by import By</a:t>
            </a:r>
          </a:p>
          <a:p>
            <a:r>
              <a:rPr lang="en-US" dirty="0"/>
              <a:t>from </a:t>
            </a:r>
            <a:r>
              <a:rPr lang="en-US" dirty="0" err="1"/>
              <a:t>selenium.webdriver.support.ui</a:t>
            </a:r>
            <a:r>
              <a:rPr lang="en-US" dirty="0"/>
              <a:t> import </a:t>
            </a:r>
            <a:r>
              <a:rPr lang="en-US" dirty="0" err="1"/>
              <a:t>WebDriverWait</a:t>
            </a:r>
            <a:endParaRPr lang="en-US" dirty="0"/>
          </a:p>
          <a:p>
            <a:r>
              <a:rPr lang="en-US" dirty="0"/>
              <a:t>from </a:t>
            </a:r>
            <a:r>
              <a:rPr lang="en-US" dirty="0" err="1"/>
              <a:t>selenium.webdriver.support</a:t>
            </a:r>
            <a:r>
              <a:rPr lang="en-US" dirty="0"/>
              <a:t> import </a:t>
            </a:r>
            <a:r>
              <a:rPr lang="en-US" dirty="0" err="1"/>
              <a:t>expected_conditions</a:t>
            </a:r>
            <a:r>
              <a:rPr lang="en-US" dirty="0"/>
              <a:t> as EC</a:t>
            </a:r>
          </a:p>
          <a:p>
            <a:endParaRPr lang="en-US" dirty="0"/>
          </a:p>
          <a:p>
            <a:r>
              <a:rPr lang="en-US" dirty="0"/>
              <a:t>driver = </a:t>
            </a:r>
            <a:r>
              <a:rPr lang="en-US" dirty="0" err="1"/>
              <a:t>webdriver.Firefox</a:t>
            </a:r>
            <a:r>
              <a:rPr lang="en-US" dirty="0"/>
              <a:t>()</a:t>
            </a:r>
          </a:p>
          <a:p>
            <a:r>
              <a:rPr lang="en-US" dirty="0" err="1"/>
              <a:t>driver.get</a:t>
            </a:r>
            <a:r>
              <a:rPr lang="en-US" dirty="0"/>
              <a:t>("http://somedomain/url_that_delays_loading")</a:t>
            </a:r>
          </a:p>
          <a:p>
            <a:r>
              <a:rPr lang="en-US" dirty="0"/>
              <a:t>try:</a:t>
            </a:r>
          </a:p>
          <a:p>
            <a:r>
              <a:rPr lang="en-US" dirty="0"/>
              <a:t>    element = </a:t>
            </a:r>
            <a:r>
              <a:rPr lang="en-US" dirty="0" err="1"/>
              <a:t>WebDriverWait</a:t>
            </a:r>
            <a:r>
              <a:rPr lang="en-US" dirty="0"/>
              <a:t>(driver, 10).until(</a:t>
            </a:r>
          </a:p>
          <a:p>
            <a:r>
              <a:rPr lang="en-US" dirty="0"/>
              <a:t>        </a:t>
            </a:r>
            <a:r>
              <a:rPr lang="en-US" dirty="0" err="1"/>
              <a:t>EC.presence_of_element_located</a:t>
            </a:r>
            <a:r>
              <a:rPr lang="en-US" dirty="0"/>
              <a:t>((By.ID, "</a:t>
            </a:r>
            <a:r>
              <a:rPr lang="en-US" dirty="0" err="1"/>
              <a:t>myDynamicElement</a:t>
            </a:r>
            <a:r>
              <a:rPr lang="en-US" dirty="0"/>
              <a:t>"))</a:t>
            </a:r>
          </a:p>
          <a:p>
            <a:r>
              <a:rPr lang="en-US" dirty="0"/>
              <a:t>    )</a:t>
            </a:r>
          </a:p>
          <a:p>
            <a:r>
              <a:rPr lang="en-US" dirty="0"/>
              <a:t>finally:</a:t>
            </a:r>
          </a:p>
          <a:p>
            <a:r>
              <a:rPr lang="en-US" dirty="0"/>
              <a:t>    </a:t>
            </a:r>
            <a:r>
              <a:rPr lang="en-US" dirty="0" err="1"/>
              <a:t>driver.quit</a:t>
            </a:r>
            <a:r>
              <a:rPr lang="en-US" dirty="0"/>
              <a:t>()</a:t>
            </a:r>
          </a:p>
        </p:txBody>
      </p:sp>
    </p:spTree>
    <p:extLst>
      <p:ext uri="{BB962C8B-B14F-4D97-AF65-F5344CB8AC3E}">
        <p14:creationId xmlns:p14="http://schemas.microsoft.com/office/powerpoint/2010/main" val="169893937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1">
                <a:lumMod val="5000"/>
                <a:lumOff val="95000"/>
              </a:schemeClr>
            </a:gs>
            <a:gs pos="0">
              <a:schemeClr val="accent1">
                <a:lumMod val="45000"/>
                <a:lumOff val="55000"/>
              </a:schemeClr>
            </a:gs>
            <a:gs pos="6000">
              <a:schemeClr val="bg1"/>
            </a:gs>
            <a:gs pos="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Rectangle 1"/>
          <p:cNvSpPr/>
          <p:nvPr/>
        </p:nvSpPr>
        <p:spPr>
          <a:xfrm>
            <a:off x="1724024" y="1180743"/>
            <a:ext cx="9858376" cy="5632311"/>
          </a:xfrm>
          <a:prstGeom prst="rect">
            <a:avLst/>
          </a:prstGeom>
        </p:spPr>
        <p:txBody>
          <a:bodyPr wrap="square">
            <a:spAutoFit/>
          </a:bodyPr>
          <a:lstStyle/>
          <a:p>
            <a:r>
              <a:rPr lang="en-US" b="1" dirty="0" smtClean="0"/>
              <a:t>List of expected conditions commonly used in explicit wait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err="1" smtClean="0"/>
              <a:t>title_contains</a:t>
            </a:r>
            <a:endParaRPr lang="en-US" dirty="0"/>
          </a:p>
          <a:p>
            <a:pPr marL="285750" indent="-285750">
              <a:buFont typeface="Arial" panose="020B0604020202020204" pitchFamily="34" charset="0"/>
              <a:buChar char="•"/>
            </a:pPr>
            <a:r>
              <a:rPr lang="en-US" dirty="0" err="1"/>
              <a:t>visibility_of_element_located</a:t>
            </a:r>
            <a:endParaRPr lang="en-US" dirty="0"/>
          </a:p>
          <a:p>
            <a:pPr marL="285750" indent="-285750">
              <a:buFont typeface="Arial" panose="020B0604020202020204" pitchFamily="34" charset="0"/>
              <a:buChar char="•"/>
            </a:pPr>
            <a:r>
              <a:rPr lang="en-US" dirty="0" err="1"/>
              <a:t>presence_of_element_located</a:t>
            </a:r>
            <a:endParaRPr lang="en-US" dirty="0"/>
          </a:p>
          <a:p>
            <a:pPr marL="285750" indent="-285750">
              <a:buFont typeface="Arial" panose="020B0604020202020204" pitchFamily="34" charset="0"/>
              <a:buChar char="•"/>
            </a:pPr>
            <a:r>
              <a:rPr lang="en-US" dirty="0" err="1"/>
              <a:t>title_is</a:t>
            </a:r>
            <a:endParaRPr lang="en-US" dirty="0"/>
          </a:p>
          <a:p>
            <a:pPr marL="285750" indent="-285750">
              <a:buFont typeface="Arial" panose="020B0604020202020204" pitchFamily="34" charset="0"/>
              <a:buChar char="•"/>
            </a:pPr>
            <a:r>
              <a:rPr lang="en-US" dirty="0" err="1"/>
              <a:t>visibility_of</a:t>
            </a:r>
            <a:endParaRPr lang="en-US" dirty="0"/>
          </a:p>
          <a:p>
            <a:pPr marL="285750" indent="-285750">
              <a:buFont typeface="Arial" panose="020B0604020202020204" pitchFamily="34" charset="0"/>
              <a:buChar char="•"/>
            </a:pPr>
            <a:r>
              <a:rPr lang="en-US" dirty="0" err="1"/>
              <a:t>element_selection_state_to_be</a:t>
            </a:r>
            <a:endParaRPr lang="en-US" dirty="0"/>
          </a:p>
          <a:p>
            <a:pPr marL="285750" indent="-285750">
              <a:buFont typeface="Arial" panose="020B0604020202020204" pitchFamily="34" charset="0"/>
              <a:buChar char="•"/>
            </a:pPr>
            <a:r>
              <a:rPr lang="en-US" dirty="0" err="1"/>
              <a:t>presence_of_all_elements_located</a:t>
            </a:r>
            <a:endParaRPr lang="en-US" dirty="0"/>
          </a:p>
          <a:p>
            <a:pPr marL="285750" indent="-285750">
              <a:buFont typeface="Arial" panose="020B0604020202020204" pitchFamily="34" charset="0"/>
              <a:buChar char="•"/>
            </a:pPr>
            <a:r>
              <a:rPr lang="en-US" dirty="0" err="1"/>
              <a:t>element_located_to_be_selected</a:t>
            </a:r>
            <a:endParaRPr lang="en-US" dirty="0"/>
          </a:p>
          <a:p>
            <a:pPr marL="285750" indent="-285750">
              <a:buFont typeface="Arial" panose="020B0604020202020204" pitchFamily="34" charset="0"/>
              <a:buChar char="•"/>
            </a:pPr>
            <a:r>
              <a:rPr lang="en-US" dirty="0" err="1"/>
              <a:t>alert_is_present</a:t>
            </a:r>
            <a:endParaRPr lang="en-US" dirty="0"/>
          </a:p>
          <a:p>
            <a:pPr marL="285750" indent="-285750">
              <a:buFont typeface="Arial" panose="020B0604020202020204" pitchFamily="34" charset="0"/>
              <a:buChar char="•"/>
            </a:pPr>
            <a:r>
              <a:rPr lang="en-US" dirty="0" err="1"/>
              <a:t>element_located_selection_state_to_be</a:t>
            </a:r>
            <a:endParaRPr lang="en-US" dirty="0"/>
          </a:p>
          <a:p>
            <a:pPr marL="285750" indent="-285750">
              <a:buFont typeface="Arial" panose="020B0604020202020204" pitchFamily="34" charset="0"/>
              <a:buChar char="•"/>
            </a:pPr>
            <a:r>
              <a:rPr lang="en-US" dirty="0" err="1" smtClean="0"/>
              <a:t>element_to_be_clickable</a:t>
            </a:r>
            <a:endParaRPr lang="en-US" dirty="0"/>
          </a:p>
          <a:p>
            <a:pPr marL="285750" indent="-285750">
              <a:buFont typeface="Arial" panose="020B0604020202020204" pitchFamily="34" charset="0"/>
              <a:buChar char="•"/>
            </a:pPr>
            <a:r>
              <a:rPr lang="en-US" dirty="0" err="1"/>
              <a:t>invisibility_of_element_located</a:t>
            </a:r>
            <a:endParaRPr lang="en-US" dirty="0"/>
          </a:p>
          <a:p>
            <a:pPr marL="285750" indent="-285750">
              <a:buFont typeface="Arial" panose="020B0604020202020204" pitchFamily="34" charset="0"/>
              <a:buChar char="•"/>
            </a:pPr>
            <a:r>
              <a:rPr lang="en-US" dirty="0" err="1"/>
              <a:t>frame_to_be_available_and_switch_to_it</a:t>
            </a:r>
            <a:endParaRPr lang="en-US" dirty="0"/>
          </a:p>
          <a:p>
            <a:pPr marL="285750" indent="-285750">
              <a:buFont typeface="Arial" panose="020B0604020202020204" pitchFamily="34" charset="0"/>
              <a:buChar char="•"/>
            </a:pPr>
            <a:r>
              <a:rPr lang="en-US" dirty="0" err="1"/>
              <a:t>text_to_be_present_in_element_value</a:t>
            </a:r>
            <a:endParaRPr lang="en-US" dirty="0"/>
          </a:p>
          <a:p>
            <a:pPr marL="285750" indent="-285750">
              <a:buFont typeface="Arial" panose="020B0604020202020204" pitchFamily="34" charset="0"/>
              <a:buChar char="•"/>
            </a:pPr>
            <a:r>
              <a:rPr lang="en-US" dirty="0" err="1"/>
              <a:t>text_to_be_present_in_element</a:t>
            </a:r>
            <a:endParaRPr lang="en-US" dirty="0"/>
          </a:p>
          <a:p>
            <a:pPr marL="285750" indent="-285750">
              <a:buFont typeface="Arial" panose="020B0604020202020204" pitchFamily="34" charset="0"/>
              <a:buChar char="•"/>
            </a:pPr>
            <a:r>
              <a:rPr lang="en-US" dirty="0" err="1"/>
              <a:t>element_to_be_selected</a:t>
            </a:r>
            <a:endParaRPr lang="en-US" dirty="0"/>
          </a:p>
          <a:p>
            <a:r>
              <a:rPr lang="en-US" dirty="0"/>
              <a:t/>
            </a:r>
            <a:br>
              <a:rPr lang="en-US" dirty="0"/>
            </a:br>
            <a:endParaRPr lang="en-US" dirty="0"/>
          </a:p>
        </p:txBody>
      </p:sp>
    </p:spTree>
    <p:extLst>
      <p:ext uri="{BB962C8B-B14F-4D97-AF65-F5344CB8AC3E}">
        <p14:creationId xmlns:p14="http://schemas.microsoft.com/office/powerpoint/2010/main" val="294813992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97662" y="800100"/>
            <a:ext cx="1268296" cy="584775"/>
          </a:xfrm>
          <a:prstGeom prst="rect">
            <a:avLst/>
          </a:prstGeom>
          <a:noFill/>
        </p:spPr>
        <p:txBody>
          <a:bodyPr wrap="none" rtlCol="0">
            <a:spAutoFit/>
          </a:bodyPr>
          <a:lstStyle/>
          <a:p>
            <a:r>
              <a:rPr lang="en-US" sz="3200" dirty="0" smtClean="0">
                <a:solidFill>
                  <a:schemeClr val="bg1"/>
                </a:solidFill>
              </a:rPr>
              <a:t>Table</a:t>
            </a:r>
            <a:endParaRPr lang="en-US" sz="3200" dirty="0">
              <a:solidFill>
                <a:schemeClr val="bg1"/>
              </a:solidFill>
            </a:endParaRPr>
          </a:p>
        </p:txBody>
      </p:sp>
      <p:sp>
        <p:nvSpPr>
          <p:cNvPr id="7" name="TextBox 6"/>
          <p:cNvSpPr txBox="1"/>
          <p:nvPr/>
        </p:nvSpPr>
        <p:spPr>
          <a:xfrm>
            <a:off x="1097662" y="2392218"/>
            <a:ext cx="4540025" cy="646331"/>
          </a:xfrm>
          <a:prstGeom prst="rect">
            <a:avLst/>
          </a:prstGeom>
          <a:noFill/>
        </p:spPr>
        <p:txBody>
          <a:bodyPr wrap="none" rtlCol="0">
            <a:spAutoFit/>
          </a:bodyPr>
          <a:lstStyle/>
          <a:p>
            <a:r>
              <a:rPr lang="en-US" dirty="0" smtClean="0"/>
              <a:t>Table is collection of rows and columns</a:t>
            </a:r>
          </a:p>
          <a:p>
            <a:endParaRPr lang="en-US" dirty="0"/>
          </a:p>
        </p:txBody>
      </p:sp>
      <p:pic>
        <p:nvPicPr>
          <p:cNvPr id="8" name="Picture 7"/>
          <p:cNvPicPr>
            <a:picLocks noChangeAspect="1"/>
          </p:cNvPicPr>
          <p:nvPr/>
        </p:nvPicPr>
        <p:blipFill rotWithShape="1">
          <a:blip r:embed="rId3"/>
          <a:srcRect l="288" r="-288" b="55446"/>
          <a:stretch/>
        </p:blipFill>
        <p:spPr>
          <a:xfrm>
            <a:off x="1097662" y="3310100"/>
            <a:ext cx="9631136" cy="1298845"/>
          </a:xfrm>
          <a:prstGeom prst="rect">
            <a:avLst/>
          </a:prstGeom>
        </p:spPr>
      </p:pic>
      <p:pic>
        <p:nvPicPr>
          <p:cNvPr id="9" name="Picture 8"/>
          <p:cNvPicPr>
            <a:picLocks noChangeAspect="1"/>
          </p:cNvPicPr>
          <p:nvPr/>
        </p:nvPicPr>
        <p:blipFill>
          <a:blip r:embed="rId4"/>
          <a:stretch>
            <a:fillRect/>
          </a:stretch>
        </p:blipFill>
        <p:spPr>
          <a:xfrm>
            <a:off x="1097662" y="5163309"/>
            <a:ext cx="9766563" cy="1477635"/>
          </a:xfrm>
          <a:prstGeom prst="rect">
            <a:avLst/>
          </a:prstGeom>
        </p:spPr>
      </p:pic>
    </p:spTree>
    <p:extLst>
      <p:ext uri="{BB962C8B-B14F-4D97-AF65-F5344CB8AC3E}">
        <p14:creationId xmlns:p14="http://schemas.microsoft.com/office/powerpoint/2010/main" val="357096274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97662" y="800100"/>
            <a:ext cx="3036409" cy="584775"/>
          </a:xfrm>
          <a:prstGeom prst="rect">
            <a:avLst/>
          </a:prstGeom>
          <a:noFill/>
        </p:spPr>
        <p:txBody>
          <a:bodyPr wrap="none" rtlCol="0">
            <a:spAutoFit/>
          </a:bodyPr>
          <a:lstStyle/>
          <a:p>
            <a:r>
              <a:rPr lang="en-US" sz="3200" dirty="0" smtClean="0">
                <a:solidFill>
                  <a:schemeClr val="bg1"/>
                </a:solidFill>
              </a:rPr>
              <a:t>Scrolling page</a:t>
            </a:r>
            <a:endParaRPr lang="en-US" sz="3200" dirty="0">
              <a:solidFill>
                <a:schemeClr val="bg1"/>
              </a:solidFill>
            </a:endParaRPr>
          </a:p>
        </p:txBody>
      </p:sp>
      <p:sp>
        <p:nvSpPr>
          <p:cNvPr id="7" name="TextBox 6"/>
          <p:cNvSpPr txBox="1"/>
          <p:nvPr/>
        </p:nvSpPr>
        <p:spPr>
          <a:xfrm>
            <a:off x="1097662" y="2392218"/>
            <a:ext cx="9257663" cy="3693319"/>
          </a:xfrm>
          <a:prstGeom prst="rect">
            <a:avLst/>
          </a:prstGeom>
          <a:noFill/>
        </p:spPr>
        <p:txBody>
          <a:bodyPr wrap="none" rtlCol="0">
            <a:spAutoFit/>
          </a:bodyPr>
          <a:lstStyle/>
          <a:p>
            <a:pPr marL="285750" indent="-285750">
              <a:buFont typeface="Arial" panose="020B0604020202020204" pitchFamily="34" charset="0"/>
              <a:buChar char="•"/>
            </a:pPr>
            <a:r>
              <a:rPr lang="en-US" dirty="0" smtClean="0"/>
              <a:t>Scroll down the page  by pixel</a:t>
            </a:r>
          </a:p>
          <a:p>
            <a:r>
              <a:rPr lang="en-US" dirty="0" smtClean="0"/>
              <a:t>	 </a:t>
            </a:r>
            <a:r>
              <a:rPr lang="en-US" dirty="0" err="1" smtClean="0"/>
              <a:t>driver.execute_script</a:t>
            </a:r>
            <a:r>
              <a:rPr lang="en-US" dirty="0" smtClean="0"/>
              <a:t>(“</a:t>
            </a:r>
            <a:r>
              <a:rPr lang="en-US" dirty="0" err="1" smtClean="0"/>
              <a:t>window.scrollBy</a:t>
            </a:r>
            <a:r>
              <a:rPr lang="en-US" dirty="0" smtClean="0"/>
              <a:t>(0,1000)”, “")</a:t>
            </a:r>
          </a:p>
          <a:p>
            <a:endParaRPr lang="en-US" dirty="0"/>
          </a:p>
          <a:p>
            <a:pPr marL="285750" indent="-285750">
              <a:buFont typeface="Arial" panose="020B0604020202020204" pitchFamily="34" charset="0"/>
              <a:buChar char="•"/>
            </a:pPr>
            <a:r>
              <a:rPr lang="en-US" dirty="0" smtClean="0"/>
              <a:t>Scroll down the page till element found</a:t>
            </a:r>
          </a:p>
          <a:p>
            <a:pPr lvl="1"/>
            <a:r>
              <a:rPr lang="en-US" dirty="0" smtClean="0"/>
              <a:t>	element </a:t>
            </a:r>
            <a:r>
              <a:rPr lang="en-US" dirty="0"/>
              <a:t>= </a:t>
            </a:r>
            <a:r>
              <a:rPr lang="en-US" dirty="0" err="1"/>
              <a:t>driver.find_element</a:t>
            </a:r>
            <a:r>
              <a:rPr lang="en-US" dirty="0"/>
              <a:t>(By.ID, "id")</a:t>
            </a:r>
            <a:endParaRPr lang="en-US" dirty="0" smtClean="0"/>
          </a:p>
          <a:p>
            <a:pPr lvl="1"/>
            <a:r>
              <a:rPr lang="en-US" dirty="0"/>
              <a:t>	 </a:t>
            </a:r>
            <a:r>
              <a:rPr lang="en-US" dirty="0" err="1"/>
              <a:t>driver.execute_script</a:t>
            </a:r>
            <a:r>
              <a:rPr lang="en-US" dirty="0" smtClean="0"/>
              <a:t>(“arguments[0].</a:t>
            </a:r>
            <a:r>
              <a:rPr lang="en-US" dirty="0" err="1" smtClean="0"/>
              <a:t>scrollIntoView</a:t>
            </a:r>
            <a:r>
              <a:rPr lang="en-US" dirty="0" smtClean="0"/>
              <a:t>();”, element)</a:t>
            </a:r>
          </a:p>
          <a:p>
            <a:pPr lvl="1"/>
            <a:r>
              <a:rPr lang="en-US" dirty="0"/>
              <a:t>	</a:t>
            </a:r>
            <a:r>
              <a:rPr lang="en-US" dirty="0" smtClean="0"/>
              <a:t># element is actual element of page located with any selector</a:t>
            </a:r>
          </a:p>
          <a:p>
            <a:endParaRPr lang="en-US" dirty="0" smtClean="0"/>
          </a:p>
          <a:p>
            <a:pPr marL="285750" indent="-285750">
              <a:buFont typeface="Arial" panose="020B0604020202020204" pitchFamily="34" charset="0"/>
              <a:buChar char="•"/>
            </a:pPr>
            <a:r>
              <a:rPr lang="en-US" dirty="0" smtClean="0"/>
              <a:t>Scroll to end of page</a:t>
            </a:r>
          </a:p>
          <a:p>
            <a:pPr lvl="1"/>
            <a:r>
              <a:rPr lang="en-US" dirty="0"/>
              <a:t>	</a:t>
            </a:r>
            <a:r>
              <a:rPr lang="en-US" dirty="0" smtClean="0"/>
              <a:t> </a:t>
            </a:r>
            <a:r>
              <a:rPr lang="en-US" dirty="0" err="1" smtClean="0"/>
              <a:t>driver.execute_script</a:t>
            </a:r>
            <a:r>
              <a:rPr lang="en-US" dirty="0" smtClean="0"/>
              <a:t>(“</a:t>
            </a:r>
            <a:r>
              <a:rPr lang="en-US" dirty="0" err="1" smtClean="0"/>
              <a:t>window.scrollBy</a:t>
            </a:r>
            <a:r>
              <a:rPr lang="en-US" dirty="0" smtClean="0"/>
              <a:t>(0, </a:t>
            </a:r>
            <a:r>
              <a:rPr lang="en-US" dirty="0" err="1" smtClean="0"/>
              <a:t>document.body.scrollHeight</a:t>
            </a:r>
            <a:r>
              <a:rPr lang="en-US" dirty="0" smtClean="0"/>
              <a:t>)”)</a:t>
            </a:r>
          </a:p>
          <a:p>
            <a:pPr lvl="1"/>
            <a:endParaRPr lang="en-US" dirty="0"/>
          </a:p>
          <a:p>
            <a:pPr lvl="1"/>
            <a:endParaRPr lang="en-US" dirty="0"/>
          </a:p>
          <a:p>
            <a:endParaRPr lang="en-US" dirty="0"/>
          </a:p>
        </p:txBody>
      </p:sp>
    </p:spTree>
    <p:extLst>
      <p:ext uri="{BB962C8B-B14F-4D97-AF65-F5344CB8AC3E}">
        <p14:creationId xmlns:p14="http://schemas.microsoft.com/office/powerpoint/2010/main" val="38652805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97662" y="800100"/>
            <a:ext cx="2929007" cy="584775"/>
          </a:xfrm>
          <a:prstGeom prst="rect">
            <a:avLst/>
          </a:prstGeom>
          <a:noFill/>
        </p:spPr>
        <p:txBody>
          <a:bodyPr wrap="none" rtlCol="0">
            <a:spAutoFit/>
          </a:bodyPr>
          <a:lstStyle/>
          <a:p>
            <a:r>
              <a:rPr lang="en-US" sz="3200" dirty="0" smtClean="0">
                <a:solidFill>
                  <a:schemeClr val="bg1"/>
                </a:solidFill>
              </a:rPr>
              <a:t>Mouse Action</a:t>
            </a:r>
            <a:endParaRPr lang="en-US" sz="3200" dirty="0">
              <a:solidFill>
                <a:schemeClr val="bg1"/>
              </a:solidFill>
            </a:endParaRPr>
          </a:p>
        </p:txBody>
      </p:sp>
      <p:sp>
        <p:nvSpPr>
          <p:cNvPr id="7" name="TextBox 6"/>
          <p:cNvSpPr txBox="1"/>
          <p:nvPr/>
        </p:nvSpPr>
        <p:spPr>
          <a:xfrm>
            <a:off x="1097662" y="2327563"/>
            <a:ext cx="10464724" cy="4247317"/>
          </a:xfrm>
          <a:prstGeom prst="rect">
            <a:avLst/>
          </a:prstGeom>
          <a:noFill/>
        </p:spPr>
        <p:txBody>
          <a:bodyPr wrap="none" rtlCol="0">
            <a:spAutoFit/>
          </a:bodyPr>
          <a:lstStyle/>
          <a:p>
            <a:pPr lvl="1"/>
            <a:r>
              <a:rPr lang="en-US" dirty="0" smtClean="0"/>
              <a:t>Module  - from </a:t>
            </a:r>
            <a:r>
              <a:rPr lang="en-US" dirty="0" err="1" smtClean="0"/>
              <a:t>selenium.webdriver</a:t>
            </a:r>
            <a:r>
              <a:rPr lang="en-US" dirty="0" smtClean="0"/>
              <a:t> import </a:t>
            </a:r>
            <a:r>
              <a:rPr lang="en-US" dirty="0" err="1" smtClean="0"/>
              <a:t>ActionChains</a:t>
            </a:r>
            <a:endParaRPr lang="en-US" dirty="0"/>
          </a:p>
          <a:p>
            <a:pPr lvl="1"/>
            <a:endParaRPr lang="en-US" dirty="0"/>
          </a:p>
          <a:p>
            <a:pPr marL="285750" indent="-285750">
              <a:buFont typeface="Arial" panose="020B0604020202020204" pitchFamily="34" charset="0"/>
              <a:buChar char="•"/>
            </a:pPr>
            <a:r>
              <a:rPr lang="en-US" b="1" dirty="0" err="1" smtClean="0"/>
              <a:t>MouseHover</a:t>
            </a:r>
            <a:r>
              <a:rPr lang="en-US" b="1" dirty="0" smtClean="0"/>
              <a:t> </a:t>
            </a:r>
          </a:p>
          <a:p>
            <a:endParaRPr lang="en-US" dirty="0" smtClean="0"/>
          </a:p>
          <a:p>
            <a:r>
              <a:rPr lang="en-US" dirty="0"/>
              <a:t>a</a:t>
            </a:r>
            <a:r>
              <a:rPr lang="en-US" dirty="0" smtClean="0"/>
              <a:t>ctions = </a:t>
            </a:r>
            <a:r>
              <a:rPr lang="en-US" dirty="0" err="1" smtClean="0"/>
              <a:t>ActionChains</a:t>
            </a:r>
            <a:r>
              <a:rPr lang="en-US" dirty="0" smtClean="0"/>
              <a:t>(driver)</a:t>
            </a:r>
          </a:p>
          <a:p>
            <a:r>
              <a:rPr lang="en-US" dirty="0" err="1"/>
              <a:t>a</a:t>
            </a:r>
            <a:r>
              <a:rPr lang="en-US" dirty="0" err="1" smtClean="0"/>
              <a:t>ctions.</a:t>
            </a:r>
            <a:r>
              <a:rPr lang="en-US" b="1" dirty="0" err="1" smtClean="0"/>
              <a:t>move_to_element</a:t>
            </a:r>
            <a:r>
              <a:rPr lang="en-US" dirty="0" smtClean="0"/>
              <a:t>(</a:t>
            </a:r>
            <a:r>
              <a:rPr lang="en-US" dirty="0" err="1" smtClean="0"/>
              <a:t>firstElement</a:t>
            </a:r>
            <a:r>
              <a:rPr lang="en-US" dirty="0" smtClean="0"/>
              <a:t>).</a:t>
            </a:r>
            <a:r>
              <a:rPr lang="en-US" dirty="0"/>
              <a:t> </a:t>
            </a:r>
            <a:r>
              <a:rPr lang="en-US" dirty="0" err="1" smtClean="0"/>
              <a:t>move_to_element</a:t>
            </a:r>
            <a:r>
              <a:rPr lang="en-US" dirty="0" smtClean="0"/>
              <a:t>(</a:t>
            </a:r>
            <a:r>
              <a:rPr lang="en-US" dirty="0" err="1" smtClean="0"/>
              <a:t>secondElement</a:t>
            </a:r>
            <a:r>
              <a:rPr lang="en-US" dirty="0" smtClean="0"/>
              <a:t>).click().perform()</a:t>
            </a:r>
          </a:p>
          <a:p>
            <a:endParaRPr lang="en-US" dirty="0"/>
          </a:p>
          <a:p>
            <a:r>
              <a:rPr lang="en-US" dirty="0" smtClean="0"/>
              <a:t>#until you call perform() click operation will not happen</a:t>
            </a:r>
          </a:p>
          <a:p>
            <a:endParaRPr lang="en-US" dirty="0"/>
          </a:p>
          <a:p>
            <a:pPr marL="285750" indent="-285750">
              <a:buFont typeface="Arial" panose="020B0604020202020204" pitchFamily="34" charset="0"/>
              <a:buChar char="•"/>
            </a:pPr>
            <a:r>
              <a:rPr lang="en-US" b="1" dirty="0"/>
              <a:t>Double </a:t>
            </a:r>
            <a:r>
              <a:rPr lang="en-US" b="1" dirty="0" smtClean="0"/>
              <a:t>click</a:t>
            </a:r>
          </a:p>
          <a:p>
            <a:pPr marL="285750" indent="-285750">
              <a:buFont typeface="Arial" panose="020B0604020202020204" pitchFamily="34" charset="0"/>
              <a:buChar char="•"/>
            </a:pPr>
            <a:endParaRPr lang="en-US" b="1" dirty="0"/>
          </a:p>
          <a:p>
            <a:r>
              <a:rPr lang="en-US" dirty="0" smtClean="0"/>
              <a:t>	actions </a:t>
            </a:r>
            <a:r>
              <a:rPr lang="en-US" dirty="0"/>
              <a:t>= </a:t>
            </a:r>
            <a:r>
              <a:rPr lang="en-US" dirty="0" err="1"/>
              <a:t>ActionChains</a:t>
            </a:r>
            <a:r>
              <a:rPr lang="en-US" dirty="0"/>
              <a:t>(driver) # create instance/object of </a:t>
            </a:r>
            <a:r>
              <a:rPr lang="en-US" dirty="0" err="1"/>
              <a:t>ActionChain</a:t>
            </a:r>
            <a:endParaRPr lang="en-US" dirty="0" smtClean="0"/>
          </a:p>
          <a:p>
            <a:r>
              <a:rPr lang="en-US" dirty="0"/>
              <a:t>	</a:t>
            </a:r>
            <a:r>
              <a:rPr lang="en-US" dirty="0" err="1" smtClean="0"/>
              <a:t>actions.double_click</a:t>
            </a:r>
            <a:r>
              <a:rPr lang="en-US" dirty="0" smtClean="0"/>
              <a:t>(element).perform()</a:t>
            </a:r>
            <a:endParaRPr lang="en-US" dirty="0"/>
          </a:p>
          <a:p>
            <a:pPr marL="285750" indent="-285750">
              <a:buFont typeface="Arial" panose="020B0604020202020204" pitchFamily="34" charset="0"/>
              <a:buChar char="•"/>
            </a:pPr>
            <a:endParaRPr lang="en-US" b="1" dirty="0"/>
          </a:p>
          <a:p>
            <a:endParaRPr lang="en-US" dirty="0" smtClean="0"/>
          </a:p>
        </p:txBody>
      </p:sp>
    </p:spTree>
    <p:extLst>
      <p:ext uri="{BB962C8B-B14F-4D97-AF65-F5344CB8AC3E}">
        <p14:creationId xmlns:p14="http://schemas.microsoft.com/office/powerpoint/2010/main" val="358344514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97662" y="800100"/>
            <a:ext cx="2929007" cy="584775"/>
          </a:xfrm>
          <a:prstGeom prst="rect">
            <a:avLst/>
          </a:prstGeom>
          <a:noFill/>
        </p:spPr>
        <p:txBody>
          <a:bodyPr wrap="none" rtlCol="0">
            <a:spAutoFit/>
          </a:bodyPr>
          <a:lstStyle/>
          <a:p>
            <a:r>
              <a:rPr lang="en-US" sz="3200" dirty="0" smtClean="0">
                <a:solidFill>
                  <a:schemeClr val="bg1"/>
                </a:solidFill>
              </a:rPr>
              <a:t>Mouse Action</a:t>
            </a:r>
            <a:endParaRPr lang="en-US" sz="3200" dirty="0">
              <a:solidFill>
                <a:schemeClr val="bg1"/>
              </a:solidFill>
            </a:endParaRPr>
          </a:p>
        </p:txBody>
      </p:sp>
      <p:sp>
        <p:nvSpPr>
          <p:cNvPr id="7" name="TextBox 6"/>
          <p:cNvSpPr txBox="1"/>
          <p:nvPr/>
        </p:nvSpPr>
        <p:spPr>
          <a:xfrm>
            <a:off x="1097662" y="2327563"/>
            <a:ext cx="8307082" cy="3416320"/>
          </a:xfrm>
          <a:prstGeom prst="rect">
            <a:avLst/>
          </a:prstGeom>
          <a:noFill/>
        </p:spPr>
        <p:txBody>
          <a:bodyPr wrap="none" rtlCol="0">
            <a:spAutoFit/>
          </a:bodyPr>
          <a:lstStyle/>
          <a:p>
            <a:pPr lvl="1"/>
            <a:r>
              <a:rPr lang="en-US" dirty="0" smtClean="0"/>
              <a:t>Module  - from </a:t>
            </a:r>
            <a:r>
              <a:rPr lang="en-US" dirty="0" err="1" smtClean="0"/>
              <a:t>selenium.webdriver</a:t>
            </a:r>
            <a:r>
              <a:rPr lang="en-US" dirty="0" smtClean="0"/>
              <a:t> import </a:t>
            </a:r>
            <a:r>
              <a:rPr lang="en-US" dirty="0" err="1" smtClean="0"/>
              <a:t>ActionChains</a:t>
            </a:r>
            <a:endParaRPr lang="en-US" dirty="0"/>
          </a:p>
          <a:p>
            <a:pPr lvl="1"/>
            <a:endParaRPr lang="en-US" dirty="0"/>
          </a:p>
          <a:p>
            <a:pPr marL="285750" indent="-285750">
              <a:buFont typeface="Arial" panose="020B0604020202020204" pitchFamily="34" charset="0"/>
              <a:buChar char="•"/>
            </a:pPr>
            <a:r>
              <a:rPr lang="en-US" b="1" dirty="0" smtClean="0"/>
              <a:t>Right Click</a:t>
            </a:r>
            <a:endParaRPr lang="en-US" b="1" dirty="0"/>
          </a:p>
          <a:p>
            <a:endParaRPr lang="en-US" dirty="0" smtClean="0"/>
          </a:p>
          <a:p>
            <a:r>
              <a:rPr lang="en-US" dirty="0"/>
              <a:t>	actions = </a:t>
            </a:r>
            <a:r>
              <a:rPr lang="en-US" dirty="0" err="1"/>
              <a:t>ActionChains</a:t>
            </a:r>
            <a:r>
              <a:rPr lang="en-US" dirty="0"/>
              <a:t>(driver)</a:t>
            </a:r>
          </a:p>
          <a:p>
            <a:r>
              <a:rPr lang="en-US" dirty="0" smtClean="0"/>
              <a:t>	</a:t>
            </a:r>
            <a:r>
              <a:rPr lang="en-US" dirty="0" err="1" smtClean="0"/>
              <a:t>action.context_click</a:t>
            </a:r>
            <a:r>
              <a:rPr lang="en-US" dirty="0" smtClean="0"/>
              <a:t>(</a:t>
            </a:r>
            <a:r>
              <a:rPr lang="en-US" dirty="0" err="1" smtClean="0"/>
              <a:t>buttonElement</a:t>
            </a:r>
            <a:r>
              <a:rPr lang="en-US" dirty="0" smtClean="0"/>
              <a:t>).perform()</a:t>
            </a:r>
          </a:p>
          <a:p>
            <a:endParaRPr lang="en-US" dirty="0"/>
          </a:p>
          <a:p>
            <a:pPr marL="285750" indent="-285750">
              <a:buFont typeface="Arial" panose="020B0604020202020204" pitchFamily="34" charset="0"/>
              <a:buChar char="•"/>
            </a:pPr>
            <a:r>
              <a:rPr lang="en-US" b="1" dirty="0" smtClean="0"/>
              <a:t>Drag and Drop</a:t>
            </a:r>
            <a:endParaRPr lang="en-US" b="1" dirty="0"/>
          </a:p>
          <a:p>
            <a:endParaRPr lang="en-US" dirty="0"/>
          </a:p>
          <a:p>
            <a:r>
              <a:rPr lang="en-US" dirty="0"/>
              <a:t>	actions = </a:t>
            </a:r>
            <a:r>
              <a:rPr lang="en-US" dirty="0" err="1"/>
              <a:t>ActionChains</a:t>
            </a:r>
            <a:r>
              <a:rPr lang="en-US" dirty="0"/>
              <a:t>(driver</a:t>
            </a:r>
            <a:r>
              <a:rPr lang="en-US" dirty="0" smtClean="0"/>
              <a:t>)</a:t>
            </a:r>
          </a:p>
          <a:p>
            <a:r>
              <a:rPr lang="en-US" dirty="0"/>
              <a:t>	</a:t>
            </a:r>
            <a:r>
              <a:rPr lang="en-US" dirty="0" err="1" smtClean="0"/>
              <a:t>actions.drag_and_drop</a:t>
            </a:r>
            <a:r>
              <a:rPr lang="en-US" dirty="0" smtClean="0"/>
              <a:t>(</a:t>
            </a:r>
            <a:r>
              <a:rPr lang="en-US" dirty="0" err="1" smtClean="0"/>
              <a:t>source_element</a:t>
            </a:r>
            <a:r>
              <a:rPr lang="en-US" dirty="0" smtClean="0"/>
              <a:t>, </a:t>
            </a:r>
            <a:r>
              <a:rPr lang="en-US" dirty="0" err="1" smtClean="0"/>
              <a:t>target_element</a:t>
            </a:r>
            <a:r>
              <a:rPr lang="en-US" dirty="0" smtClean="0"/>
              <a:t>).perform() </a:t>
            </a:r>
            <a:endParaRPr lang="en-US" dirty="0"/>
          </a:p>
          <a:p>
            <a:endParaRPr lang="en-US" dirty="0" smtClean="0"/>
          </a:p>
        </p:txBody>
      </p:sp>
    </p:spTree>
    <p:extLst>
      <p:ext uri="{BB962C8B-B14F-4D97-AF65-F5344CB8AC3E}">
        <p14:creationId xmlns:p14="http://schemas.microsoft.com/office/powerpoint/2010/main" val="119247798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97662" y="800100"/>
            <a:ext cx="4764446" cy="584775"/>
          </a:xfrm>
          <a:prstGeom prst="rect">
            <a:avLst/>
          </a:prstGeom>
          <a:noFill/>
        </p:spPr>
        <p:txBody>
          <a:bodyPr wrap="none" rtlCol="0">
            <a:spAutoFit/>
          </a:bodyPr>
          <a:lstStyle/>
          <a:p>
            <a:r>
              <a:rPr lang="en-US" sz="3200" dirty="0" smtClean="0">
                <a:solidFill>
                  <a:schemeClr val="bg1"/>
                </a:solidFill>
              </a:rPr>
              <a:t>Upload and Download</a:t>
            </a:r>
            <a:endParaRPr lang="en-US" sz="3200" dirty="0">
              <a:solidFill>
                <a:schemeClr val="bg1"/>
              </a:solidFill>
            </a:endParaRPr>
          </a:p>
        </p:txBody>
      </p:sp>
      <p:sp>
        <p:nvSpPr>
          <p:cNvPr id="7" name="TextBox 6"/>
          <p:cNvSpPr txBox="1"/>
          <p:nvPr/>
        </p:nvSpPr>
        <p:spPr>
          <a:xfrm>
            <a:off x="1097662" y="2327563"/>
            <a:ext cx="4376519" cy="2308324"/>
          </a:xfrm>
          <a:prstGeom prst="rect">
            <a:avLst/>
          </a:prstGeom>
          <a:noFill/>
        </p:spPr>
        <p:txBody>
          <a:bodyPr wrap="none" rtlCol="0">
            <a:spAutoFit/>
          </a:bodyPr>
          <a:lstStyle/>
          <a:p>
            <a:pPr marL="285750" indent="-285750">
              <a:buFont typeface="Arial" panose="020B0604020202020204" pitchFamily="34" charset="0"/>
              <a:buChar char="•"/>
            </a:pPr>
            <a:r>
              <a:rPr lang="en-US" dirty="0" smtClean="0"/>
              <a:t>Upload file</a:t>
            </a:r>
          </a:p>
          <a:p>
            <a:pPr marL="285750" indent="-285750">
              <a:buFont typeface="Arial" panose="020B0604020202020204" pitchFamily="34" charset="0"/>
              <a:buChar char="•"/>
            </a:pPr>
            <a:endParaRPr lang="en-US" dirty="0"/>
          </a:p>
          <a:p>
            <a:pPr lvl="1"/>
            <a:r>
              <a:rPr lang="en-US" dirty="0" smtClean="0"/>
              <a:t>	</a:t>
            </a:r>
            <a:r>
              <a:rPr lang="en-US" dirty="0" err="1" smtClean="0"/>
              <a:t>element.send_keys</a:t>
            </a:r>
            <a:r>
              <a:rPr lang="en-US" dirty="0" smtClean="0"/>
              <a:t>(</a:t>
            </a:r>
            <a:r>
              <a:rPr lang="en-US" dirty="0" err="1" smtClean="0"/>
              <a:t>file_path</a:t>
            </a:r>
            <a:r>
              <a:rPr lang="en-US" dirty="0" smtClean="0"/>
              <a:t>)</a:t>
            </a:r>
          </a:p>
          <a:p>
            <a:pPr lvl="1"/>
            <a:endParaRPr lang="en-US" dirty="0"/>
          </a:p>
          <a:p>
            <a:pPr marL="285750" indent="-285750">
              <a:buFont typeface="Arial" panose="020B0604020202020204" pitchFamily="34" charset="0"/>
              <a:buChar char="•"/>
            </a:pPr>
            <a:r>
              <a:rPr lang="en-US" dirty="0" smtClean="0"/>
              <a:t>Download </a:t>
            </a:r>
            <a:r>
              <a:rPr lang="en-US" dirty="0"/>
              <a:t>file</a:t>
            </a:r>
          </a:p>
          <a:p>
            <a:pPr marL="285750" indent="-285750">
              <a:buFont typeface="Arial" panose="020B0604020202020204" pitchFamily="34" charset="0"/>
              <a:buChar char="•"/>
            </a:pPr>
            <a:endParaRPr lang="en-US" dirty="0"/>
          </a:p>
          <a:p>
            <a:pPr lvl="1"/>
            <a:r>
              <a:rPr lang="en-US" dirty="0"/>
              <a:t>	</a:t>
            </a:r>
            <a:r>
              <a:rPr lang="en-US" dirty="0" err="1" smtClean="0"/>
              <a:t>element.click</a:t>
            </a:r>
            <a:r>
              <a:rPr lang="en-US" dirty="0" smtClean="0"/>
              <a:t>()</a:t>
            </a:r>
            <a:endParaRPr lang="en-US" dirty="0"/>
          </a:p>
          <a:p>
            <a:pPr lvl="1"/>
            <a:endParaRPr lang="en-US" dirty="0" smtClean="0"/>
          </a:p>
        </p:txBody>
      </p:sp>
    </p:spTree>
    <p:extLst>
      <p:ext uri="{BB962C8B-B14F-4D97-AF65-F5344CB8AC3E}">
        <p14:creationId xmlns:p14="http://schemas.microsoft.com/office/powerpoint/2010/main" val="115635831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97662" y="800100"/>
            <a:ext cx="3536546" cy="584775"/>
          </a:xfrm>
          <a:prstGeom prst="rect">
            <a:avLst/>
          </a:prstGeom>
          <a:noFill/>
        </p:spPr>
        <p:txBody>
          <a:bodyPr wrap="none" rtlCol="0">
            <a:spAutoFit/>
          </a:bodyPr>
          <a:lstStyle/>
          <a:p>
            <a:r>
              <a:rPr lang="en-US" sz="3200" dirty="0" smtClean="0">
                <a:solidFill>
                  <a:schemeClr val="bg1"/>
                </a:solidFill>
              </a:rPr>
              <a:t>Excel Operations</a:t>
            </a:r>
            <a:endParaRPr lang="en-US" sz="3200" dirty="0">
              <a:solidFill>
                <a:schemeClr val="bg1"/>
              </a:solidFill>
            </a:endParaRPr>
          </a:p>
        </p:txBody>
      </p:sp>
      <p:sp>
        <p:nvSpPr>
          <p:cNvPr id="7" name="TextBox 6"/>
          <p:cNvSpPr txBox="1"/>
          <p:nvPr/>
        </p:nvSpPr>
        <p:spPr>
          <a:xfrm>
            <a:off x="1097662" y="2327563"/>
            <a:ext cx="3918060" cy="1477328"/>
          </a:xfrm>
          <a:prstGeom prst="rect">
            <a:avLst/>
          </a:prstGeom>
          <a:noFill/>
        </p:spPr>
        <p:txBody>
          <a:bodyPr wrap="none" rtlCol="0">
            <a:spAutoFit/>
          </a:bodyPr>
          <a:lstStyle/>
          <a:p>
            <a:pPr marL="285750" indent="-285750">
              <a:buFont typeface="Arial" panose="020B0604020202020204" pitchFamily="34" charset="0"/>
              <a:buChar char="•"/>
            </a:pPr>
            <a:r>
              <a:rPr lang="en-US" dirty="0" smtClean="0"/>
              <a:t>Read data from file</a:t>
            </a:r>
          </a:p>
          <a:p>
            <a:pPr marL="285750" indent="-285750">
              <a:buFont typeface="Arial" panose="020B0604020202020204" pitchFamily="34" charset="0"/>
              <a:buChar char="•"/>
            </a:pPr>
            <a:r>
              <a:rPr lang="en-US" dirty="0" smtClean="0"/>
              <a:t>Write data to file</a:t>
            </a:r>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r>
              <a:rPr lang="en-US" dirty="0" smtClean="0"/>
              <a:t>Install below module/package</a:t>
            </a:r>
            <a:endParaRPr lang="en-US" dirty="0"/>
          </a:p>
          <a:p>
            <a:pPr marL="742950" lvl="1" indent="-285750">
              <a:buFont typeface="Arial" panose="020B0604020202020204" pitchFamily="34" charset="0"/>
              <a:buChar char="•"/>
            </a:pPr>
            <a:r>
              <a:rPr lang="en-US" b="1" dirty="0"/>
              <a:t>pip install </a:t>
            </a:r>
            <a:r>
              <a:rPr lang="en-US" b="1" dirty="0" err="1"/>
              <a:t>openpyxl</a:t>
            </a:r>
            <a:r>
              <a:rPr lang="en-US" b="1" dirty="0"/>
              <a:t> </a:t>
            </a:r>
          </a:p>
        </p:txBody>
      </p:sp>
    </p:spTree>
    <p:extLst>
      <p:ext uri="{BB962C8B-B14F-4D97-AF65-F5344CB8AC3E}">
        <p14:creationId xmlns:p14="http://schemas.microsoft.com/office/powerpoint/2010/main" val="269089437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97662" y="800100"/>
            <a:ext cx="2379177" cy="584775"/>
          </a:xfrm>
          <a:prstGeom prst="rect">
            <a:avLst/>
          </a:prstGeom>
          <a:noFill/>
        </p:spPr>
        <p:txBody>
          <a:bodyPr wrap="none" rtlCol="0">
            <a:spAutoFit/>
          </a:bodyPr>
          <a:lstStyle/>
          <a:p>
            <a:r>
              <a:rPr lang="en-US" sz="3200" dirty="0" smtClean="0">
                <a:solidFill>
                  <a:schemeClr val="bg1"/>
                </a:solidFill>
              </a:rPr>
              <a:t>Screenshot</a:t>
            </a:r>
            <a:endParaRPr lang="en-US" sz="3200" dirty="0">
              <a:solidFill>
                <a:schemeClr val="bg1"/>
              </a:solidFill>
            </a:endParaRPr>
          </a:p>
        </p:txBody>
      </p:sp>
      <p:sp>
        <p:nvSpPr>
          <p:cNvPr id="7" name="TextBox 6"/>
          <p:cNvSpPr txBox="1"/>
          <p:nvPr/>
        </p:nvSpPr>
        <p:spPr>
          <a:xfrm>
            <a:off x="1097662" y="2327563"/>
            <a:ext cx="10713338" cy="2585323"/>
          </a:xfrm>
          <a:prstGeom prst="rect">
            <a:avLst/>
          </a:prstGeom>
          <a:noFill/>
        </p:spPr>
        <p:txBody>
          <a:bodyPr wrap="square" rtlCol="0">
            <a:spAutoFit/>
          </a:bodyPr>
          <a:lstStyle/>
          <a:p>
            <a:pPr marL="285750" indent="-285750">
              <a:buFont typeface="Arial" panose="020B0604020202020204" pitchFamily="34" charset="0"/>
              <a:buChar char="•"/>
            </a:pPr>
            <a:r>
              <a:rPr lang="en-US" b="1" dirty="0" err="1" smtClean="0"/>
              <a:t>driver.Save_screenshot</a:t>
            </a:r>
            <a:r>
              <a:rPr lang="en-US" b="1" dirty="0" smtClean="0"/>
              <a:t>(‘filename’)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err="1"/>
              <a:t>driver.</a:t>
            </a:r>
            <a:r>
              <a:rPr lang="en-US" b="1" dirty="0" err="1" smtClean="0"/>
              <a:t>Get_screenshot_as_file</a:t>
            </a:r>
            <a:r>
              <a:rPr lang="en-US" b="1" dirty="0" smtClean="0"/>
              <a:t>(‘filename’)    </a:t>
            </a:r>
            <a:r>
              <a:rPr lang="en-US" dirty="0" smtClean="0"/>
              <a:t>#filename could be any name given to file. If you provide file name with full path then file will be stored at location other wise will be at current working directory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58865380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97662" y="800100"/>
            <a:ext cx="1802096" cy="584775"/>
          </a:xfrm>
          <a:prstGeom prst="rect">
            <a:avLst/>
          </a:prstGeom>
          <a:noFill/>
        </p:spPr>
        <p:txBody>
          <a:bodyPr wrap="none" rtlCol="0">
            <a:spAutoFit/>
          </a:bodyPr>
          <a:lstStyle/>
          <a:p>
            <a:r>
              <a:rPr lang="en-US" sz="3200" dirty="0" smtClean="0">
                <a:solidFill>
                  <a:schemeClr val="bg1"/>
                </a:solidFill>
              </a:rPr>
              <a:t>Logging</a:t>
            </a:r>
            <a:endParaRPr lang="en-US" sz="3200" dirty="0">
              <a:solidFill>
                <a:schemeClr val="bg1"/>
              </a:solidFill>
            </a:endParaRPr>
          </a:p>
        </p:txBody>
      </p:sp>
      <p:sp>
        <p:nvSpPr>
          <p:cNvPr id="7" name="TextBox 6"/>
          <p:cNvSpPr txBox="1"/>
          <p:nvPr/>
        </p:nvSpPr>
        <p:spPr>
          <a:xfrm>
            <a:off x="1097663" y="2327563"/>
            <a:ext cx="10484738" cy="3970318"/>
          </a:xfrm>
          <a:prstGeom prst="rect">
            <a:avLst/>
          </a:prstGeom>
          <a:noFill/>
        </p:spPr>
        <p:txBody>
          <a:bodyPr wrap="square" rtlCol="0">
            <a:spAutoFit/>
          </a:bodyPr>
          <a:lstStyle/>
          <a:p>
            <a:pPr marL="285750" indent="-285750">
              <a:buFont typeface="Arial" panose="020B0604020202020204" pitchFamily="34" charset="0"/>
              <a:buChar char="•"/>
            </a:pPr>
            <a:r>
              <a:rPr lang="en-US" dirty="0" smtClean="0"/>
              <a:t>Write logs into file for future reference </a:t>
            </a:r>
          </a:p>
          <a:p>
            <a:pPr marL="285750" indent="-285750">
              <a:buFont typeface="Arial" panose="020B0604020202020204" pitchFamily="34" charset="0"/>
              <a:buChar char="•"/>
            </a:pPr>
            <a:r>
              <a:rPr lang="en-US" dirty="0" smtClean="0"/>
              <a:t>Logs need to debug or find what went right what went wrong</a:t>
            </a:r>
          </a:p>
          <a:p>
            <a:pPr marL="285750" indent="-285750">
              <a:buFont typeface="Arial" panose="020B0604020202020204" pitchFamily="34" charset="0"/>
              <a:buChar char="•"/>
            </a:pPr>
            <a:r>
              <a:rPr lang="en-US" dirty="0" smtClean="0"/>
              <a:t>With logs we can easily analyze errors or failures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smtClean="0"/>
              <a:t>Logging is very useful tool in a programmer’s toolbox. It can help you develop a better understanding of the flow of a program and discover scenarios that you might not even have thought of while developing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smtClean="0"/>
              <a:t>Log Levels</a:t>
            </a:r>
          </a:p>
          <a:p>
            <a:pPr marL="742950" lvl="1" indent="-285750">
              <a:buFont typeface="Arial" panose="020B0604020202020204" pitchFamily="34" charset="0"/>
              <a:buChar char="•"/>
            </a:pPr>
            <a:r>
              <a:rPr lang="en-US" dirty="0" smtClean="0"/>
              <a:t>DEBUG</a:t>
            </a:r>
          </a:p>
          <a:p>
            <a:pPr marL="742950" lvl="1" indent="-285750">
              <a:buFont typeface="Arial" panose="020B0604020202020204" pitchFamily="34" charset="0"/>
              <a:buChar char="•"/>
            </a:pPr>
            <a:r>
              <a:rPr lang="en-US" dirty="0" smtClean="0"/>
              <a:t>INFO</a:t>
            </a:r>
          </a:p>
          <a:p>
            <a:pPr marL="742950" lvl="1" indent="-285750">
              <a:buFont typeface="Arial" panose="020B0604020202020204" pitchFamily="34" charset="0"/>
              <a:buChar char="•"/>
            </a:pPr>
            <a:r>
              <a:rPr lang="en-US" dirty="0" smtClean="0"/>
              <a:t>WARNING</a:t>
            </a:r>
          </a:p>
          <a:p>
            <a:pPr marL="742950" lvl="1" indent="-285750">
              <a:buFont typeface="Arial" panose="020B0604020202020204" pitchFamily="34" charset="0"/>
              <a:buChar char="•"/>
            </a:pPr>
            <a:r>
              <a:rPr lang="en-US" dirty="0" smtClean="0"/>
              <a:t>ERROR</a:t>
            </a:r>
          </a:p>
          <a:p>
            <a:pPr marL="742950" lvl="1" indent="-285750">
              <a:buFont typeface="Arial" panose="020B0604020202020204" pitchFamily="34" charset="0"/>
              <a:buChar char="•"/>
            </a:pPr>
            <a:r>
              <a:rPr lang="en-US" dirty="0" smtClean="0"/>
              <a:t>CRITICAL</a:t>
            </a:r>
          </a:p>
        </p:txBody>
      </p:sp>
    </p:spTree>
    <p:extLst>
      <p:ext uri="{BB962C8B-B14F-4D97-AF65-F5344CB8AC3E}">
        <p14:creationId xmlns:p14="http://schemas.microsoft.com/office/powerpoint/2010/main" val="148172887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97662" y="800100"/>
            <a:ext cx="1802096" cy="584775"/>
          </a:xfrm>
          <a:prstGeom prst="rect">
            <a:avLst/>
          </a:prstGeom>
          <a:noFill/>
        </p:spPr>
        <p:txBody>
          <a:bodyPr wrap="none" rtlCol="0">
            <a:spAutoFit/>
          </a:bodyPr>
          <a:lstStyle/>
          <a:p>
            <a:r>
              <a:rPr lang="en-US" sz="3200" dirty="0" smtClean="0">
                <a:solidFill>
                  <a:schemeClr val="bg1"/>
                </a:solidFill>
              </a:rPr>
              <a:t>Logging</a:t>
            </a:r>
            <a:endParaRPr lang="en-US" sz="3200" dirty="0">
              <a:solidFill>
                <a:schemeClr val="bg1"/>
              </a:solidFill>
            </a:endParaRPr>
          </a:p>
        </p:txBody>
      </p:sp>
      <p:sp>
        <p:nvSpPr>
          <p:cNvPr id="7" name="TextBox 6"/>
          <p:cNvSpPr txBox="1"/>
          <p:nvPr/>
        </p:nvSpPr>
        <p:spPr>
          <a:xfrm>
            <a:off x="1106899" y="2327563"/>
            <a:ext cx="10484738" cy="3139321"/>
          </a:xfrm>
          <a:prstGeom prst="rect">
            <a:avLst/>
          </a:prstGeom>
          <a:noFill/>
        </p:spPr>
        <p:txBody>
          <a:bodyPr wrap="square" rtlCol="0">
            <a:spAutoFit/>
          </a:bodyPr>
          <a:lstStyle/>
          <a:p>
            <a:pPr marL="285750" indent="-285750">
              <a:buFont typeface="Arial" panose="020B0604020202020204" pitchFamily="34" charset="0"/>
              <a:buChar char="•"/>
            </a:pPr>
            <a:r>
              <a:rPr lang="en-US" dirty="0" smtClean="0"/>
              <a:t>Import logging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err="1" smtClean="0"/>
              <a:t>logging.debug</a:t>
            </a:r>
            <a:r>
              <a:rPr lang="en-US" dirty="0" smtClean="0"/>
              <a:t>(“This is debug </a:t>
            </a:r>
            <a:r>
              <a:rPr lang="en-US" dirty="0" err="1" smtClean="0"/>
              <a:t>msg</a:t>
            </a:r>
            <a:r>
              <a:rPr lang="en-US" dirty="0" smtClean="0"/>
              <a:t>”)</a:t>
            </a:r>
          </a:p>
          <a:p>
            <a:pPr marL="285750" indent="-285750">
              <a:buFont typeface="Arial" panose="020B0604020202020204" pitchFamily="34" charset="0"/>
              <a:buChar char="•"/>
            </a:pPr>
            <a:r>
              <a:rPr lang="en-US" dirty="0" smtClean="0"/>
              <a:t>logging.info(“</a:t>
            </a:r>
            <a:r>
              <a:rPr lang="en-US" dirty="0"/>
              <a:t>This is info</a:t>
            </a:r>
            <a:r>
              <a:rPr lang="en-US" dirty="0" smtClean="0"/>
              <a:t> </a:t>
            </a:r>
            <a:r>
              <a:rPr lang="en-US" dirty="0" err="1"/>
              <a:t>msg</a:t>
            </a:r>
            <a:r>
              <a:rPr lang="en-US" dirty="0"/>
              <a:t>”)</a:t>
            </a:r>
          </a:p>
          <a:p>
            <a:pPr marL="285750" indent="-285750">
              <a:buFont typeface="Arial" panose="020B0604020202020204" pitchFamily="34" charset="0"/>
              <a:buChar char="•"/>
            </a:pPr>
            <a:r>
              <a:rPr lang="en-US" dirty="0" err="1" smtClean="0"/>
              <a:t>logging.warning</a:t>
            </a:r>
            <a:r>
              <a:rPr lang="en-US" dirty="0" smtClean="0"/>
              <a:t>(“</a:t>
            </a:r>
            <a:r>
              <a:rPr lang="en-US" dirty="0"/>
              <a:t>This is warning</a:t>
            </a:r>
            <a:r>
              <a:rPr lang="en-US" dirty="0" smtClean="0"/>
              <a:t> </a:t>
            </a:r>
            <a:r>
              <a:rPr lang="en-US" dirty="0" err="1"/>
              <a:t>msg</a:t>
            </a:r>
            <a:r>
              <a:rPr lang="en-US" dirty="0"/>
              <a:t>”)</a:t>
            </a:r>
          </a:p>
          <a:p>
            <a:pPr marL="285750" indent="-285750">
              <a:buFont typeface="Arial" panose="020B0604020202020204" pitchFamily="34" charset="0"/>
              <a:buChar char="•"/>
            </a:pPr>
            <a:r>
              <a:rPr lang="en-US" dirty="0" err="1" smtClean="0"/>
              <a:t>logging.error</a:t>
            </a:r>
            <a:r>
              <a:rPr lang="en-US" dirty="0" smtClean="0"/>
              <a:t>(“</a:t>
            </a:r>
            <a:r>
              <a:rPr lang="en-US" dirty="0"/>
              <a:t>This is error</a:t>
            </a:r>
            <a:r>
              <a:rPr lang="en-US" dirty="0" smtClean="0"/>
              <a:t> </a:t>
            </a:r>
            <a:r>
              <a:rPr lang="en-US" dirty="0" err="1"/>
              <a:t>msg</a:t>
            </a:r>
            <a:r>
              <a:rPr lang="en-US" dirty="0"/>
              <a:t>”)</a:t>
            </a:r>
          </a:p>
          <a:p>
            <a:pPr marL="285750" indent="-285750">
              <a:buFont typeface="Arial" panose="020B0604020202020204" pitchFamily="34" charset="0"/>
              <a:buChar char="•"/>
            </a:pPr>
            <a:r>
              <a:rPr lang="en-US" dirty="0" err="1" smtClean="0"/>
              <a:t>logging.critical</a:t>
            </a:r>
            <a:r>
              <a:rPr lang="en-US" dirty="0" smtClean="0"/>
              <a:t>(“</a:t>
            </a:r>
            <a:r>
              <a:rPr lang="en-US" dirty="0"/>
              <a:t>This is critical</a:t>
            </a:r>
            <a:r>
              <a:rPr lang="en-US" dirty="0" smtClean="0"/>
              <a:t> </a:t>
            </a:r>
            <a:r>
              <a:rPr lang="en-US" dirty="0" err="1"/>
              <a:t>msg</a:t>
            </a:r>
            <a:r>
              <a:rPr lang="en-US" dirty="0" smtClean="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r>
              <a:rPr lang="en-US" dirty="0" smtClean="0"/>
              <a:t>Default logging setting is </a:t>
            </a:r>
            <a:r>
              <a:rPr lang="en-US" b="1" dirty="0" smtClean="0"/>
              <a:t>“warning”</a:t>
            </a:r>
            <a:endParaRPr lang="en-US" b="1" dirty="0"/>
          </a:p>
          <a:p>
            <a:pPr marL="285750" indent="-285750">
              <a:buFont typeface="Arial" panose="020B0604020202020204" pitchFamily="34" charset="0"/>
              <a:buChar char="•"/>
            </a:pPr>
            <a:endParaRPr lang="en-US" dirty="0" smtClean="0"/>
          </a:p>
        </p:txBody>
      </p:sp>
    </p:spTree>
    <p:extLst>
      <p:ext uri="{BB962C8B-B14F-4D97-AF65-F5344CB8AC3E}">
        <p14:creationId xmlns:p14="http://schemas.microsoft.com/office/powerpoint/2010/main" val="209232024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ython Logging — Simplification. Logging is the mode an application uses… |  by Amit Singh Rathore | Nerd For Tech | 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416" y="2378146"/>
            <a:ext cx="11177752" cy="36840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374117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149202</TotalTime>
  <Words>5611</Words>
  <Application>Microsoft Office PowerPoint</Application>
  <PresentationFormat>Widescreen</PresentationFormat>
  <Paragraphs>889</Paragraphs>
  <Slides>104</Slides>
  <Notes>56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104</vt:i4>
      </vt:variant>
    </vt:vector>
  </HeadingPairs>
  <TitlesOfParts>
    <vt:vector size="114" baseType="lpstr">
      <vt:lpstr>Arial</vt:lpstr>
      <vt:lpstr>Calibri</vt:lpstr>
      <vt:lpstr>Century Gothic</vt:lpstr>
      <vt:lpstr>Consolas</vt:lpstr>
      <vt:lpstr>Segoe UI</vt:lpstr>
      <vt:lpstr>Times New Roman</vt:lpstr>
      <vt:lpstr>urw-din</vt:lpstr>
      <vt:lpstr>Wingdings</vt:lpstr>
      <vt:lpstr>Wingdings 3</vt:lpstr>
      <vt:lpstr>Ion Boardroom</vt:lpstr>
      <vt:lpstr>Introduction to Automation Testing</vt:lpstr>
      <vt:lpstr>PowerPoint Presentation</vt:lpstr>
      <vt:lpstr>PowerPoint Presentation</vt:lpstr>
      <vt:lpstr>PowerPoint Presentation</vt:lpstr>
      <vt:lpstr>Regression Testing</vt:lpstr>
      <vt:lpstr>Manual Testing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Springer Nature 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Automation Testing</dc:title>
  <dc:creator>Sagar Sarjerao Sarade</dc:creator>
  <cp:lastModifiedBy>Sagar Sarjerao Sarade</cp:lastModifiedBy>
  <cp:revision>230</cp:revision>
  <dcterms:created xsi:type="dcterms:W3CDTF">2021-09-11T03:25:04Z</dcterms:created>
  <dcterms:modified xsi:type="dcterms:W3CDTF">2021-12-31T01:34:54Z</dcterms:modified>
</cp:coreProperties>
</file>